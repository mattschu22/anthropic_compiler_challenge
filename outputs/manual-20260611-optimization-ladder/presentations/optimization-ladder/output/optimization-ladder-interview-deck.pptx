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78ef5206b14f0e" /><Relationship Type="http://schemas.openxmlformats.org/officeDocument/2006/relationships/extended-properties" Target="/docProps/app.xml" Id="Re2cdd675c6bf4f6e" /><Relationship Type="http://schemas.openxmlformats.org/officeDocument/2006/relationships/officeDocument" Target="/ppt/presentation.xml" Id="R73436ec5cc8a49fe" /></Relationships>
</file>

<file path=ppt/presentation.xml><?xml version="1.0" encoding="utf-8"?>
<p:presentation xmlns:p="http://schemas.openxmlformats.org/presentationml/2006/main">
  <p:sldMasterIdLst>
    <p:sldMasterId xmlns:r="http://schemas.openxmlformats.org/officeDocument/2006/relationships" id="2147483648" r:id="R65f5cd1799514178"/>
  </p:sldMasterIdLst>
  <p:notesMasterIdLst>
    <p:notesMasterId xmlns:r="http://schemas.openxmlformats.org/officeDocument/2006/relationships" r:id="R19fd850288f44df0"/>
  </p:notesMasterIdLst>
  <p:sldIdLst>
    <p:sldId xmlns:r="http://schemas.openxmlformats.org/officeDocument/2006/relationships" id="256" r:id="R4ee278e3a0e74908"/>
    <p:sldId xmlns:r="http://schemas.openxmlformats.org/officeDocument/2006/relationships" id="257" r:id="Re465a61b2dce47ff"/>
    <p:sldId xmlns:r="http://schemas.openxmlformats.org/officeDocument/2006/relationships" id="258" r:id="R793d30417ced45c2"/>
    <p:sldId xmlns:r="http://schemas.openxmlformats.org/officeDocument/2006/relationships" id="259" r:id="R559f923c75054023"/>
    <p:sldId xmlns:r="http://schemas.openxmlformats.org/officeDocument/2006/relationships" id="260" r:id="R945081cbdf8f4d7a"/>
    <p:sldId xmlns:r="http://schemas.openxmlformats.org/officeDocument/2006/relationships" id="261" r:id="R6543f923a1e24159"/>
    <p:sldId xmlns:r="http://schemas.openxmlformats.org/officeDocument/2006/relationships" id="262" r:id="R31d608b78a844e76"/>
    <p:sldId xmlns:r="http://schemas.openxmlformats.org/officeDocument/2006/relationships" id="263" r:id="R85b5465cec714c01"/>
    <p:sldId xmlns:r="http://schemas.openxmlformats.org/officeDocument/2006/relationships" id="264" r:id="Ra30c1e7d56b94abe"/>
    <p:sldId xmlns:r="http://schemas.openxmlformats.org/officeDocument/2006/relationships" id="265" r:id="R85a96d1f5f2646bb"/>
    <p:sldId xmlns:r="http://schemas.openxmlformats.org/officeDocument/2006/relationships" id="266" r:id="R0ff432c347184721"/>
    <p:sldId xmlns:r="http://schemas.openxmlformats.org/officeDocument/2006/relationships" id="267" r:id="Ra271496deb4245a2"/>
    <p:sldId xmlns:r="http://schemas.openxmlformats.org/officeDocument/2006/relationships" id="268" r:id="Re53fba95930f4a91"/>
    <p:sldId xmlns:r="http://schemas.openxmlformats.org/officeDocument/2006/relationships" id="269" r:id="R0a5d8c95e4004cd6"/>
    <p:sldId xmlns:r="http://schemas.openxmlformats.org/officeDocument/2006/relationships" id="270" r:id="R15b5c9a6e8e64d4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75d58fbefee4693" /><Relationship Type="http://schemas.openxmlformats.org/officeDocument/2006/relationships/slideMaster" Target="/ppt/slideMasters/slideMaster1.xml" Id="R65f5cd1799514178" /><Relationship Type="http://schemas.openxmlformats.org/officeDocument/2006/relationships/notesMaster" Target="/ppt/notesMasters/notesMaster1.xml" Id="R19fd850288f44df0" /><Relationship Type="http://schemas.openxmlformats.org/officeDocument/2006/relationships/presProps" Target="/ppt/presProps.xml" Id="R3d99b173691242a0" /><Relationship Type="http://schemas.openxmlformats.org/officeDocument/2006/relationships/viewProps" Target="/ppt/viewProps.xml" Id="R66c7fbffb7f34abf" /><Relationship Type="http://schemas.openxmlformats.org/officeDocument/2006/relationships/tableStyles" Target="/ppt/tableStyles.xml" Id="R4a9d748ebccf4f3d" /><Relationship Type="http://schemas.openxmlformats.org/officeDocument/2006/relationships/slide" Target="/ppt/slides/slide1.xml" Id="R4ee278e3a0e74908" /><Relationship Type="http://schemas.openxmlformats.org/officeDocument/2006/relationships/slide" Target="/ppt/slides/slide2.xml" Id="Re465a61b2dce47ff" /><Relationship Type="http://schemas.openxmlformats.org/officeDocument/2006/relationships/slide" Target="/ppt/slides/slide3.xml" Id="R793d30417ced45c2" /><Relationship Type="http://schemas.openxmlformats.org/officeDocument/2006/relationships/slide" Target="/ppt/slides/slide4.xml" Id="R559f923c75054023" /><Relationship Type="http://schemas.openxmlformats.org/officeDocument/2006/relationships/slide" Target="/ppt/slides/slide5.xml" Id="R945081cbdf8f4d7a" /><Relationship Type="http://schemas.openxmlformats.org/officeDocument/2006/relationships/slide" Target="/ppt/slides/slide6.xml" Id="R6543f923a1e24159" /><Relationship Type="http://schemas.openxmlformats.org/officeDocument/2006/relationships/slide" Target="/ppt/slides/slide7.xml" Id="R31d608b78a844e76" /><Relationship Type="http://schemas.openxmlformats.org/officeDocument/2006/relationships/slide" Target="/ppt/slides/slide8.xml" Id="R85b5465cec714c01" /><Relationship Type="http://schemas.openxmlformats.org/officeDocument/2006/relationships/slide" Target="/ppt/slides/slide9.xml" Id="Ra30c1e7d56b94abe" /><Relationship Type="http://schemas.openxmlformats.org/officeDocument/2006/relationships/slide" Target="/ppt/slides/slide10.xml" Id="R85a96d1f5f2646bb" /><Relationship Type="http://schemas.openxmlformats.org/officeDocument/2006/relationships/slide" Target="/ppt/slides/slide11.xml" Id="R0ff432c347184721" /><Relationship Type="http://schemas.openxmlformats.org/officeDocument/2006/relationships/slide" Target="/ppt/slides/slide12.xml" Id="Ra271496deb4245a2" /><Relationship Type="http://schemas.openxmlformats.org/officeDocument/2006/relationships/slide" Target="/ppt/slides/slide13.xml" Id="Re53fba95930f4a91" /><Relationship Type="http://schemas.openxmlformats.org/officeDocument/2006/relationships/slide" Target="/ppt/slides/slide14.xml" Id="R0a5d8c95e4004cd6" /><Relationship Type="http://schemas.openxmlformats.org/officeDocument/2006/relationships/slide" Target="/ppt/slides/slide15.xml" Id="R15b5c9a6e8e64d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7aed8a844340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2d997fda604c5f" /><Relationship Type="http://schemas.openxmlformats.org/officeDocument/2006/relationships/notesMaster" Target="/ppt/notesMasters/notesMaster1.xml" Id="R0b34e366e0944b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1fd2f005b4592" /><Relationship Type="http://schemas.openxmlformats.org/officeDocument/2006/relationships/notesMaster" Target="/ppt/notesMasters/notesMaster1.xml" Id="Rcf62222a405340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f8a4a845df4c3e" /><Relationship Type="http://schemas.openxmlformats.org/officeDocument/2006/relationships/notesMaster" Target="/ppt/notesMasters/notesMaster1.xml" Id="R3cf7ceab8bbf4c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0b84364d44788" /><Relationship Type="http://schemas.openxmlformats.org/officeDocument/2006/relationships/notesMaster" Target="/ppt/notesMasters/notesMaster1.xml" Id="R7a4db7f2474248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642edc1e4c487c" /><Relationship Type="http://schemas.openxmlformats.org/officeDocument/2006/relationships/notesMaster" Target="/ppt/notesMasters/notesMaster1.xml" Id="R8edaf291050e4b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4c654626864a1d" /><Relationship Type="http://schemas.openxmlformats.org/officeDocument/2006/relationships/notesMaster" Target="/ppt/notesMasters/notesMaster1.xml" Id="Refadaedfd6ea42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022aafef8d45bf" /><Relationship Type="http://schemas.openxmlformats.org/officeDocument/2006/relationships/notesMaster" Target="/ppt/notesMasters/notesMaster1.xml" Id="Rf14eba83655746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e3d3f16d7141e0" /><Relationship Type="http://schemas.openxmlformats.org/officeDocument/2006/relationships/notesMaster" Target="/ppt/notesMasters/notesMaster1.xml" Id="Rd21ba9731c48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c1227cc07a4d9d" /><Relationship Type="http://schemas.openxmlformats.org/officeDocument/2006/relationships/notesMaster" Target="/ppt/notesMasters/notesMaster1.xml" Id="R837ceef1221f40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28c77b951648f0" /><Relationship Type="http://schemas.openxmlformats.org/officeDocument/2006/relationships/notesMaster" Target="/ppt/notesMasters/notesMaster1.xml" Id="Reeb1e120467d43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75f8e55563478c" /><Relationship Type="http://schemas.openxmlformats.org/officeDocument/2006/relationships/notesMaster" Target="/ppt/notesMasters/notesMaster1.xml" Id="R1759237c520b41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dc5bb9fcb054f07" /><Relationship Type="http://schemas.openxmlformats.org/officeDocument/2006/relationships/notesMaster" Target="/ppt/notesMasters/notesMaster1.xml" Id="R8db9dfe1af9844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6a1461cd3d4843" /><Relationship Type="http://schemas.openxmlformats.org/officeDocument/2006/relationships/notesMaster" Target="/ppt/notesMasters/notesMaster1.xml" Id="R9ac8a0bcdaf24b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3c61aa7074479d" /><Relationship Type="http://schemas.openxmlformats.org/officeDocument/2006/relationships/notesMaster" Target="/ppt/notesMasters/notesMaster1.xml" Id="Re7f8825b947842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ddfba789b440cd" /><Relationship Type="http://schemas.openxmlformats.org/officeDocument/2006/relationships/notesMaster" Target="/ppt/notesMasters/notesMaster1.xml" Id="R5b7594bd46f243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8a9ef0068a43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feba906b4749e4" /><Relationship Type="http://schemas.openxmlformats.org/officeDocument/2006/relationships/slideLayout" Target="/ppt/slideLayouts/slideLayout1.xml" Id="Rbe24fc0b1d4344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24fc0b1d4344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c28a63f7fe4112" /><Relationship Type="http://schemas.openxmlformats.org/officeDocument/2006/relationships/image" Target="/ppt/media/image.png" Id="R46ac69d746774bb0" /><Relationship Type="http://schemas.openxmlformats.org/officeDocument/2006/relationships/notesSlide" Target="/ppt/notesSlides/notesSlide1.xml" Id="R5a12186b5fe844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1bbc7d6f5b4d9e" /><Relationship Type="http://schemas.openxmlformats.org/officeDocument/2006/relationships/notesSlide" Target="/ppt/notesSlides/notesSlide2.xml" Id="Rb1e7cff482434d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64ae03ee114fde" /><Relationship Type="http://schemas.openxmlformats.org/officeDocument/2006/relationships/notesSlide" Target="/ppt/notesSlides/notesSlide3.xml" Id="R33b9e0ceba0744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62ee3a21e04e09" /><Relationship Type="http://schemas.openxmlformats.org/officeDocument/2006/relationships/notesSlide" Target="/ppt/notesSlides/notesSlide4.xml" Id="Rcdb9689c1be74d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ef3cb9e87d4775" /><Relationship Type="http://schemas.openxmlformats.org/officeDocument/2006/relationships/image" Target="/ppt/media/image2.png" Id="R2895460336cc45a2" /><Relationship Type="http://schemas.openxmlformats.org/officeDocument/2006/relationships/notesSlide" Target="/ppt/notesSlides/notesSlide5.xml" Id="R845bfa408f2c4b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525c51fceb493a" /><Relationship Type="http://schemas.openxmlformats.org/officeDocument/2006/relationships/image" Target="/ppt/media/image3.png" Id="R875719d598034825" /><Relationship Type="http://schemas.openxmlformats.org/officeDocument/2006/relationships/notesSlide" Target="/ppt/notesSlides/notesSlide6.xml" Id="R56485f26916b42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f57993121b4ba3" /><Relationship Type="http://schemas.openxmlformats.org/officeDocument/2006/relationships/image" Target="/ppt/media/image4.png" Id="R6161c14903684d19" /><Relationship Type="http://schemas.openxmlformats.org/officeDocument/2006/relationships/image" Target="/ppt/media/image5.png" Id="Rfdbce4b9efd44c7a" /><Relationship Type="http://schemas.openxmlformats.org/officeDocument/2006/relationships/notesSlide" Target="/ppt/notesSlides/notesSlide7.xml" Id="R2113d1353e954e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adc6d7b23b4907" /><Relationship Type="http://schemas.openxmlformats.org/officeDocument/2006/relationships/image" Target="/ppt/media/image6.png" Id="R14f5337bc1df486e" /><Relationship Type="http://schemas.openxmlformats.org/officeDocument/2006/relationships/image" Target="/ppt/media/image7.png" Id="Rb0628d2c125a4779" /><Relationship Type="http://schemas.openxmlformats.org/officeDocument/2006/relationships/notesSlide" Target="/ppt/notesSlides/notesSlide8.xml" Id="R7ee237bb30034e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b60763d2b44c8c" /><Relationship Type="http://schemas.openxmlformats.org/officeDocument/2006/relationships/image" Target="/ppt/media/image8.png" Id="Rb0d0264d273248be" /><Relationship Type="http://schemas.openxmlformats.org/officeDocument/2006/relationships/notesSlide" Target="/ppt/notesSlides/notesSlide9.xml" Id="Raf996cb07c024f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5aa0900145c4994" /><Relationship Type="http://schemas.openxmlformats.org/officeDocument/2006/relationships/image" Target="/ppt/media/image9.png" Id="Ra5a30d5a422a4a9a" /><Relationship Type="http://schemas.openxmlformats.org/officeDocument/2006/relationships/image" Target="/ppt/media/image10.png" Id="R23bef0ccf4224e25" /><Relationship Type="http://schemas.openxmlformats.org/officeDocument/2006/relationships/image" Target="/ppt/media/image11.png" Id="R8aecc28ef0cf46fe" /><Relationship Type="http://schemas.openxmlformats.org/officeDocument/2006/relationships/notesSlide" Target="/ppt/notesSlides/notesSlide10.xml" Id="R6723e75db63a44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2b38dc3dc3456d" /><Relationship Type="http://schemas.openxmlformats.org/officeDocument/2006/relationships/image" Target="/ppt/media/image12.png" Id="R19dcd7081745407d" /><Relationship Type="http://schemas.openxmlformats.org/officeDocument/2006/relationships/image" Target="/ppt/media/image13.png" Id="Rc471f5c6870140b8" /><Relationship Type="http://schemas.openxmlformats.org/officeDocument/2006/relationships/notesSlide" Target="/ppt/notesSlides/notesSlide11.xml" Id="Rb840a382c6f144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7e2aa10c954ebd" /><Relationship Type="http://schemas.openxmlformats.org/officeDocument/2006/relationships/image" Target="/ppt/media/image14.png" Id="Ra0fd6e63912d41dd" /><Relationship Type="http://schemas.openxmlformats.org/officeDocument/2006/relationships/image" Target="/ppt/media/image15.png" Id="R64ae7907bf894e0c" /><Relationship Type="http://schemas.openxmlformats.org/officeDocument/2006/relationships/notesSlide" Target="/ppt/notesSlides/notesSlide12.xml" Id="R442e24ae99334a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962aa493e5a44dd" /><Relationship Type="http://schemas.openxmlformats.org/officeDocument/2006/relationships/image" Target="/ppt/media/image16.png" Id="R1a31f0757b0e4bde" /><Relationship Type="http://schemas.openxmlformats.org/officeDocument/2006/relationships/image" Target="/ppt/media/image17.png" Id="Rd4fb0ffc9a0d4bb0" /><Relationship Type="http://schemas.openxmlformats.org/officeDocument/2006/relationships/notesSlide" Target="/ppt/notesSlides/notesSlide13.xml" Id="R1308b42c609a4c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77d124ff5d447e9" /><Relationship Type="http://schemas.openxmlformats.org/officeDocument/2006/relationships/notesSlide" Target="/ppt/notesSlides/notesSlide14.xml" Id="R6cce41f3b6de44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deabd249c7c49de" /><Relationship Type="http://schemas.openxmlformats.org/officeDocument/2006/relationships/notesSlide" Target="/ppt/notesSlides/notesSlide15.xml" Id="R4d4851cc5f9a44a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95C330-A6C1-44C5-B32E-871684A356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26C5760-1F3D-4879-9137-91DE97FACAD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450B05D-FEAE-4DF0-AB66-ACDFD9503184}"/>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TITLE</a:t>
            </a:r>
          </a:p>
        </p:txBody>
      </p:sp>
      <p:sp>
        <p:nvSpPr>
          <p:cNvPr id="4" name="">
            <a:extLst xmlns:a="http://schemas.openxmlformats.org/drawingml/2006/main">
              <a:ext uri="{FF2B5EF4-FFF2-40B4-BE49-F238E27FC236}">
                <a16:creationId xmlns:a16="http://schemas.microsoft.com/office/drawing/2014/main" id="{3E2C6B91-616E-41D7-A5E9-9D3E61EF2969}"/>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Profiler-Guided Compiler Optimization</a:t>
            </a:r>
          </a:p>
        </p:txBody>
      </p:sp>
      <p:sp>
        <p:nvSpPr>
          <p:cNvPr id="5" name="">
            <a:extLst xmlns:a="http://schemas.openxmlformats.org/drawingml/2006/main">
              <a:ext uri="{FF2B5EF4-FFF2-40B4-BE49-F238E27FC236}">
                <a16:creationId xmlns:a16="http://schemas.microsoft.com/office/drawing/2014/main" id="{0384BBDD-5F95-40E0-BF7C-E5D95C54DD76}"/>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Anthropic compiler performance take-home: from scalar tree traversal to scheduled VLIW/SIMD kernel</a:t>
            </a:r>
          </a:p>
        </p:txBody>
      </p:sp>
      <p:sp>
        <p:nvSpPr>
          <p:cNvPr id="6" name="">
            <a:extLst xmlns:a="http://schemas.openxmlformats.org/drawingml/2006/main">
              <a:ext uri="{FF2B5EF4-FFF2-40B4-BE49-F238E27FC236}">
                <a16:creationId xmlns:a16="http://schemas.microsoft.com/office/drawing/2014/main" id="{E077D784-BA7E-43A0-B825-76632C76A7B9}"/>
              </a:ext>
            </a:extLst>
          </p:cNvPr>
          <p:cNvSpPr>
            <a:spLocks xmlns:a="http://schemas.openxmlformats.org/drawingml/2006/main" noGrp="1"/>
          </p:cNvSpPr>
          <p:nvPr/>
        </p:nvSpPr>
        <p:spPr>
          <a:xfrm xmlns:a="http://schemas.openxmlformats.org/drawingml/2006/main">
            <a:off x="514350" y="150495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D795102-3185-4547-AECB-622A2E4A4513}"/>
              </a:ext>
            </a:extLst>
          </p:cNvPr>
          <p:cNvSpPr>
            <a:spLocks xmlns:a="http://schemas.openxmlformats.org/drawingml/2006/main" noGrp="1"/>
          </p:cNvSpPr>
          <p:nvPr/>
        </p:nvSpPr>
        <p:spPr>
          <a:xfrm xmlns:a="http://schemas.openxmlformats.org/drawingml/2006/main">
            <a:off x="666750" y="1638300"/>
            <a:ext cx="2552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563EB"/>
                </a:solidFill>
                <a:latin typeface="Aptos Display"/>
                <a:ea typeface="Aptos Display"/>
                <a:cs typeface="Aptos Display"/>
              </a:defRPr>
            </a:pPr>
            <a:r>
              <a:rPr sz="2100" b="1">
                <a:solidFill>
                  <a:srgbClr val="2563EB"/>
                </a:solidFill>
                <a:latin typeface="Aptos Display"/>
                <a:ea typeface="Aptos Display"/>
                <a:cs typeface="Aptos Display"/>
              </a:rPr>
              <a:t>147,734 -&gt; 1,184</a:t>
            </a:r>
          </a:p>
        </p:txBody>
      </p:sp>
      <p:sp>
        <p:nvSpPr>
          <p:cNvPr id="8" name="">
            <a:extLst xmlns:a="http://schemas.openxmlformats.org/drawingml/2006/main">
              <a:ext uri="{FF2B5EF4-FFF2-40B4-BE49-F238E27FC236}">
                <a16:creationId xmlns:a16="http://schemas.microsoft.com/office/drawing/2014/main" id="{7E2D19CF-4758-4A65-BF56-6F2733B7289D}"/>
              </a:ext>
            </a:extLst>
          </p:cNvPr>
          <p:cNvSpPr>
            <a:spLocks xmlns:a="http://schemas.openxmlformats.org/drawingml/2006/main" noGrp="1"/>
          </p:cNvSpPr>
          <p:nvPr/>
        </p:nvSpPr>
        <p:spPr>
          <a:xfrm xmlns:a="http://schemas.openxmlformats.org/drawingml/2006/main">
            <a:off x="666750" y="2057400"/>
            <a:ext cx="2552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cycles on the fixed grader workload</a:t>
            </a:r>
          </a:p>
        </p:txBody>
      </p:sp>
      <p:sp>
        <p:nvSpPr>
          <p:cNvPr id="9" name="">
            <a:extLst xmlns:a="http://schemas.openxmlformats.org/drawingml/2006/main">
              <a:ext uri="{FF2B5EF4-FFF2-40B4-BE49-F238E27FC236}">
                <a16:creationId xmlns:a16="http://schemas.microsoft.com/office/drawing/2014/main" id="{36F8F710-CA7E-4CD3-AC39-EBBFDE3CAEE6}"/>
              </a:ext>
            </a:extLst>
          </p:cNvPr>
          <p:cNvSpPr>
            <a:spLocks xmlns:a="http://schemas.openxmlformats.org/drawingml/2006/main" noGrp="1"/>
          </p:cNvSpPr>
          <p:nvPr/>
        </p:nvSpPr>
        <p:spPr>
          <a:xfrm xmlns:a="http://schemas.openxmlformats.org/drawingml/2006/main">
            <a:off x="3562350" y="1504950"/>
            <a:ext cx="21907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5F04FDA5-A565-471B-BC19-F0435B804463}"/>
              </a:ext>
            </a:extLst>
          </p:cNvPr>
          <p:cNvSpPr>
            <a:spLocks xmlns:a="http://schemas.openxmlformats.org/drawingml/2006/main" noGrp="1"/>
          </p:cNvSpPr>
          <p:nvPr/>
        </p:nvSpPr>
        <p:spPr>
          <a:xfrm xmlns:a="http://schemas.openxmlformats.org/drawingml/2006/main">
            <a:off x="3714750" y="1638300"/>
            <a:ext cx="18859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A34A"/>
                </a:solidFill>
                <a:latin typeface="Aptos Display"/>
                <a:ea typeface="Aptos Display"/>
                <a:cs typeface="Aptos Display"/>
              </a:defRPr>
            </a:pPr>
            <a:r>
              <a:rPr sz="2100" b="1">
                <a:solidFill>
                  <a:srgbClr val="16A34A"/>
                </a:solidFill>
                <a:latin typeface="Aptos Display"/>
                <a:ea typeface="Aptos Display"/>
                <a:cs typeface="Aptos Display"/>
              </a:rPr>
              <a:t>124.8x</a:t>
            </a:r>
          </a:p>
        </p:txBody>
      </p:sp>
      <p:sp>
        <p:nvSpPr>
          <p:cNvPr id="11" name="">
            <a:extLst xmlns:a="http://schemas.openxmlformats.org/drawingml/2006/main">
              <a:ext uri="{FF2B5EF4-FFF2-40B4-BE49-F238E27FC236}">
                <a16:creationId xmlns:a16="http://schemas.microsoft.com/office/drawing/2014/main" id="{2B9C94C4-8B22-47CE-88B0-2B4159826071}"/>
              </a:ext>
            </a:extLst>
          </p:cNvPr>
          <p:cNvSpPr>
            <a:spLocks xmlns:a="http://schemas.openxmlformats.org/drawingml/2006/main" noGrp="1"/>
          </p:cNvSpPr>
          <p:nvPr/>
        </p:nvSpPr>
        <p:spPr>
          <a:xfrm xmlns:a="http://schemas.openxmlformats.org/drawingml/2006/main">
            <a:off x="3714750" y="2057400"/>
            <a:ext cx="1885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speedup over supplied baseline</a:t>
            </a:r>
          </a:p>
        </p:txBody>
      </p:sp>
      <p:sp>
        <p:nvSpPr>
          <p:cNvPr id="12" name="">
            <a:extLst xmlns:a="http://schemas.openxmlformats.org/drawingml/2006/main">
              <a:ext uri="{FF2B5EF4-FFF2-40B4-BE49-F238E27FC236}">
                <a16:creationId xmlns:a16="http://schemas.microsoft.com/office/drawing/2014/main" id="{1CBEDD0E-CEDF-4F68-AC41-BA28FED654A8}"/>
              </a:ext>
            </a:extLst>
          </p:cNvPr>
          <p:cNvSpPr>
            <a:spLocks xmlns:a="http://schemas.openxmlformats.org/drawingml/2006/main" noGrp="1"/>
          </p:cNvSpPr>
          <p:nvPr/>
        </p:nvSpPr>
        <p:spPr>
          <a:xfrm xmlns:a="http://schemas.openxmlformats.org/drawingml/2006/main">
            <a:off x="5943600" y="1504950"/>
            <a:ext cx="2476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6C5924FC-054E-4110-8A34-E78616599BAD}"/>
              </a:ext>
            </a:extLst>
          </p:cNvPr>
          <p:cNvSpPr>
            <a:spLocks xmlns:a="http://schemas.openxmlformats.org/drawingml/2006/main" noGrp="1"/>
          </p:cNvSpPr>
          <p:nvPr/>
        </p:nvSpPr>
        <p:spPr>
          <a:xfrm xmlns:a="http://schemas.openxmlformats.org/drawingml/2006/main">
            <a:off x="6096000" y="1638300"/>
            <a:ext cx="2171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7C3AED"/>
                </a:solidFill>
                <a:latin typeface="Aptos Display"/>
                <a:ea typeface="Aptos Display"/>
                <a:cs typeface="Aptos Display"/>
              </a:defRPr>
            </a:pPr>
            <a:r>
              <a:rPr sz="2100" b="1">
                <a:solidFill>
                  <a:srgbClr val="7C3AED"/>
                </a:solidFill>
                <a:latin typeface="Aptos Display"/>
                <a:ea typeface="Aptos Display"/>
                <a:cs typeface="Aptos Display"/>
              </a:rPr>
              <a:t>11</a:t>
            </a:r>
          </a:p>
        </p:txBody>
      </p:sp>
      <p:sp>
        <p:nvSpPr>
          <p:cNvPr id="14" name="">
            <a:extLst xmlns:a="http://schemas.openxmlformats.org/drawingml/2006/main">
              <a:ext uri="{FF2B5EF4-FFF2-40B4-BE49-F238E27FC236}">
                <a16:creationId xmlns:a16="http://schemas.microsoft.com/office/drawing/2014/main" id="{403CEC2D-A21B-4D8D-A419-29966BF0C235}"/>
              </a:ext>
            </a:extLst>
          </p:cNvPr>
          <p:cNvSpPr>
            <a:spLocks xmlns:a="http://schemas.openxmlformats.org/drawingml/2006/main" noGrp="1"/>
          </p:cNvSpPr>
          <p:nvPr/>
        </p:nvSpPr>
        <p:spPr>
          <a:xfrm xmlns:a="http://schemas.openxmlformats.org/drawingml/2006/main">
            <a:off x="6096000" y="2057400"/>
            <a:ext cx="2171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cumulative checkpoints in the optimization ladder</a:t>
            </a:r>
          </a:p>
        </p:txBody>
      </p:sp>
      <p:sp>
        <p:nvSpPr>
          <p:cNvPr id="15" name="">
            <a:extLst xmlns:a="http://schemas.openxmlformats.org/drawingml/2006/main">
              <a:ext uri="{FF2B5EF4-FFF2-40B4-BE49-F238E27FC236}">
                <a16:creationId xmlns:a16="http://schemas.microsoft.com/office/drawing/2014/main" id="{52A3E3F8-ABD0-437D-8020-D62F601C2B46}"/>
              </a:ext>
            </a:extLst>
          </p:cNvPr>
          <p:cNvSpPr>
            <a:spLocks xmlns:a="http://schemas.openxmlformats.org/drawingml/2006/main" noGrp="1"/>
          </p:cNvSpPr>
          <p:nvPr/>
        </p:nvSpPr>
        <p:spPr>
          <a:xfrm xmlns:a="http://schemas.openxmlformats.org/drawingml/2006/main">
            <a:off x="609600" y="295275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16" name="">
            <a:extLst xmlns:a="http://schemas.openxmlformats.org/drawingml/2006/main">
              <a:ext uri="{FF2B5EF4-FFF2-40B4-BE49-F238E27FC236}">
                <a16:creationId xmlns:a16="http://schemas.microsoft.com/office/drawing/2014/main" id="{4B300337-35D5-4900-8A6A-01C46CE5FFC2}"/>
              </a:ext>
            </a:extLst>
          </p:cNvPr>
          <p:cNvSpPr>
            <a:spLocks xmlns:a="http://schemas.openxmlformats.org/drawingml/2006/main" noGrp="1"/>
          </p:cNvSpPr>
          <p:nvPr/>
        </p:nvSpPr>
        <p:spPr>
          <a:xfrm xmlns:a="http://schemas.openxmlformats.org/drawingml/2006/main">
            <a:off x="781050" y="2876550"/>
            <a:ext cx="6286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Narrative: remove waste, specialize the workload, exploit SIMD, reduce memory pressure, then schedule independent work.</a:t>
            </a:r>
          </a:p>
        </p:txBody>
      </p:sp>
      <p:sp>
        <p:nvSpPr>
          <p:cNvPr id="17" name="">
            <a:extLst xmlns:a="http://schemas.openxmlformats.org/drawingml/2006/main">
              <a:ext uri="{FF2B5EF4-FFF2-40B4-BE49-F238E27FC236}">
                <a16:creationId xmlns:a16="http://schemas.microsoft.com/office/drawing/2014/main" id="{4C1B967F-5A8D-4A72-9771-D09C9E58D786}"/>
              </a:ext>
            </a:extLst>
          </p:cNvPr>
          <p:cNvSpPr>
            <a:spLocks xmlns:a="http://schemas.openxmlformats.org/drawingml/2006/main" noGrp="1"/>
          </p:cNvSpPr>
          <p:nvPr/>
        </p:nvSpPr>
        <p:spPr>
          <a:xfrm xmlns:a="http://schemas.openxmlformats.org/drawingml/2006/main">
            <a:off x="609600" y="346710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18" name="">
            <a:extLst xmlns:a="http://schemas.openxmlformats.org/drawingml/2006/main">
              <a:ext uri="{FF2B5EF4-FFF2-40B4-BE49-F238E27FC236}">
                <a16:creationId xmlns:a16="http://schemas.microsoft.com/office/drawing/2014/main" id="{C028EBCC-8D61-409A-813D-B508BDBE85FE}"/>
              </a:ext>
            </a:extLst>
          </p:cNvPr>
          <p:cNvSpPr>
            <a:spLocks xmlns:a="http://schemas.openxmlformats.org/drawingml/2006/main" noGrp="1"/>
          </p:cNvSpPr>
          <p:nvPr/>
        </p:nvSpPr>
        <p:spPr>
          <a:xfrm xmlns:a="http://schemas.openxmlformats.org/drawingml/2006/main">
            <a:off x="781050" y="3390900"/>
            <a:ext cx="6286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The key deliverable is not just a fast kernel; it is a trace-backed explanation of why each optimization matters.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6ac69d746774bb0"/>
          <a:stretch xmlns:a="http://schemas.openxmlformats.org/drawingml/2006/main"/>
        </p:blipFill>
        <p:spPr>
          <a:xfrm xmlns:a="http://schemas.openxmlformats.org/drawingml/2006/main">
            <a:off x="7048500" y="3027164"/>
            <a:ext cx="4476750" cy="2518172"/>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82D5A17A-EF52-443B-A7DC-5BF43E552B16}"/>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a:t>
            </a:r>
          </a:p>
        </p:txBody>
      </p:sp>
    </p:spTree>
    <p:extLst>
      <p:ext uri="{BB962C8B-B14F-4D97-AF65-F5344CB8AC3E}">
        <p14:creationId xmlns:p14="http://schemas.microsoft.com/office/powerpoint/2010/main" val="8765454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D92520-12D7-4EC8-8E8B-595FA1BB57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D711F66-262B-4707-BECB-890658434CE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3B393C7-8B68-4749-86AA-C5EFB8B12B55}"/>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5A2F611B-D9FB-4151-A6D5-E9669B08131A}"/>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Background: A Compiler Challenge, Not Python Tuning</a:t>
            </a:r>
          </a:p>
        </p:txBody>
      </p:sp>
      <p:sp>
        <p:nvSpPr>
          <p:cNvPr id="5" name="">
            <a:extLst xmlns:a="http://schemas.openxmlformats.org/drawingml/2006/main">
              <a:ext uri="{FF2B5EF4-FFF2-40B4-BE49-F238E27FC236}">
                <a16:creationId xmlns:a16="http://schemas.microsoft.com/office/drawing/2014/main" id="{46CC302D-AD36-4B57-A3C5-353F7E2AF893}"/>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Python emits a low-level program for a simulated CPU; the score is total simulator cycles.</a:t>
            </a:r>
          </a:p>
        </p:txBody>
      </p:sp>
      <p:sp>
        <p:nvSpPr>
          <p:cNvPr id="6" name="">
            <a:extLst xmlns:a="http://schemas.openxmlformats.org/drawingml/2006/main">
              <a:ext uri="{FF2B5EF4-FFF2-40B4-BE49-F238E27FC236}">
                <a16:creationId xmlns:a16="http://schemas.microsoft.com/office/drawing/2014/main" id="{08A4327D-F506-4CDE-8E1E-16DB8627EC56}"/>
              </a:ext>
            </a:extLst>
          </p:cNvPr>
          <p:cNvSpPr>
            <a:spLocks xmlns:a="http://schemas.openxmlformats.org/drawingml/2006/main" noGrp="1"/>
          </p:cNvSpPr>
          <p:nvPr/>
        </p:nvSpPr>
        <p:spPr>
          <a:xfrm xmlns:a="http://schemas.openxmlformats.org/drawingml/2006/main">
            <a:off x="552450" y="154305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7" name="">
            <a:extLst xmlns:a="http://schemas.openxmlformats.org/drawingml/2006/main">
              <a:ext uri="{FF2B5EF4-FFF2-40B4-BE49-F238E27FC236}">
                <a16:creationId xmlns:a16="http://schemas.microsoft.com/office/drawing/2014/main" id="{DCF923AF-3496-46BE-B8FD-F0FF983D49EB}"/>
              </a:ext>
            </a:extLst>
          </p:cNvPr>
          <p:cNvSpPr>
            <a:spLocks xmlns:a="http://schemas.openxmlformats.org/drawingml/2006/main" noGrp="1"/>
          </p:cNvSpPr>
          <p:nvPr/>
        </p:nvSpPr>
        <p:spPr>
          <a:xfrm xmlns:a="http://schemas.openxmlformats.org/drawingml/2006/main">
            <a:off x="723900" y="1466850"/>
            <a:ext cx="590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The take-home asks candidates to generate a correct kernel for a fixed workload and minimize cycle count.</a:t>
            </a:r>
          </a:p>
        </p:txBody>
      </p:sp>
      <p:sp>
        <p:nvSpPr>
          <p:cNvPr id="8" name="">
            <a:extLst xmlns:a="http://schemas.openxmlformats.org/drawingml/2006/main">
              <a:ext uri="{FF2B5EF4-FFF2-40B4-BE49-F238E27FC236}">
                <a16:creationId xmlns:a16="http://schemas.microsoft.com/office/drawing/2014/main" id="{D7E7514C-8D00-4DA9-8C90-8BFC16813347}"/>
              </a:ext>
            </a:extLst>
          </p:cNvPr>
          <p:cNvSpPr>
            <a:spLocks xmlns:a="http://schemas.openxmlformats.org/drawingml/2006/main" noGrp="1"/>
          </p:cNvSpPr>
          <p:nvPr/>
        </p:nvSpPr>
        <p:spPr>
          <a:xfrm xmlns:a="http://schemas.openxmlformats.org/drawingml/2006/main">
            <a:off x="552450" y="209550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9" name="">
            <a:extLst xmlns:a="http://schemas.openxmlformats.org/drawingml/2006/main">
              <a:ext uri="{FF2B5EF4-FFF2-40B4-BE49-F238E27FC236}">
                <a16:creationId xmlns:a16="http://schemas.microsoft.com/office/drawing/2014/main" id="{2E106A4F-3349-42EE-9826-FEB6854A6677}"/>
              </a:ext>
            </a:extLst>
          </p:cNvPr>
          <p:cNvSpPr>
            <a:spLocks xmlns:a="http://schemas.openxmlformats.org/drawingml/2006/main" noGrp="1"/>
          </p:cNvSpPr>
          <p:nvPr/>
        </p:nvSpPr>
        <p:spPr>
          <a:xfrm xmlns:a="http://schemas.openxmlformats.org/drawingml/2006/main">
            <a:off x="723900" y="2019300"/>
            <a:ext cx="590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Correctness is checked against the reference problem; performance is measured by the simulator cycle counter.</a:t>
            </a:r>
          </a:p>
        </p:txBody>
      </p:sp>
      <p:sp>
        <p:nvSpPr>
          <p:cNvPr id="10" name="">
            <a:extLst xmlns:a="http://schemas.openxmlformats.org/drawingml/2006/main">
              <a:ext uri="{FF2B5EF4-FFF2-40B4-BE49-F238E27FC236}">
                <a16:creationId xmlns:a16="http://schemas.microsoft.com/office/drawing/2014/main" id="{71A95CFF-B339-4D58-B0A1-76EBD18AE63A}"/>
              </a:ext>
            </a:extLst>
          </p:cNvPr>
          <p:cNvSpPr>
            <a:spLocks xmlns:a="http://schemas.openxmlformats.org/drawingml/2006/main" noGrp="1"/>
          </p:cNvSpPr>
          <p:nvPr/>
        </p:nvSpPr>
        <p:spPr>
          <a:xfrm xmlns:a="http://schemas.openxmlformats.org/drawingml/2006/main">
            <a:off x="552450" y="264795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11" name="">
            <a:extLst xmlns:a="http://schemas.openxmlformats.org/drawingml/2006/main">
              <a:ext uri="{FF2B5EF4-FFF2-40B4-BE49-F238E27FC236}">
                <a16:creationId xmlns:a16="http://schemas.microsoft.com/office/drawing/2014/main" id="{73EE1BE5-4D55-43F8-9466-C7BFDF917E63}"/>
              </a:ext>
            </a:extLst>
          </p:cNvPr>
          <p:cNvSpPr>
            <a:spLocks xmlns:a="http://schemas.openxmlformats.org/drawingml/2006/main" noGrp="1"/>
          </p:cNvSpPr>
          <p:nvPr/>
        </p:nvSpPr>
        <p:spPr>
          <a:xfrm xmlns:a="http://schemas.openxmlformats.org/drawingml/2006/main">
            <a:off x="723900" y="2571750"/>
            <a:ext cx="5905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The interesting work is compiler work: code generation, specialization, memory placement, vectorization, dependency analysis, and scheduling.</a:t>
            </a:r>
          </a:p>
        </p:txBody>
      </p:sp>
      <p:sp>
        <p:nvSpPr>
          <p:cNvPr id="12" name="">
            <a:extLst xmlns:a="http://schemas.openxmlformats.org/drawingml/2006/main">
              <a:ext uri="{FF2B5EF4-FFF2-40B4-BE49-F238E27FC236}">
                <a16:creationId xmlns:a16="http://schemas.microsoft.com/office/drawing/2014/main" id="{C6201BD9-2EAB-4FDD-AEDA-03E64EBFB257}"/>
              </a:ext>
            </a:extLst>
          </p:cNvPr>
          <p:cNvSpPr>
            <a:spLocks xmlns:a="http://schemas.openxmlformats.org/drawingml/2006/main" noGrp="1"/>
          </p:cNvSpPr>
          <p:nvPr/>
        </p:nvSpPr>
        <p:spPr>
          <a:xfrm xmlns:a="http://schemas.openxmlformats.org/drawingml/2006/main">
            <a:off x="6953250" y="1390650"/>
            <a:ext cx="4333875"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59453181-FDCF-42D9-80AF-AB5121E37B44}"/>
              </a:ext>
            </a:extLst>
          </p:cNvPr>
          <p:cNvSpPr>
            <a:spLocks xmlns:a="http://schemas.openxmlformats.org/drawingml/2006/main" noGrp="1"/>
          </p:cNvSpPr>
          <p:nvPr/>
        </p:nvSpPr>
        <p:spPr>
          <a:xfrm xmlns:a="http://schemas.openxmlformats.org/drawingml/2006/main">
            <a:off x="7181850" y="15811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Anthropic Speed Thresholds</a:t>
            </a:r>
          </a:p>
        </p:txBody>
      </p:sp>
      <p:sp>
        <p:nvSpPr>
          <p:cNvPr id="14" name="">
            <a:extLst xmlns:a="http://schemas.openxmlformats.org/drawingml/2006/main">
              <a:ext uri="{FF2B5EF4-FFF2-40B4-BE49-F238E27FC236}">
                <a16:creationId xmlns:a16="http://schemas.microsoft.com/office/drawing/2014/main" id="{BA8465F4-FA1B-4955-8ECC-A7EE6BF440A4}"/>
              </a:ext>
            </a:extLst>
          </p:cNvPr>
          <p:cNvSpPr>
            <a:spLocks xmlns:a="http://schemas.openxmlformats.org/drawingml/2006/main" noGrp="1"/>
          </p:cNvSpPr>
          <p:nvPr/>
        </p:nvSpPr>
        <p:spPr>
          <a:xfrm xmlns:a="http://schemas.openxmlformats.org/drawingml/2006/main">
            <a:off x="7219950" y="20193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64748B"/>
                </a:solidFill>
                <a:latin typeface="Aptos"/>
                <a:ea typeface="Aptos"/>
                <a:cs typeface="Aptos"/>
              </a:defRPr>
            </a:pPr>
            <a:r>
              <a:rPr sz="1050" b="1">
                <a:solidFill>
                  <a:srgbClr val="64748B"/>
                </a:solidFill>
                <a:latin typeface="Aptos"/>
                <a:ea typeface="Aptos"/>
                <a:cs typeface="Aptos"/>
              </a:rPr>
              <a:t>Baseline</a:t>
            </a:r>
          </a:p>
        </p:txBody>
      </p:sp>
      <p:sp>
        <p:nvSpPr>
          <p:cNvPr id="15" name="">
            <a:extLst xmlns:a="http://schemas.openxmlformats.org/drawingml/2006/main">
              <a:ext uri="{FF2B5EF4-FFF2-40B4-BE49-F238E27FC236}">
                <a16:creationId xmlns:a16="http://schemas.microsoft.com/office/drawing/2014/main" id="{4A583892-DF9B-4BE3-BC1A-9085639FD181}"/>
              </a:ext>
            </a:extLst>
          </p:cNvPr>
          <p:cNvSpPr>
            <a:spLocks xmlns:a="http://schemas.openxmlformats.org/drawingml/2006/main" noGrp="1"/>
          </p:cNvSpPr>
          <p:nvPr/>
        </p:nvSpPr>
        <p:spPr>
          <a:xfrm xmlns:a="http://schemas.openxmlformats.org/drawingml/2006/main">
            <a:off x="9315450" y="2019300"/>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&lt; 147,734</a:t>
            </a:r>
          </a:p>
        </p:txBody>
      </p:sp>
      <p:sp>
        <p:nvSpPr>
          <p:cNvPr id="16" name="">
            <a:extLst xmlns:a="http://schemas.openxmlformats.org/drawingml/2006/main">
              <a:ext uri="{FF2B5EF4-FFF2-40B4-BE49-F238E27FC236}">
                <a16:creationId xmlns:a16="http://schemas.microsoft.com/office/drawing/2014/main" id="{36D121EE-67C8-46A4-A723-CA1A974214D5}"/>
              </a:ext>
            </a:extLst>
          </p:cNvPr>
          <p:cNvSpPr>
            <a:spLocks xmlns:a="http://schemas.openxmlformats.org/drawingml/2006/main" noGrp="1"/>
          </p:cNvSpPr>
          <p:nvPr/>
        </p:nvSpPr>
        <p:spPr>
          <a:xfrm xmlns:a="http://schemas.openxmlformats.org/drawingml/2006/main">
            <a:off x="7219950" y="24479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891B2"/>
                </a:solidFill>
                <a:latin typeface="Aptos"/>
                <a:ea typeface="Aptos"/>
                <a:cs typeface="Aptos"/>
              </a:defRPr>
            </a:pPr>
            <a:r>
              <a:rPr sz="1050" b="1">
                <a:solidFill>
                  <a:srgbClr val="0891B2"/>
                </a:solidFill>
                <a:latin typeface="Aptos"/>
                <a:ea typeface="Aptos"/>
                <a:cs typeface="Aptos"/>
              </a:rPr>
              <a:t>Updated starter</a:t>
            </a:r>
          </a:p>
        </p:txBody>
      </p:sp>
      <p:sp>
        <p:nvSpPr>
          <p:cNvPr id="17" name="">
            <a:extLst xmlns:a="http://schemas.openxmlformats.org/drawingml/2006/main">
              <a:ext uri="{FF2B5EF4-FFF2-40B4-BE49-F238E27FC236}">
                <a16:creationId xmlns:a16="http://schemas.microsoft.com/office/drawing/2014/main" id="{AC1E1673-2EF9-4C5D-B096-D58656BB1DE5}"/>
              </a:ext>
            </a:extLst>
          </p:cNvPr>
          <p:cNvSpPr>
            <a:spLocks xmlns:a="http://schemas.openxmlformats.org/drawingml/2006/main" noGrp="1"/>
          </p:cNvSpPr>
          <p:nvPr/>
        </p:nvSpPr>
        <p:spPr>
          <a:xfrm xmlns:a="http://schemas.openxmlformats.org/drawingml/2006/main">
            <a:off x="9315450" y="2447925"/>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&lt; 18,532</a:t>
            </a:r>
          </a:p>
        </p:txBody>
      </p:sp>
      <p:sp>
        <p:nvSpPr>
          <p:cNvPr id="18" name="">
            <a:extLst xmlns:a="http://schemas.openxmlformats.org/drawingml/2006/main">
              <a:ext uri="{FF2B5EF4-FFF2-40B4-BE49-F238E27FC236}">
                <a16:creationId xmlns:a16="http://schemas.microsoft.com/office/drawing/2014/main" id="{928FBFCA-2484-433E-8338-63E7F76D785D}"/>
              </a:ext>
            </a:extLst>
          </p:cNvPr>
          <p:cNvSpPr>
            <a:spLocks xmlns:a="http://schemas.openxmlformats.org/drawingml/2006/main" noGrp="1"/>
          </p:cNvSpPr>
          <p:nvPr/>
        </p:nvSpPr>
        <p:spPr>
          <a:xfrm xmlns:a="http://schemas.openxmlformats.org/drawingml/2006/main">
            <a:off x="7219950" y="287655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C3AED"/>
                </a:solidFill>
                <a:latin typeface="Aptos"/>
                <a:ea typeface="Aptos"/>
                <a:cs typeface="Aptos"/>
              </a:defRPr>
            </a:pPr>
            <a:r>
              <a:rPr sz="1050" b="1">
                <a:solidFill>
                  <a:srgbClr val="7C3AED"/>
                </a:solidFill>
                <a:latin typeface="Aptos"/>
                <a:ea typeface="Aptos"/>
                <a:cs typeface="Aptos"/>
              </a:rPr>
              <a:t>Opus 4 many hours</a:t>
            </a:r>
          </a:p>
        </p:txBody>
      </p:sp>
      <p:sp>
        <p:nvSpPr>
          <p:cNvPr id="19" name="">
            <a:extLst xmlns:a="http://schemas.openxmlformats.org/drawingml/2006/main">
              <a:ext uri="{FF2B5EF4-FFF2-40B4-BE49-F238E27FC236}">
                <a16:creationId xmlns:a16="http://schemas.microsoft.com/office/drawing/2014/main" id="{CAD0A2B9-F141-454F-B571-ED94F73AA1C7}"/>
              </a:ext>
            </a:extLst>
          </p:cNvPr>
          <p:cNvSpPr>
            <a:spLocks xmlns:a="http://schemas.openxmlformats.org/drawingml/2006/main" noGrp="1"/>
          </p:cNvSpPr>
          <p:nvPr/>
        </p:nvSpPr>
        <p:spPr>
          <a:xfrm xmlns:a="http://schemas.openxmlformats.org/drawingml/2006/main">
            <a:off x="9315450" y="2876550"/>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&lt; 2,164</a:t>
            </a:r>
          </a:p>
        </p:txBody>
      </p:sp>
      <p:sp>
        <p:nvSpPr>
          <p:cNvPr id="20" name="">
            <a:extLst xmlns:a="http://schemas.openxmlformats.org/drawingml/2006/main">
              <a:ext uri="{FF2B5EF4-FFF2-40B4-BE49-F238E27FC236}">
                <a16:creationId xmlns:a16="http://schemas.microsoft.com/office/drawing/2014/main" id="{8797D7D1-E2D0-4D95-8930-F74B8EB90215}"/>
              </a:ext>
            </a:extLst>
          </p:cNvPr>
          <p:cNvSpPr>
            <a:spLocks xmlns:a="http://schemas.openxmlformats.org/drawingml/2006/main" noGrp="1"/>
          </p:cNvSpPr>
          <p:nvPr/>
        </p:nvSpPr>
        <p:spPr>
          <a:xfrm xmlns:a="http://schemas.openxmlformats.org/drawingml/2006/main">
            <a:off x="7219950" y="330517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C3AED"/>
                </a:solidFill>
                <a:latin typeface="Aptos"/>
                <a:ea typeface="Aptos"/>
                <a:cs typeface="Aptos"/>
              </a:defRPr>
            </a:pPr>
            <a:r>
              <a:rPr sz="1050" b="1">
                <a:solidFill>
                  <a:srgbClr val="7C3AED"/>
                </a:solidFill>
                <a:latin typeface="Aptos"/>
                <a:ea typeface="Aptos"/>
                <a:cs typeface="Aptos"/>
              </a:rPr>
              <a:t>Best human-ish / casual</a:t>
            </a:r>
          </a:p>
        </p:txBody>
      </p:sp>
      <p:sp>
        <p:nvSpPr>
          <p:cNvPr id="21" name="">
            <a:extLst xmlns:a="http://schemas.openxmlformats.org/drawingml/2006/main">
              <a:ext uri="{FF2B5EF4-FFF2-40B4-BE49-F238E27FC236}">
                <a16:creationId xmlns:a16="http://schemas.microsoft.com/office/drawing/2014/main" id="{C0791856-BB1F-404C-9660-A6CAC3889315}"/>
              </a:ext>
            </a:extLst>
          </p:cNvPr>
          <p:cNvSpPr>
            <a:spLocks xmlns:a="http://schemas.openxmlformats.org/drawingml/2006/main" noGrp="1"/>
          </p:cNvSpPr>
          <p:nvPr/>
        </p:nvSpPr>
        <p:spPr>
          <a:xfrm xmlns:a="http://schemas.openxmlformats.org/drawingml/2006/main">
            <a:off x="9315450" y="3305175"/>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&lt; 1,790</a:t>
            </a:r>
          </a:p>
        </p:txBody>
      </p:sp>
      <p:sp>
        <p:nvSpPr>
          <p:cNvPr id="22" name="">
            <a:extLst xmlns:a="http://schemas.openxmlformats.org/drawingml/2006/main">
              <a:ext uri="{FF2B5EF4-FFF2-40B4-BE49-F238E27FC236}">
                <a16:creationId xmlns:a16="http://schemas.microsoft.com/office/drawing/2014/main" id="{2677D33E-B2E8-4F1C-AFD7-94282D8E9912}"/>
              </a:ext>
            </a:extLst>
          </p:cNvPr>
          <p:cNvSpPr>
            <a:spLocks xmlns:a="http://schemas.openxmlformats.org/drawingml/2006/main" noGrp="1"/>
          </p:cNvSpPr>
          <p:nvPr/>
        </p:nvSpPr>
        <p:spPr>
          <a:xfrm xmlns:a="http://schemas.openxmlformats.org/drawingml/2006/main">
            <a:off x="7219950" y="37338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E123C"/>
                </a:solidFill>
                <a:latin typeface="Aptos"/>
                <a:ea typeface="Aptos"/>
                <a:cs typeface="Aptos"/>
              </a:defRPr>
            </a:pPr>
            <a:r>
              <a:rPr sz="1050" b="1">
                <a:solidFill>
                  <a:srgbClr val="BE123C"/>
                </a:solidFill>
                <a:latin typeface="Aptos"/>
                <a:ea typeface="Aptos"/>
                <a:cs typeface="Aptos"/>
              </a:rPr>
              <a:t>Advanced harnesses</a:t>
            </a:r>
          </a:p>
        </p:txBody>
      </p:sp>
      <p:sp>
        <p:nvSpPr>
          <p:cNvPr id="23" name="">
            <a:extLst xmlns:a="http://schemas.openxmlformats.org/drawingml/2006/main">
              <a:ext uri="{FF2B5EF4-FFF2-40B4-BE49-F238E27FC236}">
                <a16:creationId xmlns:a16="http://schemas.microsoft.com/office/drawing/2014/main" id="{93C52604-9D72-4F3F-84A4-DEDF74148A9C}"/>
              </a:ext>
            </a:extLst>
          </p:cNvPr>
          <p:cNvSpPr>
            <a:spLocks xmlns:a="http://schemas.openxmlformats.org/drawingml/2006/main" noGrp="1"/>
          </p:cNvSpPr>
          <p:nvPr/>
        </p:nvSpPr>
        <p:spPr>
          <a:xfrm xmlns:a="http://schemas.openxmlformats.org/drawingml/2006/main">
            <a:off x="9315450" y="3733800"/>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&lt; 1,579 / 1,548 / 1,487 / 1,363</a:t>
            </a:r>
          </a:p>
        </p:txBody>
      </p:sp>
      <p:sp>
        <p:nvSpPr>
          <p:cNvPr id="24" name="">
            <a:extLst xmlns:a="http://schemas.openxmlformats.org/drawingml/2006/main">
              <a:ext uri="{FF2B5EF4-FFF2-40B4-BE49-F238E27FC236}">
                <a16:creationId xmlns:a16="http://schemas.microsoft.com/office/drawing/2014/main" id="{108602E8-7186-4BB1-A35A-16F1903E1C19}"/>
              </a:ext>
            </a:extLst>
          </p:cNvPr>
          <p:cNvSpPr>
            <a:spLocks xmlns:a="http://schemas.openxmlformats.org/drawingml/2006/main" noGrp="1"/>
          </p:cNvSpPr>
          <p:nvPr/>
        </p:nvSpPr>
        <p:spPr>
          <a:xfrm xmlns:a="http://schemas.openxmlformats.org/drawingml/2006/main">
            <a:off x="7219950" y="41624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6A34A"/>
                </a:solidFill>
                <a:latin typeface="Aptos"/>
                <a:ea typeface="Aptos"/>
                <a:cs typeface="Aptos"/>
              </a:defRPr>
            </a:pPr>
            <a:r>
              <a:rPr sz="1050" b="1">
                <a:solidFill>
                  <a:srgbClr val="16A34A"/>
                </a:solidFill>
                <a:latin typeface="Aptos"/>
                <a:ea typeface="Aptos"/>
                <a:cs typeface="Aptos"/>
              </a:rPr>
              <a:t>This project</a:t>
            </a:r>
          </a:p>
        </p:txBody>
      </p:sp>
      <p:sp>
        <p:nvSpPr>
          <p:cNvPr id="25" name="">
            <a:extLst xmlns:a="http://schemas.openxmlformats.org/drawingml/2006/main">
              <a:ext uri="{FF2B5EF4-FFF2-40B4-BE49-F238E27FC236}">
                <a16:creationId xmlns:a16="http://schemas.microsoft.com/office/drawing/2014/main" id="{7190493A-AF84-43DA-8E28-1EA03B81C6E6}"/>
              </a:ext>
            </a:extLst>
          </p:cNvPr>
          <p:cNvSpPr>
            <a:spLocks xmlns:a="http://schemas.openxmlformats.org/drawingml/2006/main" noGrp="1"/>
          </p:cNvSpPr>
          <p:nvPr/>
        </p:nvSpPr>
        <p:spPr>
          <a:xfrm xmlns:a="http://schemas.openxmlformats.org/drawingml/2006/main">
            <a:off x="9315450" y="4162425"/>
            <a:ext cx="1676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0F172A"/>
                </a:solidFill>
                <a:latin typeface="Aptos"/>
                <a:ea typeface="Aptos"/>
                <a:cs typeface="Aptos"/>
              </a:defRPr>
            </a:pPr>
            <a:r>
              <a:rPr sz="1050" b="0">
                <a:solidFill>
                  <a:srgbClr val="0F172A"/>
                </a:solidFill>
                <a:latin typeface="Aptos"/>
                <a:ea typeface="Aptos"/>
                <a:cs typeface="Aptos"/>
              </a:rPr>
              <a:t>1,184 cycles</a:t>
            </a:r>
          </a:p>
        </p:txBody>
      </p:sp>
      <p:sp>
        <p:nvSpPr>
          <p:cNvPr id="26" name="">
            <a:extLst xmlns:a="http://schemas.openxmlformats.org/drawingml/2006/main">
              <a:ext uri="{FF2B5EF4-FFF2-40B4-BE49-F238E27FC236}">
                <a16:creationId xmlns:a16="http://schemas.microsoft.com/office/drawing/2014/main" id="{28CAE90B-65AC-4F7C-B2E9-595922A075B2}"/>
              </a:ext>
            </a:extLst>
          </p:cNvPr>
          <p:cNvSpPr>
            <a:spLocks xmlns:a="http://schemas.openxmlformats.org/drawingml/2006/main" noGrp="1"/>
          </p:cNvSpPr>
          <p:nvPr/>
        </p:nvSpPr>
        <p:spPr>
          <a:xfrm xmlns:a="http://schemas.openxmlformats.org/drawingml/2006/main">
            <a:off x="6953250" y="5105400"/>
            <a:ext cx="433387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FC2C0703-5031-4866-B2E5-B70F5B60A395}"/>
              </a:ext>
            </a:extLst>
          </p:cNvPr>
          <p:cNvSpPr>
            <a:spLocks xmlns:a="http://schemas.openxmlformats.org/drawingml/2006/main" noGrp="1"/>
          </p:cNvSpPr>
          <p:nvPr/>
        </p:nvSpPr>
        <p:spPr>
          <a:xfrm xmlns:a="http://schemas.openxmlformats.org/drawingml/2006/main">
            <a:off x="7105650" y="5238750"/>
            <a:ext cx="402907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A34A"/>
                </a:solidFill>
                <a:latin typeface="Aptos Display"/>
                <a:ea typeface="Aptos Display"/>
                <a:cs typeface="Aptos Display"/>
              </a:defRPr>
            </a:pPr>
            <a:r>
              <a:rPr sz="2100" b="1">
                <a:solidFill>
                  <a:srgbClr val="16A34A"/>
                </a:solidFill>
                <a:latin typeface="Aptos Display"/>
                <a:ea typeface="Aptos Display"/>
                <a:cs typeface="Aptos Display"/>
              </a:rPr>
              <a:t>All thresholds</a:t>
            </a:r>
          </a:p>
        </p:txBody>
      </p:sp>
      <p:sp>
        <p:nvSpPr>
          <p:cNvPr id="28" name="">
            <a:extLst xmlns:a="http://schemas.openxmlformats.org/drawingml/2006/main">
              <a:ext uri="{FF2B5EF4-FFF2-40B4-BE49-F238E27FC236}">
                <a16:creationId xmlns:a16="http://schemas.microsoft.com/office/drawing/2014/main" id="{D1361383-D89B-462A-897B-91173F08E266}"/>
              </a:ext>
            </a:extLst>
          </p:cNvPr>
          <p:cNvSpPr>
            <a:spLocks xmlns:a="http://schemas.openxmlformats.org/drawingml/2006/main" noGrp="1"/>
          </p:cNvSpPr>
          <p:nvPr/>
        </p:nvSpPr>
        <p:spPr>
          <a:xfrm xmlns:a="http://schemas.openxmlformats.org/drawingml/2006/main">
            <a:off x="7105650" y="5657850"/>
            <a:ext cx="402907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final kernel passes every listed speed tier</a:t>
            </a:r>
          </a:p>
        </p:txBody>
      </p:sp>
      <p:sp>
        <p:nvSpPr>
          <p:cNvPr id="29" name="">
            <a:extLst xmlns:a="http://schemas.openxmlformats.org/drawingml/2006/main">
              <a:ext uri="{FF2B5EF4-FFF2-40B4-BE49-F238E27FC236}">
                <a16:creationId xmlns:a16="http://schemas.microsoft.com/office/drawing/2014/main" id="{AA2DF0BE-FA3D-4D31-A147-B43F21BBE6D2}"/>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2</a:t>
            </a:r>
          </a:p>
        </p:txBody>
      </p:sp>
    </p:spTree>
    <p:extLst>
      <p:ext uri="{BB962C8B-B14F-4D97-AF65-F5344CB8AC3E}">
        <p14:creationId xmlns:p14="http://schemas.microsoft.com/office/powerpoint/2010/main" val="18187316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477D7D-04D5-4FC6-8164-8679430773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4B2821A-3A56-41C3-AEF6-A99F6AD8EC5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425864E-2946-42E7-BD41-9848BDFFD231}"/>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PROBLEM</a:t>
            </a:r>
          </a:p>
        </p:txBody>
      </p:sp>
      <p:sp>
        <p:nvSpPr>
          <p:cNvPr id="4" name="">
            <a:extLst xmlns:a="http://schemas.openxmlformats.org/drawingml/2006/main">
              <a:ext uri="{FF2B5EF4-FFF2-40B4-BE49-F238E27FC236}">
                <a16:creationId xmlns:a16="http://schemas.microsoft.com/office/drawing/2014/main" id="{B872EC65-64EA-4F06-87AC-49DEC7F6A5E4}"/>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Problem Description: Batched Binary Tree Traversal</a:t>
            </a:r>
          </a:p>
        </p:txBody>
      </p:sp>
      <p:sp>
        <p:nvSpPr>
          <p:cNvPr id="5" name="">
            <a:extLst xmlns:a="http://schemas.openxmlformats.org/drawingml/2006/main">
              <a:ext uri="{FF2B5EF4-FFF2-40B4-BE49-F238E27FC236}">
                <a16:creationId xmlns:a16="http://schemas.microsoft.com/office/drawing/2014/main" id="{21AF9E85-2B68-44D6-A652-84CC3D5C9A8A}"/>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Each input repeatedly walks a perfect binary tree and updates its value through a hash pipeline.</a:t>
            </a:r>
          </a:p>
        </p:txBody>
      </p:sp>
      <p:sp>
        <p:nvSpPr>
          <p:cNvPr id="6" name="">
            <a:extLst xmlns:a="http://schemas.openxmlformats.org/drawingml/2006/main">
              <a:ext uri="{FF2B5EF4-FFF2-40B4-BE49-F238E27FC236}">
                <a16:creationId xmlns:a16="http://schemas.microsoft.com/office/drawing/2014/main" id="{53C3BD1B-A79A-4198-BCC8-FB486ADFC1A9}"/>
              </a:ext>
            </a:extLst>
          </p:cNvPr>
          <p:cNvSpPr>
            <a:spLocks xmlns:a="http://schemas.openxmlformats.org/drawingml/2006/main" noGrp="1"/>
          </p:cNvSpPr>
          <p:nvPr/>
        </p:nvSpPr>
        <p:spPr>
          <a:xfrm xmlns:a="http://schemas.openxmlformats.org/drawingml/2006/main">
            <a:off x="495300" y="1428750"/>
            <a:ext cx="3429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F6D03EB1-751E-4154-8734-FA2B8868277B}"/>
              </a:ext>
            </a:extLst>
          </p:cNvPr>
          <p:cNvSpPr>
            <a:spLocks xmlns:a="http://schemas.openxmlformats.org/drawingml/2006/main" noGrp="1"/>
          </p:cNvSpPr>
          <p:nvPr/>
        </p:nvSpPr>
        <p:spPr>
          <a:xfrm xmlns:a="http://schemas.openxmlformats.org/drawingml/2006/main">
            <a:off x="723900" y="1657350"/>
            <a:ext cx="2095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Fixed workload</a:t>
            </a:r>
          </a:p>
        </p:txBody>
      </p:sp>
      <p:sp>
        <p:nvSpPr>
          <p:cNvPr id="8" name="">
            <a:extLst xmlns:a="http://schemas.openxmlformats.org/drawingml/2006/main">
              <a:ext uri="{FF2B5EF4-FFF2-40B4-BE49-F238E27FC236}">
                <a16:creationId xmlns:a16="http://schemas.microsoft.com/office/drawing/2014/main" id="{E0829547-768A-4069-9F7C-92FD097E053A}"/>
              </a:ext>
            </a:extLst>
          </p:cNvPr>
          <p:cNvSpPr>
            <a:spLocks xmlns:a="http://schemas.openxmlformats.org/drawingml/2006/main" noGrp="1"/>
          </p:cNvSpPr>
          <p:nvPr/>
        </p:nvSpPr>
        <p:spPr>
          <a:xfrm xmlns:a="http://schemas.openxmlformats.org/drawingml/2006/main">
            <a:off x="742950" y="21907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9" name="">
            <a:extLst xmlns:a="http://schemas.openxmlformats.org/drawingml/2006/main">
              <a:ext uri="{FF2B5EF4-FFF2-40B4-BE49-F238E27FC236}">
                <a16:creationId xmlns:a16="http://schemas.microsoft.com/office/drawing/2014/main" id="{8833B895-8FEE-4EB5-AD1E-946AEE162312}"/>
              </a:ext>
            </a:extLst>
          </p:cNvPr>
          <p:cNvSpPr>
            <a:spLocks xmlns:a="http://schemas.openxmlformats.org/drawingml/2006/main" noGrp="1"/>
          </p:cNvSpPr>
          <p:nvPr/>
        </p:nvSpPr>
        <p:spPr>
          <a:xfrm xmlns:a="http://schemas.openxmlformats.org/drawingml/2006/main">
            <a:off x="914400" y="2114550"/>
            <a:ext cx="2724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forest_height = 10: a perfect binary tree with 2,047 nodes.</a:t>
            </a:r>
          </a:p>
        </p:txBody>
      </p:sp>
      <p:sp>
        <p:nvSpPr>
          <p:cNvPr id="10" name="">
            <a:extLst xmlns:a="http://schemas.openxmlformats.org/drawingml/2006/main">
              <a:ext uri="{FF2B5EF4-FFF2-40B4-BE49-F238E27FC236}">
                <a16:creationId xmlns:a16="http://schemas.microsoft.com/office/drawing/2014/main" id="{65312F98-D6CF-4130-BB62-E03A235EBADC}"/>
              </a:ext>
            </a:extLst>
          </p:cNvPr>
          <p:cNvSpPr>
            <a:spLocks xmlns:a="http://schemas.openxmlformats.org/drawingml/2006/main" noGrp="1"/>
          </p:cNvSpPr>
          <p:nvPr/>
        </p:nvSpPr>
        <p:spPr>
          <a:xfrm xmlns:a="http://schemas.openxmlformats.org/drawingml/2006/main">
            <a:off x="742950" y="27241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1" name="">
            <a:extLst xmlns:a="http://schemas.openxmlformats.org/drawingml/2006/main">
              <a:ext uri="{FF2B5EF4-FFF2-40B4-BE49-F238E27FC236}">
                <a16:creationId xmlns:a16="http://schemas.microsoft.com/office/drawing/2014/main" id="{D923BBF2-C814-4045-9435-4CB8BF22701A}"/>
              </a:ext>
            </a:extLst>
          </p:cNvPr>
          <p:cNvSpPr>
            <a:spLocks xmlns:a="http://schemas.openxmlformats.org/drawingml/2006/main" noGrp="1"/>
          </p:cNvSpPr>
          <p:nvPr/>
        </p:nvSpPr>
        <p:spPr>
          <a:xfrm xmlns:a="http://schemas.openxmlformats.org/drawingml/2006/main">
            <a:off x="914400" y="2647950"/>
            <a:ext cx="2724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batch_size = 256: 256 independent inputs are processed together.</a:t>
            </a:r>
          </a:p>
        </p:txBody>
      </p:sp>
      <p:sp>
        <p:nvSpPr>
          <p:cNvPr id="12" name="">
            <a:extLst xmlns:a="http://schemas.openxmlformats.org/drawingml/2006/main">
              <a:ext uri="{FF2B5EF4-FFF2-40B4-BE49-F238E27FC236}">
                <a16:creationId xmlns:a16="http://schemas.microsoft.com/office/drawing/2014/main" id="{53C74C9B-6D25-4E59-9190-3DAC18D82E50}"/>
              </a:ext>
            </a:extLst>
          </p:cNvPr>
          <p:cNvSpPr>
            <a:spLocks xmlns:a="http://schemas.openxmlformats.org/drawingml/2006/main" noGrp="1"/>
          </p:cNvSpPr>
          <p:nvPr/>
        </p:nvSpPr>
        <p:spPr>
          <a:xfrm xmlns:a="http://schemas.openxmlformats.org/drawingml/2006/main">
            <a:off x="742950" y="32575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3" name="">
            <a:extLst xmlns:a="http://schemas.openxmlformats.org/drawingml/2006/main">
              <a:ext uri="{FF2B5EF4-FFF2-40B4-BE49-F238E27FC236}">
                <a16:creationId xmlns:a16="http://schemas.microsoft.com/office/drawing/2014/main" id="{F2AAF3CD-36AF-4D4A-8AFA-DDEF7ED1FEDE}"/>
              </a:ext>
            </a:extLst>
          </p:cNvPr>
          <p:cNvSpPr>
            <a:spLocks xmlns:a="http://schemas.openxmlformats.org/drawingml/2006/main" noGrp="1"/>
          </p:cNvSpPr>
          <p:nvPr/>
        </p:nvSpPr>
        <p:spPr>
          <a:xfrm xmlns:a="http://schemas.openxmlformats.org/drawingml/2006/main">
            <a:off x="914400" y="3181350"/>
            <a:ext cx="2724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rounds = 16: each input takes 16 tree steps.</a:t>
            </a:r>
          </a:p>
        </p:txBody>
      </p:sp>
      <p:sp>
        <p:nvSpPr>
          <p:cNvPr id="14" name="">
            <a:extLst xmlns:a="http://schemas.openxmlformats.org/drawingml/2006/main">
              <a:ext uri="{FF2B5EF4-FFF2-40B4-BE49-F238E27FC236}">
                <a16:creationId xmlns:a16="http://schemas.microsoft.com/office/drawing/2014/main" id="{C397B9FC-9444-42CA-91E7-4668DEC66F88}"/>
              </a:ext>
            </a:extLst>
          </p:cNvPr>
          <p:cNvSpPr>
            <a:spLocks xmlns:a="http://schemas.openxmlformats.org/drawingml/2006/main" noGrp="1"/>
          </p:cNvSpPr>
          <p:nvPr/>
        </p:nvSpPr>
        <p:spPr>
          <a:xfrm xmlns:a="http://schemas.openxmlformats.org/drawingml/2006/main">
            <a:off x="742950" y="37909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5" name="">
            <a:extLst xmlns:a="http://schemas.openxmlformats.org/drawingml/2006/main">
              <a:ext uri="{FF2B5EF4-FFF2-40B4-BE49-F238E27FC236}">
                <a16:creationId xmlns:a16="http://schemas.microsoft.com/office/drawing/2014/main" id="{8F2F79FA-77CA-45E5-88D5-02B3A6CA3A98}"/>
              </a:ext>
            </a:extLst>
          </p:cNvPr>
          <p:cNvSpPr>
            <a:spLocks xmlns:a="http://schemas.openxmlformats.org/drawingml/2006/main" noGrp="1"/>
          </p:cNvSpPr>
          <p:nvPr/>
        </p:nvSpPr>
        <p:spPr>
          <a:xfrm xmlns:a="http://schemas.openxmlformats.org/drawingml/2006/main">
            <a:off x="914400" y="3714750"/>
            <a:ext cx="2724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Depth sequence is deterministic: 0,1,2,3,4,5,6,7,8,9,10,0,1,2,3,4.</a:t>
            </a:r>
          </a:p>
        </p:txBody>
      </p:sp>
      <p:sp>
        <p:nvSpPr>
          <p:cNvPr id="16" name="">
            <a:extLst xmlns:a="http://schemas.openxmlformats.org/drawingml/2006/main">
              <a:ext uri="{FF2B5EF4-FFF2-40B4-BE49-F238E27FC236}">
                <a16:creationId xmlns:a16="http://schemas.microsoft.com/office/drawing/2014/main" id="{649EBADF-DA60-4428-B559-285923D8FB18}"/>
              </a:ext>
            </a:extLst>
          </p:cNvPr>
          <p:cNvSpPr>
            <a:spLocks xmlns:a="http://schemas.openxmlformats.org/drawingml/2006/main" noGrp="1"/>
          </p:cNvSpPr>
          <p:nvPr/>
        </p:nvSpPr>
        <p:spPr>
          <a:xfrm xmlns:a="http://schemas.openxmlformats.org/drawingml/2006/main">
            <a:off x="4400550" y="1428750"/>
            <a:ext cx="657225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2B764398-6063-40FE-A47F-549305150E5B}"/>
              </a:ext>
            </a:extLst>
          </p:cNvPr>
          <p:cNvSpPr>
            <a:spLocks xmlns:a="http://schemas.openxmlformats.org/drawingml/2006/main" noGrp="1"/>
          </p:cNvSpPr>
          <p:nvPr/>
        </p:nvSpPr>
        <p:spPr>
          <a:xfrm xmlns:a="http://schemas.openxmlformats.org/drawingml/2006/main">
            <a:off x="4629150" y="1657350"/>
            <a:ext cx="3048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One round of reference behavior</a:t>
            </a:r>
          </a:p>
        </p:txBody>
      </p:sp>
      <p:sp>
        <p:nvSpPr>
          <p:cNvPr id="18" name="">
            <a:extLst xmlns:a="http://schemas.openxmlformats.org/drawingml/2006/main">
              <a:ext uri="{FF2B5EF4-FFF2-40B4-BE49-F238E27FC236}">
                <a16:creationId xmlns:a16="http://schemas.microsoft.com/office/drawing/2014/main" id="{AB152738-D354-4115-A455-9D736759E024}"/>
              </a:ext>
            </a:extLst>
          </p:cNvPr>
          <p:cNvSpPr>
            <a:spLocks xmlns:a="http://schemas.openxmlformats.org/drawingml/2006/main" noGrp="1"/>
          </p:cNvSpPr>
          <p:nvPr/>
        </p:nvSpPr>
        <p:spPr>
          <a:xfrm xmlns:a="http://schemas.openxmlformats.org/drawingml/2006/main">
            <a:off x="4762500" y="2400300"/>
            <a:ext cx="819150" cy="6096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19" name="">
            <a:extLst xmlns:a="http://schemas.openxmlformats.org/drawingml/2006/main">
              <a:ext uri="{FF2B5EF4-FFF2-40B4-BE49-F238E27FC236}">
                <a16:creationId xmlns:a16="http://schemas.microsoft.com/office/drawing/2014/main" id="{8D80438D-4450-4477-A2C2-9A176D258F05}"/>
              </a:ext>
            </a:extLst>
          </p:cNvPr>
          <p:cNvSpPr>
            <a:spLocks xmlns:a="http://schemas.openxmlformats.org/drawingml/2006/main" noGrp="1"/>
          </p:cNvSpPr>
          <p:nvPr/>
        </p:nvSpPr>
        <p:spPr>
          <a:xfrm xmlns:a="http://schemas.openxmlformats.org/drawingml/2006/main">
            <a:off x="4838700" y="24765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1</a:t>
            </a:r>
          </a:p>
        </p:txBody>
      </p:sp>
      <p:sp>
        <p:nvSpPr>
          <p:cNvPr id="20" name="">
            <a:extLst xmlns:a="http://schemas.openxmlformats.org/drawingml/2006/main">
              <a:ext uri="{FF2B5EF4-FFF2-40B4-BE49-F238E27FC236}">
                <a16:creationId xmlns:a16="http://schemas.microsoft.com/office/drawing/2014/main" id="{56368DE3-49E9-4E58-AE7E-A8E64F6E9A40}"/>
              </a:ext>
            </a:extLst>
          </p:cNvPr>
          <p:cNvSpPr>
            <a:spLocks xmlns:a="http://schemas.openxmlformats.org/drawingml/2006/main" noGrp="1"/>
          </p:cNvSpPr>
          <p:nvPr/>
        </p:nvSpPr>
        <p:spPr>
          <a:xfrm xmlns:a="http://schemas.openxmlformats.org/drawingml/2006/main">
            <a:off x="4838700" y="26860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0F172A"/>
                </a:solidFill>
                <a:latin typeface="Aptos"/>
                <a:ea typeface="Aptos"/>
                <a:cs typeface="Aptos"/>
              </a:defRPr>
            </a:pPr>
            <a:r>
              <a:rPr sz="713" b="0">
                <a:solidFill>
                  <a:srgbClr val="0F172A"/>
                </a:solidFill>
                <a:latin typeface="Aptos"/>
                <a:ea typeface="Aptos"/>
                <a:cs typeface="Aptos"/>
              </a:rPr>
              <a:t>Read current node index</a:t>
            </a:r>
          </a:p>
        </p:txBody>
      </p:sp>
      <p:sp>
        <p:nvSpPr>
          <p:cNvPr id="21" name="">
            <a:extLst xmlns:a="http://schemas.openxmlformats.org/drawingml/2006/main">
              <a:ext uri="{FF2B5EF4-FFF2-40B4-BE49-F238E27FC236}">
                <a16:creationId xmlns:a16="http://schemas.microsoft.com/office/drawing/2014/main" id="{6A739EA6-BDF7-4FB4-947F-BB944923897D}"/>
              </a:ext>
            </a:extLst>
          </p:cNvPr>
          <p:cNvSpPr>
            <a:spLocks xmlns:a="http://schemas.openxmlformats.org/drawingml/2006/main" noGrp="1"/>
          </p:cNvSpPr>
          <p:nvPr/>
        </p:nvSpPr>
        <p:spPr>
          <a:xfrm xmlns:a="http://schemas.openxmlformats.org/drawingml/2006/main">
            <a:off x="5629275" y="2609850"/>
            <a:ext cx="28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475569"/>
                </a:solidFill>
                <a:latin typeface="Aptos"/>
                <a:ea typeface="Aptos"/>
                <a:cs typeface="Aptos"/>
              </a:defRPr>
            </a:pPr>
            <a:r>
              <a:rPr sz="1350" b="1">
                <a:solidFill>
                  <a:srgbClr val="475569"/>
                </a:solidFill>
                <a:latin typeface="Aptos"/>
                <a:ea typeface="Aptos"/>
                <a:cs typeface="Aptos"/>
              </a:rPr>
              <a:t>-&gt;</a:t>
            </a:r>
          </a:p>
        </p:txBody>
      </p:sp>
      <p:sp>
        <p:nvSpPr>
          <p:cNvPr id="22" name="">
            <a:extLst xmlns:a="http://schemas.openxmlformats.org/drawingml/2006/main">
              <a:ext uri="{FF2B5EF4-FFF2-40B4-BE49-F238E27FC236}">
                <a16:creationId xmlns:a16="http://schemas.microsoft.com/office/drawing/2014/main" id="{207C80B4-CA8D-4E26-A691-3D8C887A1527}"/>
              </a:ext>
            </a:extLst>
          </p:cNvPr>
          <p:cNvSpPr>
            <a:spLocks xmlns:a="http://schemas.openxmlformats.org/drawingml/2006/main" noGrp="1"/>
          </p:cNvSpPr>
          <p:nvPr/>
        </p:nvSpPr>
        <p:spPr>
          <a:xfrm xmlns:a="http://schemas.openxmlformats.org/drawingml/2006/main">
            <a:off x="5924550" y="3200400"/>
            <a:ext cx="819150" cy="609600"/>
          </a:xfrm>
          <a:prstGeom xmlns:a="http://schemas.openxmlformats.org/drawingml/2006/main" prst="rect">
            <a:avLst/>
          </a:prstGeom>
          <a:solidFill xmlns:a="http://schemas.openxmlformats.org/drawingml/2006/main">
            <a:srgbClr val="ECFEFF"/>
          </a:solidFill>
          <a:ln xmlns:a="http://schemas.openxmlformats.org/drawingml/2006/main" w="9525">
            <a:solidFill>
              <a:srgbClr val="E2E8F0"/>
            </a:solidFill>
          </a:ln>
        </p:spPr>
      </p:sp>
      <p:sp>
        <p:nvSpPr>
          <p:cNvPr id="23" name="">
            <a:extLst xmlns:a="http://schemas.openxmlformats.org/drawingml/2006/main">
              <a:ext uri="{FF2B5EF4-FFF2-40B4-BE49-F238E27FC236}">
                <a16:creationId xmlns:a16="http://schemas.microsoft.com/office/drawing/2014/main" id="{9DD3CDEB-E116-4630-AE89-F8DA4D573438}"/>
              </a:ext>
            </a:extLst>
          </p:cNvPr>
          <p:cNvSpPr>
            <a:spLocks xmlns:a="http://schemas.openxmlformats.org/drawingml/2006/main" noGrp="1"/>
          </p:cNvSpPr>
          <p:nvPr/>
        </p:nvSpPr>
        <p:spPr>
          <a:xfrm xmlns:a="http://schemas.openxmlformats.org/drawingml/2006/main">
            <a:off x="6000750" y="32766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2</a:t>
            </a:r>
          </a:p>
        </p:txBody>
      </p:sp>
      <p:sp>
        <p:nvSpPr>
          <p:cNvPr id="24" name="">
            <a:extLst xmlns:a="http://schemas.openxmlformats.org/drawingml/2006/main">
              <a:ext uri="{FF2B5EF4-FFF2-40B4-BE49-F238E27FC236}">
                <a16:creationId xmlns:a16="http://schemas.microsoft.com/office/drawing/2014/main" id="{960438AD-F369-400C-8688-EE9A45BA8192}"/>
              </a:ext>
            </a:extLst>
          </p:cNvPr>
          <p:cNvSpPr>
            <a:spLocks xmlns:a="http://schemas.openxmlformats.org/drawingml/2006/main" noGrp="1"/>
          </p:cNvSpPr>
          <p:nvPr/>
        </p:nvSpPr>
        <p:spPr>
          <a:xfrm xmlns:a="http://schemas.openxmlformats.org/drawingml/2006/main">
            <a:off x="6000750" y="34861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0F172A"/>
                </a:solidFill>
                <a:latin typeface="Aptos"/>
                <a:ea typeface="Aptos"/>
                <a:cs typeface="Aptos"/>
              </a:defRPr>
            </a:pPr>
            <a:r>
              <a:rPr sz="713" b="0">
                <a:solidFill>
                  <a:srgbClr val="0F172A"/>
                </a:solidFill>
                <a:latin typeface="Aptos"/>
                <a:ea typeface="Aptos"/>
                <a:cs typeface="Aptos"/>
              </a:rPr>
              <a:t>Read tree node value</a:t>
            </a:r>
          </a:p>
        </p:txBody>
      </p:sp>
      <p:sp>
        <p:nvSpPr>
          <p:cNvPr id="25" name="">
            <a:extLst xmlns:a="http://schemas.openxmlformats.org/drawingml/2006/main">
              <a:ext uri="{FF2B5EF4-FFF2-40B4-BE49-F238E27FC236}">
                <a16:creationId xmlns:a16="http://schemas.microsoft.com/office/drawing/2014/main" id="{104C7E10-ED79-4DFA-B19E-A6A3097C05A4}"/>
              </a:ext>
            </a:extLst>
          </p:cNvPr>
          <p:cNvSpPr>
            <a:spLocks xmlns:a="http://schemas.openxmlformats.org/drawingml/2006/main" noGrp="1"/>
          </p:cNvSpPr>
          <p:nvPr/>
        </p:nvSpPr>
        <p:spPr>
          <a:xfrm xmlns:a="http://schemas.openxmlformats.org/drawingml/2006/main">
            <a:off x="6791325" y="3409950"/>
            <a:ext cx="28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475569"/>
                </a:solidFill>
                <a:latin typeface="Aptos"/>
                <a:ea typeface="Aptos"/>
                <a:cs typeface="Aptos"/>
              </a:defRPr>
            </a:pPr>
            <a:r>
              <a:rPr sz="1350" b="1">
                <a:solidFill>
                  <a:srgbClr val="475569"/>
                </a:solidFill>
                <a:latin typeface="Aptos"/>
                <a:ea typeface="Aptos"/>
                <a:cs typeface="Aptos"/>
              </a:rPr>
              <a:t>-&gt;</a:t>
            </a:r>
          </a:p>
        </p:txBody>
      </p:sp>
      <p:sp>
        <p:nvSpPr>
          <p:cNvPr id="26" name="">
            <a:extLst xmlns:a="http://schemas.openxmlformats.org/drawingml/2006/main">
              <a:ext uri="{FF2B5EF4-FFF2-40B4-BE49-F238E27FC236}">
                <a16:creationId xmlns:a16="http://schemas.microsoft.com/office/drawing/2014/main" id="{29E7FA12-366F-4F40-BDF8-703514B8B1E8}"/>
              </a:ext>
            </a:extLst>
          </p:cNvPr>
          <p:cNvSpPr>
            <a:spLocks xmlns:a="http://schemas.openxmlformats.org/drawingml/2006/main" noGrp="1"/>
          </p:cNvSpPr>
          <p:nvPr/>
        </p:nvSpPr>
        <p:spPr>
          <a:xfrm xmlns:a="http://schemas.openxmlformats.org/drawingml/2006/main">
            <a:off x="7086600" y="2400300"/>
            <a:ext cx="819150" cy="6096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27" name="">
            <a:extLst xmlns:a="http://schemas.openxmlformats.org/drawingml/2006/main">
              <a:ext uri="{FF2B5EF4-FFF2-40B4-BE49-F238E27FC236}">
                <a16:creationId xmlns:a16="http://schemas.microsoft.com/office/drawing/2014/main" id="{03820F14-DE0F-4018-BB63-3D5B92C55FB5}"/>
              </a:ext>
            </a:extLst>
          </p:cNvPr>
          <p:cNvSpPr>
            <a:spLocks xmlns:a="http://schemas.openxmlformats.org/drawingml/2006/main" noGrp="1"/>
          </p:cNvSpPr>
          <p:nvPr/>
        </p:nvSpPr>
        <p:spPr>
          <a:xfrm xmlns:a="http://schemas.openxmlformats.org/drawingml/2006/main">
            <a:off x="7162800" y="24765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3</a:t>
            </a:r>
          </a:p>
        </p:txBody>
      </p:sp>
      <p:sp>
        <p:nvSpPr>
          <p:cNvPr id="28" name="">
            <a:extLst xmlns:a="http://schemas.openxmlformats.org/drawingml/2006/main">
              <a:ext uri="{FF2B5EF4-FFF2-40B4-BE49-F238E27FC236}">
                <a16:creationId xmlns:a16="http://schemas.microsoft.com/office/drawing/2014/main" id="{ABACE85D-2028-4C39-9D8E-7EE3F7B86627}"/>
              </a:ext>
            </a:extLst>
          </p:cNvPr>
          <p:cNvSpPr>
            <a:spLocks xmlns:a="http://schemas.openxmlformats.org/drawingml/2006/main" noGrp="1"/>
          </p:cNvSpPr>
          <p:nvPr/>
        </p:nvSpPr>
        <p:spPr>
          <a:xfrm xmlns:a="http://schemas.openxmlformats.org/drawingml/2006/main">
            <a:off x="7162800" y="26860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0F172A"/>
                </a:solidFill>
                <a:latin typeface="Aptos"/>
                <a:ea typeface="Aptos"/>
                <a:cs typeface="Aptos"/>
              </a:defRPr>
            </a:pPr>
            <a:r>
              <a:rPr sz="713" b="0">
                <a:solidFill>
                  <a:srgbClr val="0F172A"/>
                </a:solidFill>
                <a:latin typeface="Aptos"/>
                <a:ea typeface="Aptos"/>
                <a:cs typeface="Aptos"/>
              </a:rPr>
              <a:t>Hash input_value ^ node_value</a:t>
            </a:r>
          </a:p>
        </p:txBody>
      </p:sp>
      <p:sp>
        <p:nvSpPr>
          <p:cNvPr id="29" name="">
            <a:extLst xmlns:a="http://schemas.openxmlformats.org/drawingml/2006/main">
              <a:ext uri="{FF2B5EF4-FFF2-40B4-BE49-F238E27FC236}">
                <a16:creationId xmlns:a16="http://schemas.microsoft.com/office/drawing/2014/main" id="{FD2E6C50-488D-41FB-B944-7460793F923E}"/>
              </a:ext>
            </a:extLst>
          </p:cNvPr>
          <p:cNvSpPr>
            <a:spLocks xmlns:a="http://schemas.openxmlformats.org/drawingml/2006/main" noGrp="1"/>
          </p:cNvSpPr>
          <p:nvPr/>
        </p:nvSpPr>
        <p:spPr>
          <a:xfrm xmlns:a="http://schemas.openxmlformats.org/drawingml/2006/main">
            <a:off x="7953375" y="2609850"/>
            <a:ext cx="28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475569"/>
                </a:solidFill>
                <a:latin typeface="Aptos"/>
                <a:ea typeface="Aptos"/>
                <a:cs typeface="Aptos"/>
              </a:defRPr>
            </a:pPr>
            <a:r>
              <a:rPr sz="1350" b="1">
                <a:solidFill>
                  <a:srgbClr val="475569"/>
                </a:solidFill>
                <a:latin typeface="Aptos"/>
                <a:ea typeface="Aptos"/>
                <a:cs typeface="Aptos"/>
              </a:rPr>
              <a:t>-&gt;</a:t>
            </a:r>
          </a:p>
        </p:txBody>
      </p:sp>
      <p:sp>
        <p:nvSpPr>
          <p:cNvPr id="30" name="">
            <a:extLst xmlns:a="http://schemas.openxmlformats.org/drawingml/2006/main">
              <a:ext uri="{FF2B5EF4-FFF2-40B4-BE49-F238E27FC236}">
                <a16:creationId xmlns:a16="http://schemas.microsoft.com/office/drawing/2014/main" id="{139C750C-52C5-44E2-B134-9BAC8FD11747}"/>
              </a:ext>
            </a:extLst>
          </p:cNvPr>
          <p:cNvSpPr>
            <a:spLocks xmlns:a="http://schemas.openxmlformats.org/drawingml/2006/main" noGrp="1"/>
          </p:cNvSpPr>
          <p:nvPr/>
        </p:nvSpPr>
        <p:spPr>
          <a:xfrm xmlns:a="http://schemas.openxmlformats.org/drawingml/2006/main">
            <a:off x="8248650" y="3200400"/>
            <a:ext cx="819150" cy="609600"/>
          </a:xfrm>
          <a:prstGeom xmlns:a="http://schemas.openxmlformats.org/drawingml/2006/main" prst="rect">
            <a:avLst/>
          </a:prstGeom>
          <a:solidFill xmlns:a="http://schemas.openxmlformats.org/drawingml/2006/main">
            <a:srgbClr val="ECFEFF"/>
          </a:solidFill>
          <a:ln xmlns:a="http://schemas.openxmlformats.org/drawingml/2006/main" w="9525">
            <a:solidFill>
              <a:srgbClr val="E2E8F0"/>
            </a:solidFill>
          </a:ln>
        </p:spPr>
      </p:sp>
      <p:sp>
        <p:nvSpPr>
          <p:cNvPr id="31" name="">
            <a:extLst xmlns:a="http://schemas.openxmlformats.org/drawingml/2006/main">
              <a:ext uri="{FF2B5EF4-FFF2-40B4-BE49-F238E27FC236}">
                <a16:creationId xmlns:a16="http://schemas.microsoft.com/office/drawing/2014/main" id="{5181CF50-1A90-4E42-AC7B-D4BC8D5486D5}"/>
              </a:ext>
            </a:extLst>
          </p:cNvPr>
          <p:cNvSpPr>
            <a:spLocks xmlns:a="http://schemas.openxmlformats.org/drawingml/2006/main" noGrp="1"/>
          </p:cNvSpPr>
          <p:nvPr/>
        </p:nvSpPr>
        <p:spPr>
          <a:xfrm xmlns:a="http://schemas.openxmlformats.org/drawingml/2006/main">
            <a:off x="8324850" y="32766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4</a:t>
            </a:r>
          </a:p>
        </p:txBody>
      </p:sp>
      <p:sp>
        <p:nvSpPr>
          <p:cNvPr id="32" name="">
            <a:extLst xmlns:a="http://schemas.openxmlformats.org/drawingml/2006/main">
              <a:ext uri="{FF2B5EF4-FFF2-40B4-BE49-F238E27FC236}">
                <a16:creationId xmlns:a16="http://schemas.microsoft.com/office/drawing/2014/main" id="{B524A05F-FFDD-4CC8-85EF-55323FAADF94}"/>
              </a:ext>
            </a:extLst>
          </p:cNvPr>
          <p:cNvSpPr>
            <a:spLocks xmlns:a="http://schemas.openxmlformats.org/drawingml/2006/main" noGrp="1"/>
          </p:cNvSpPr>
          <p:nvPr/>
        </p:nvSpPr>
        <p:spPr>
          <a:xfrm xmlns:a="http://schemas.openxmlformats.org/drawingml/2006/main">
            <a:off x="8324850" y="34861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0F172A"/>
                </a:solidFill>
                <a:latin typeface="Aptos"/>
                <a:ea typeface="Aptos"/>
                <a:cs typeface="Aptos"/>
              </a:defRPr>
            </a:pPr>
            <a:r>
              <a:rPr sz="713" b="0">
                <a:solidFill>
                  <a:srgbClr val="0F172A"/>
                </a:solidFill>
                <a:latin typeface="Aptos"/>
                <a:ea typeface="Aptos"/>
                <a:cs typeface="Aptos"/>
              </a:rPr>
              <a:t>Use hash parity to choose left/right child</a:t>
            </a:r>
          </a:p>
        </p:txBody>
      </p:sp>
      <p:sp>
        <p:nvSpPr>
          <p:cNvPr id="33" name="">
            <a:extLst xmlns:a="http://schemas.openxmlformats.org/drawingml/2006/main">
              <a:ext uri="{FF2B5EF4-FFF2-40B4-BE49-F238E27FC236}">
                <a16:creationId xmlns:a16="http://schemas.microsoft.com/office/drawing/2014/main" id="{898CA4DD-DE74-46EC-B119-61F8154977FB}"/>
              </a:ext>
            </a:extLst>
          </p:cNvPr>
          <p:cNvSpPr>
            <a:spLocks xmlns:a="http://schemas.openxmlformats.org/drawingml/2006/main" noGrp="1"/>
          </p:cNvSpPr>
          <p:nvPr/>
        </p:nvSpPr>
        <p:spPr>
          <a:xfrm xmlns:a="http://schemas.openxmlformats.org/drawingml/2006/main">
            <a:off x="9115425" y="3409950"/>
            <a:ext cx="285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475569"/>
                </a:solidFill>
                <a:latin typeface="Aptos"/>
                <a:ea typeface="Aptos"/>
                <a:cs typeface="Aptos"/>
              </a:defRPr>
            </a:pPr>
            <a:r>
              <a:rPr sz="1350" b="1">
                <a:solidFill>
                  <a:srgbClr val="475569"/>
                </a:solidFill>
                <a:latin typeface="Aptos"/>
                <a:ea typeface="Aptos"/>
                <a:cs typeface="Aptos"/>
              </a:rPr>
              <a:t>-&gt;</a:t>
            </a:r>
          </a:p>
        </p:txBody>
      </p:sp>
      <p:sp>
        <p:nvSpPr>
          <p:cNvPr id="34" name="">
            <a:extLst xmlns:a="http://schemas.openxmlformats.org/drawingml/2006/main">
              <a:ext uri="{FF2B5EF4-FFF2-40B4-BE49-F238E27FC236}">
                <a16:creationId xmlns:a16="http://schemas.microsoft.com/office/drawing/2014/main" id="{3E82F803-88D6-4F54-A955-31BD5135B028}"/>
              </a:ext>
            </a:extLst>
          </p:cNvPr>
          <p:cNvSpPr>
            <a:spLocks xmlns:a="http://schemas.openxmlformats.org/drawingml/2006/main" noGrp="1"/>
          </p:cNvSpPr>
          <p:nvPr/>
        </p:nvSpPr>
        <p:spPr>
          <a:xfrm xmlns:a="http://schemas.openxmlformats.org/drawingml/2006/main">
            <a:off x="9410700" y="2400300"/>
            <a:ext cx="819150" cy="6096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35" name="">
            <a:extLst xmlns:a="http://schemas.openxmlformats.org/drawingml/2006/main">
              <a:ext uri="{FF2B5EF4-FFF2-40B4-BE49-F238E27FC236}">
                <a16:creationId xmlns:a16="http://schemas.microsoft.com/office/drawing/2014/main" id="{8F751317-A809-447A-91E0-13122B86FEC8}"/>
              </a:ext>
            </a:extLst>
          </p:cNvPr>
          <p:cNvSpPr>
            <a:spLocks xmlns:a="http://schemas.openxmlformats.org/drawingml/2006/main" noGrp="1"/>
          </p:cNvSpPr>
          <p:nvPr/>
        </p:nvSpPr>
        <p:spPr>
          <a:xfrm xmlns:a="http://schemas.openxmlformats.org/drawingml/2006/main">
            <a:off x="9486900" y="2476500"/>
            <a:ext cx="19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ptos"/>
                <a:ea typeface="Aptos"/>
                <a:cs typeface="Aptos"/>
              </a:defRPr>
            </a:pPr>
            <a:r>
              <a:rPr sz="1200" b="1">
                <a:solidFill>
                  <a:srgbClr val="2563EB"/>
                </a:solidFill>
                <a:latin typeface="Aptos"/>
                <a:ea typeface="Aptos"/>
                <a:cs typeface="Aptos"/>
              </a:rPr>
              <a:t>5</a:t>
            </a:r>
          </a:p>
        </p:txBody>
      </p:sp>
      <p:sp>
        <p:nvSpPr>
          <p:cNvPr id="36" name="">
            <a:extLst xmlns:a="http://schemas.openxmlformats.org/drawingml/2006/main">
              <a:ext uri="{FF2B5EF4-FFF2-40B4-BE49-F238E27FC236}">
                <a16:creationId xmlns:a16="http://schemas.microsoft.com/office/drawing/2014/main" id="{DC4B7523-E197-42B9-AFBE-13BFB0399C73}"/>
              </a:ext>
            </a:extLst>
          </p:cNvPr>
          <p:cNvSpPr>
            <a:spLocks xmlns:a="http://schemas.openxmlformats.org/drawingml/2006/main" noGrp="1"/>
          </p:cNvSpPr>
          <p:nvPr/>
        </p:nvSpPr>
        <p:spPr>
          <a:xfrm xmlns:a="http://schemas.openxmlformats.org/drawingml/2006/main">
            <a:off x="9486900" y="2686050"/>
            <a:ext cx="666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0F172A"/>
                </a:solidFill>
                <a:latin typeface="Aptos"/>
                <a:ea typeface="Aptos"/>
                <a:cs typeface="Aptos"/>
              </a:defRPr>
            </a:pPr>
            <a:r>
              <a:rPr sz="713" b="0">
                <a:solidFill>
                  <a:srgbClr val="0F172A"/>
                </a:solidFill>
                <a:latin typeface="Aptos"/>
                <a:ea typeface="Aptos"/>
                <a:cs typeface="Aptos"/>
              </a:rPr>
              <a:t>Update value and current index</a:t>
            </a:r>
          </a:p>
        </p:txBody>
      </p:sp>
      <p:sp>
        <p:nvSpPr>
          <p:cNvPr id="37" name="">
            <a:extLst xmlns:a="http://schemas.openxmlformats.org/drawingml/2006/main">
              <a:ext uri="{FF2B5EF4-FFF2-40B4-BE49-F238E27FC236}">
                <a16:creationId xmlns:a16="http://schemas.microsoft.com/office/drawing/2014/main" id="{D63352FB-3CBA-4522-BFBA-FECED6ED75A6}"/>
              </a:ext>
            </a:extLst>
          </p:cNvPr>
          <p:cNvSpPr>
            <a:spLocks xmlns:a="http://schemas.openxmlformats.org/drawingml/2006/main" noGrp="1"/>
          </p:cNvSpPr>
          <p:nvPr/>
        </p:nvSpPr>
        <p:spPr>
          <a:xfrm xmlns:a="http://schemas.openxmlformats.org/drawingml/2006/main">
            <a:off x="4933950" y="4305300"/>
            <a:ext cx="3143250" cy="266700"/>
          </a:xfrm>
          <a:prstGeom xmlns:a="http://schemas.openxmlformats.org/drawingml/2006/main" prst="rect">
            <a:avLst/>
          </a:prstGeom>
          <a:solidFill xmlns:a="http://schemas.openxmlformats.org/drawingml/2006/main">
            <a:srgbClr val="FFFFFF"/>
          </a:solidFill>
          <a:ln xmlns:a="http://schemas.openxmlformats.org/drawingml/2006/main" w="11430">
            <a:solidFill>
              <a:srgbClr val="16A34A"/>
            </a:solidFill>
            <a:prstDash val="solid"/>
          </a:ln>
        </p:spPr>
      </p:sp>
      <p:sp>
        <p:nvSpPr>
          <p:cNvPr id="38" name="">
            <a:extLst xmlns:a="http://schemas.openxmlformats.org/drawingml/2006/main">
              <a:ext uri="{FF2B5EF4-FFF2-40B4-BE49-F238E27FC236}">
                <a16:creationId xmlns:a16="http://schemas.microsoft.com/office/drawing/2014/main" id="{01A5911C-A5B8-4A11-A606-DD457ED66BFE}"/>
              </a:ext>
            </a:extLst>
          </p:cNvPr>
          <p:cNvSpPr>
            <a:spLocks xmlns:a="http://schemas.openxmlformats.org/drawingml/2006/main" noGrp="1"/>
          </p:cNvSpPr>
          <p:nvPr/>
        </p:nvSpPr>
        <p:spPr>
          <a:xfrm xmlns:a="http://schemas.openxmlformats.org/drawingml/2006/main">
            <a:off x="5010150" y="4362450"/>
            <a:ext cx="2990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16A34A"/>
                </a:solidFill>
                <a:latin typeface="Aptos"/>
                <a:ea typeface="Aptos"/>
                <a:cs typeface="Aptos"/>
              </a:defRPr>
            </a:pPr>
            <a:r>
              <a:rPr sz="825" b="1">
                <a:solidFill>
                  <a:srgbClr val="16A34A"/>
                </a:solidFill>
                <a:latin typeface="Aptos"/>
                <a:ea typeface="Aptos"/>
                <a:cs typeface="Aptos"/>
              </a:rPr>
              <a:t>Correctness target: final values match reference</a:t>
            </a:r>
          </a:p>
        </p:txBody>
      </p:sp>
      <p:sp>
        <p:nvSpPr>
          <p:cNvPr id="39" name="">
            <a:extLst xmlns:a="http://schemas.openxmlformats.org/drawingml/2006/main">
              <a:ext uri="{FF2B5EF4-FFF2-40B4-BE49-F238E27FC236}">
                <a16:creationId xmlns:a16="http://schemas.microsoft.com/office/drawing/2014/main" id="{0EBB4E83-757A-4F1B-9301-BEA1D2E994C4}"/>
              </a:ext>
            </a:extLst>
          </p:cNvPr>
          <p:cNvSpPr>
            <a:spLocks xmlns:a="http://schemas.openxmlformats.org/drawingml/2006/main" noGrp="1"/>
          </p:cNvSpPr>
          <p:nvPr/>
        </p:nvSpPr>
        <p:spPr>
          <a:xfrm xmlns:a="http://schemas.openxmlformats.org/drawingml/2006/main">
            <a:off x="8286750" y="4305300"/>
            <a:ext cx="2476500" cy="266700"/>
          </a:xfrm>
          <a:prstGeom xmlns:a="http://schemas.openxmlformats.org/drawingml/2006/main" prst="rect">
            <a:avLst/>
          </a:prstGeom>
          <a:solidFill xmlns:a="http://schemas.openxmlformats.org/drawingml/2006/main">
            <a:srgbClr val="FFFFFF"/>
          </a:solidFill>
          <a:ln xmlns:a="http://schemas.openxmlformats.org/drawingml/2006/main" w="11430">
            <a:solidFill>
              <a:srgbClr val="2563EB"/>
            </a:solidFill>
            <a:prstDash val="solid"/>
          </a:ln>
        </p:spPr>
      </p:sp>
      <p:sp>
        <p:nvSpPr>
          <p:cNvPr id="40" name="">
            <a:extLst xmlns:a="http://schemas.openxmlformats.org/drawingml/2006/main">
              <a:ext uri="{FF2B5EF4-FFF2-40B4-BE49-F238E27FC236}">
                <a16:creationId xmlns:a16="http://schemas.microsoft.com/office/drawing/2014/main" id="{8209309D-4D8A-4E76-A701-98943A57998E}"/>
              </a:ext>
            </a:extLst>
          </p:cNvPr>
          <p:cNvSpPr>
            <a:spLocks xmlns:a="http://schemas.openxmlformats.org/drawingml/2006/main" noGrp="1"/>
          </p:cNvSpPr>
          <p:nvPr/>
        </p:nvSpPr>
        <p:spPr>
          <a:xfrm xmlns:a="http://schemas.openxmlformats.org/drawingml/2006/main">
            <a:off x="8362950" y="4362450"/>
            <a:ext cx="23241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2563EB"/>
                </a:solidFill>
                <a:latin typeface="Aptos"/>
                <a:ea typeface="Aptos"/>
                <a:cs typeface="Aptos"/>
              </a:defRPr>
            </a:pPr>
            <a:r>
              <a:rPr sz="825" b="1">
                <a:solidFill>
                  <a:srgbClr val="2563EB"/>
                </a:solidFill>
                <a:latin typeface="Aptos"/>
                <a:ea typeface="Aptos"/>
                <a:cs typeface="Aptos"/>
              </a:rPr>
              <a:t>Optimization target: fewer simulator cycles</a:t>
            </a:r>
          </a:p>
        </p:txBody>
      </p:sp>
      <p:sp>
        <p:nvSpPr>
          <p:cNvPr id="41" name="">
            <a:extLst xmlns:a="http://schemas.openxmlformats.org/drawingml/2006/main">
              <a:ext uri="{FF2B5EF4-FFF2-40B4-BE49-F238E27FC236}">
                <a16:creationId xmlns:a16="http://schemas.microsoft.com/office/drawing/2014/main" id="{4304A56B-8EE7-491B-9C39-916374360C5F}"/>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3</a:t>
            </a:r>
          </a:p>
        </p:txBody>
      </p:sp>
    </p:spTree>
    <p:extLst>
      <p:ext uri="{BB962C8B-B14F-4D97-AF65-F5344CB8AC3E}">
        <p14:creationId xmlns:p14="http://schemas.microsoft.com/office/powerpoint/2010/main" val="15177833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D366C9-B097-49D9-BFCF-CFD1D34CA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F18C183-3FA9-4FF0-9DC1-ECFC8872C3F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3237BA-1E47-403E-AB4D-4A8C051CCEE1}"/>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MACHINE MODEL</a:t>
            </a:r>
          </a:p>
        </p:txBody>
      </p:sp>
      <p:sp>
        <p:nvSpPr>
          <p:cNvPr id="4" name="">
            <a:extLst xmlns:a="http://schemas.openxmlformats.org/drawingml/2006/main">
              <a:ext uri="{FF2B5EF4-FFF2-40B4-BE49-F238E27FC236}">
                <a16:creationId xmlns:a16="http://schemas.microsoft.com/office/drawing/2014/main" id="{D54373B9-3A3E-44EA-ADD7-D02E6112E982}"/>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Machine Model And Perfetto Tooling</a:t>
            </a:r>
          </a:p>
        </p:txBody>
      </p:sp>
      <p:sp>
        <p:nvSpPr>
          <p:cNvPr id="5" name="">
            <a:extLst xmlns:a="http://schemas.openxmlformats.org/drawingml/2006/main">
              <a:ext uri="{FF2B5EF4-FFF2-40B4-BE49-F238E27FC236}">
                <a16:creationId xmlns:a16="http://schemas.microsoft.com/office/drawing/2014/main" id="{43CEEA4B-D1A7-4856-80BA-D4A87A826602}"/>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simulator behaves like a restricted VLIW/SIMD machine with separate execution engines.</a:t>
            </a:r>
          </a:p>
        </p:txBody>
      </p:sp>
      <p:sp>
        <p:nvSpPr>
          <p:cNvPr id="6" name="">
            <a:extLst xmlns:a="http://schemas.openxmlformats.org/drawingml/2006/main">
              <a:ext uri="{FF2B5EF4-FFF2-40B4-BE49-F238E27FC236}">
                <a16:creationId xmlns:a16="http://schemas.microsoft.com/office/drawing/2014/main" id="{BEFF994A-F78C-4DBE-A3CF-ED6B3CF73D9B}"/>
              </a:ext>
            </a:extLst>
          </p:cNvPr>
          <p:cNvSpPr>
            <a:spLocks xmlns:a="http://schemas.openxmlformats.org/drawingml/2006/main" noGrp="1"/>
          </p:cNvSpPr>
          <p:nvPr/>
        </p:nvSpPr>
        <p:spPr>
          <a:xfrm xmlns:a="http://schemas.openxmlformats.org/drawingml/2006/main">
            <a:off x="495300" y="1409700"/>
            <a:ext cx="533400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3040140-E3D0-4FB1-8DEF-2342EBD92149}"/>
              </a:ext>
            </a:extLst>
          </p:cNvPr>
          <p:cNvSpPr>
            <a:spLocks xmlns:a="http://schemas.openxmlformats.org/drawingml/2006/main" noGrp="1"/>
          </p:cNvSpPr>
          <p:nvPr/>
        </p:nvSpPr>
        <p:spPr>
          <a:xfrm xmlns:a="http://schemas.openxmlformats.org/drawingml/2006/main">
            <a:off x="742950" y="161925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Per-cycle engine slots</a:t>
            </a:r>
          </a:p>
        </p:txBody>
      </p:sp>
      <p:sp>
        <p:nvSpPr>
          <p:cNvPr id="8" name="">
            <a:extLst xmlns:a="http://schemas.openxmlformats.org/drawingml/2006/main">
              <a:ext uri="{FF2B5EF4-FFF2-40B4-BE49-F238E27FC236}">
                <a16:creationId xmlns:a16="http://schemas.microsoft.com/office/drawing/2014/main" id="{18C435F0-7DD6-48D4-907B-3CD51A854439}"/>
              </a:ext>
            </a:extLst>
          </p:cNvPr>
          <p:cNvSpPr>
            <a:spLocks xmlns:a="http://schemas.openxmlformats.org/drawingml/2006/main" noGrp="1"/>
          </p:cNvSpPr>
          <p:nvPr/>
        </p:nvSpPr>
        <p:spPr>
          <a:xfrm xmlns:a="http://schemas.openxmlformats.org/drawingml/2006/main">
            <a:off x="742950" y="2114550"/>
            <a:ext cx="762000" cy="3429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9" name="">
            <a:extLst xmlns:a="http://schemas.openxmlformats.org/drawingml/2006/main">
              <a:ext uri="{FF2B5EF4-FFF2-40B4-BE49-F238E27FC236}">
                <a16:creationId xmlns:a16="http://schemas.microsoft.com/office/drawing/2014/main" id="{C0B38319-768E-490B-9FEA-4A945CA05A09}"/>
              </a:ext>
            </a:extLst>
          </p:cNvPr>
          <p:cNvSpPr>
            <a:spLocks xmlns:a="http://schemas.openxmlformats.org/drawingml/2006/main" noGrp="1"/>
          </p:cNvSpPr>
          <p:nvPr/>
        </p:nvSpPr>
        <p:spPr>
          <a:xfrm xmlns:a="http://schemas.openxmlformats.org/drawingml/2006/main">
            <a:off x="914400" y="21907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563EB"/>
                </a:solidFill>
                <a:latin typeface="Aptos"/>
                <a:ea typeface="Aptos"/>
                <a:cs typeface="Aptos"/>
              </a:defRPr>
            </a:pPr>
            <a:r>
              <a:rPr sz="1050" b="1">
                <a:solidFill>
                  <a:srgbClr val="2563EB"/>
                </a:solidFill>
                <a:latin typeface="Aptos"/>
                <a:ea typeface="Aptos"/>
                <a:cs typeface="Aptos"/>
              </a:rPr>
              <a:t>alu</a:t>
            </a:r>
          </a:p>
        </p:txBody>
      </p:sp>
      <p:sp>
        <p:nvSpPr>
          <p:cNvPr id="10" name="">
            <a:extLst xmlns:a="http://schemas.openxmlformats.org/drawingml/2006/main">
              <a:ext uri="{FF2B5EF4-FFF2-40B4-BE49-F238E27FC236}">
                <a16:creationId xmlns:a16="http://schemas.microsoft.com/office/drawing/2014/main" id="{8C768A64-4DA1-4B0A-BBEA-0DE63DFC7171}"/>
              </a:ext>
            </a:extLst>
          </p:cNvPr>
          <p:cNvSpPr>
            <a:spLocks xmlns:a="http://schemas.openxmlformats.org/drawingml/2006/main" noGrp="1"/>
          </p:cNvSpPr>
          <p:nvPr/>
        </p:nvSpPr>
        <p:spPr>
          <a:xfrm xmlns:a="http://schemas.openxmlformats.org/drawingml/2006/main">
            <a:off x="1695450" y="21907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72A"/>
                </a:solidFill>
                <a:latin typeface="Aptos"/>
                <a:ea typeface="Aptos"/>
                <a:cs typeface="Aptos"/>
              </a:defRPr>
            </a:pPr>
            <a:r>
              <a:rPr sz="1050" b="1">
                <a:solidFill>
                  <a:srgbClr val="0F172A"/>
                </a:solidFill>
                <a:latin typeface="Aptos"/>
                <a:ea typeface="Aptos"/>
                <a:cs typeface="Aptos"/>
              </a:rPr>
              <a:t>12 slots</a:t>
            </a:r>
          </a:p>
        </p:txBody>
      </p:sp>
      <p:sp>
        <p:nvSpPr>
          <p:cNvPr id="11" name="">
            <a:extLst xmlns:a="http://schemas.openxmlformats.org/drawingml/2006/main">
              <a:ext uri="{FF2B5EF4-FFF2-40B4-BE49-F238E27FC236}">
                <a16:creationId xmlns:a16="http://schemas.microsoft.com/office/drawing/2014/main" id="{6A1189E4-ED2D-4A4D-94AB-3888025B1C4A}"/>
              </a:ext>
            </a:extLst>
          </p:cNvPr>
          <p:cNvSpPr>
            <a:spLocks xmlns:a="http://schemas.openxmlformats.org/drawingml/2006/main" noGrp="1"/>
          </p:cNvSpPr>
          <p:nvPr/>
        </p:nvSpPr>
        <p:spPr>
          <a:xfrm xmlns:a="http://schemas.openxmlformats.org/drawingml/2006/main">
            <a:off x="2590800" y="219075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scalar arithmetic, comparisons, address math</a:t>
            </a:r>
          </a:p>
        </p:txBody>
      </p:sp>
      <p:sp>
        <p:nvSpPr>
          <p:cNvPr id="12" name="">
            <a:extLst xmlns:a="http://schemas.openxmlformats.org/drawingml/2006/main">
              <a:ext uri="{FF2B5EF4-FFF2-40B4-BE49-F238E27FC236}">
                <a16:creationId xmlns:a16="http://schemas.microsoft.com/office/drawing/2014/main" id="{DA5A7E53-D41D-403B-991D-CC7256DB51D9}"/>
              </a:ext>
            </a:extLst>
          </p:cNvPr>
          <p:cNvSpPr>
            <a:spLocks xmlns:a="http://schemas.openxmlformats.org/drawingml/2006/main" noGrp="1"/>
          </p:cNvSpPr>
          <p:nvPr/>
        </p:nvSpPr>
        <p:spPr>
          <a:xfrm xmlns:a="http://schemas.openxmlformats.org/drawingml/2006/main">
            <a:off x="742950" y="2638425"/>
            <a:ext cx="762000" cy="3429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13" name="">
            <a:extLst xmlns:a="http://schemas.openxmlformats.org/drawingml/2006/main">
              <a:ext uri="{FF2B5EF4-FFF2-40B4-BE49-F238E27FC236}">
                <a16:creationId xmlns:a16="http://schemas.microsoft.com/office/drawing/2014/main" id="{5E10ED2C-024C-48D2-9BFA-8D55D1EAB758}"/>
              </a:ext>
            </a:extLst>
          </p:cNvPr>
          <p:cNvSpPr>
            <a:spLocks xmlns:a="http://schemas.openxmlformats.org/drawingml/2006/main" noGrp="1"/>
          </p:cNvSpPr>
          <p:nvPr/>
        </p:nvSpPr>
        <p:spPr>
          <a:xfrm xmlns:a="http://schemas.openxmlformats.org/drawingml/2006/main">
            <a:off x="914400" y="2714625"/>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563EB"/>
                </a:solidFill>
                <a:latin typeface="Aptos"/>
                <a:ea typeface="Aptos"/>
                <a:cs typeface="Aptos"/>
              </a:defRPr>
            </a:pPr>
            <a:r>
              <a:rPr sz="1050" b="1">
                <a:solidFill>
                  <a:srgbClr val="2563EB"/>
                </a:solidFill>
                <a:latin typeface="Aptos"/>
                <a:ea typeface="Aptos"/>
                <a:cs typeface="Aptos"/>
              </a:rPr>
              <a:t>valu</a:t>
            </a:r>
          </a:p>
        </p:txBody>
      </p:sp>
      <p:sp>
        <p:nvSpPr>
          <p:cNvPr id="14" name="">
            <a:extLst xmlns:a="http://schemas.openxmlformats.org/drawingml/2006/main">
              <a:ext uri="{FF2B5EF4-FFF2-40B4-BE49-F238E27FC236}">
                <a16:creationId xmlns:a16="http://schemas.microsoft.com/office/drawing/2014/main" id="{6D34AEB5-D9BF-4737-8D68-046DC09EAB21}"/>
              </a:ext>
            </a:extLst>
          </p:cNvPr>
          <p:cNvSpPr>
            <a:spLocks xmlns:a="http://schemas.openxmlformats.org/drawingml/2006/main" noGrp="1"/>
          </p:cNvSpPr>
          <p:nvPr/>
        </p:nvSpPr>
        <p:spPr>
          <a:xfrm xmlns:a="http://schemas.openxmlformats.org/drawingml/2006/main">
            <a:off x="1695450" y="27146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72A"/>
                </a:solidFill>
                <a:latin typeface="Aptos"/>
                <a:ea typeface="Aptos"/>
                <a:cs typeface="Aptos"/>
              </a:defRPr>
            </a:pPr>
            <a:r>
              <a:rPr sz="1050" b="1">
                <a:solidFill>
                  <a:srgbClr val="0F172A"/>
                </a:solidFill>
                <a:latin typeface="Aptos"/>
                <a:ea typeface="Aptos"/>
                <a:cs typeface="Aptos"/>
              </a:rPr>
              <a:t>6 slots</a:t>
            </a:r>
          </a:p>
        </p:txBody>
      </p:sp>
      <p:sp>
        <p:nvSpPr>
          <p:cNvPr id="15" name="">
            <a:extLst xmlns:a="http://schemas.openxmlformats.org/drawingml/2006/main">
              <a:ext uri="{FF2B5EF4-FFF2-40B4-BE49-F238E27FC236}">
                <a16:creationId xmlns:a16="http://schemas.microsoft.com/office/drawing/2014/main" id="{8AB298B2-BCB1-49AA-9A91-E796469663FB}"/>
              </a:ext>
            </a:extLst>
          </p:cNvPr>
          <p:cNvSpPr>
            <a:spLocks xmlns:a="http://schemas.openxmlformats.org/drawingml/2006/main" noGrp="1"/>
          </p:cNvSpPr>
          <p:nvPr/>
        </p:nvSpPr>
        <p:spPr>
          <a:xfrm xmlns:a="http://schemas.openxmlformats.org/drawingml/2006/main">
            <a:off x="2590800" y="2714625"/>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SIMD vector arithmetic, 8 lanes per instruction</a:t>
            </a:r>
          </a:p>
        </p:txBody>
      </p:sp>
      <p:sp>
        <p:nvSpPr>
          <p:cNvPr id="16" name="">
            <a:extLst xmlns:a="http://schemas.openxmlformats.org/drawingml/2006/main">
              <a:ext uri="{FF2B5EF4-FFF2-40B4-BE49-F238E27FC236}">
                <a16:creationId xmlns:a16="http://schemas.microsoft.com/office/drawing/2014/main" id="{3C844DD8-EA32-4F13-9DE0-D6FD5236360E}"/>
              </a:ext>
            </a:extLst>
          </p:cNvPr>
          <p:cNvSpPr>
            <a:spLocks xmlns:a="http://schemas.openxmlformats.org/drawingml/2006/main" noGrp="1"/>
          </p:cNvSpPr>
          <p:nvPr/>
        </p:nvSpPr>
        <p:spPr>
          <a:xfrm xmlns:a="http://schemas.openxmlformats.org/drawingml/2006/main">
            <a:off x="742950" y="3162300"/>
            <a:ext cx="762000" cy="3429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17" name="">
            <a:extLst xmlns:a="http://schemas.openxmlformats.org/drawingml/2006/main">
              <a:ext uri="{FF2B5EF4-FFF2-40B4-BE49-F238E27FC236}">
                <a16:creationId xmlns:a16="http://schemas.microsoft.com/office/drawing/2014/main" id="{9FCCB611-0C23-4338-AA06-20ACD6392CA5}"/>
              </a:ext>
            </a:extLst>
          </p:cNvPr>
          <p:cNvSpPr>
            <a:spLocks xmlns:a="http://schemas.openxmlformats.org/drawingml/2006/main" noGrp="1"/>
          </p:cNvSpPr>
          <p:nvPr/>
        </p:nvSpPr>
        <p:spPr>
          <a:xfrm xmlns:a="http://schemas.openxmlformats.org/drawingml/2006/main">
            <a:off x="914400" y="323850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563EB"/>
                </a:solidFill>
                <a:latin typeface="Aptos"/>
                <a:ea typeface="Aptos"/>
                <a:cs typeface="Aptos"/>
              </a:defRPr>
            </a:pPr>
            <a:r>
              <a:rPr sz="1050" b="1">
                <a:solidFill>
                  <a:srgbClr val="2563EB"/>
                </a:solidFill>
                <a:latin typeface="Aptos"/>
                <a:ea typeface="Aptos"/>
                <a:cs typeface="Aptos"/>
              </a:rPr>
              <a:t>load</a:t>
            </a:r>
          </a:p>
        </p:txBody>
      </p:sp>
      <p:sp>
        <p:nvSpPr>
          <p:cNvPr id="18" name="">
            <a:extLst xmlns:a="http://schemas.openxmlformats.org/drawingml/2006/main">
              <a:ext uri="{FF2B5EF4-FFF2-40B4-BE49-F238E27FC236}">
                <a16:creationId xmlns:a16="http://schemas.microsoft.com/office/drawing/2014/main" id="{343734A5-290A-40CA-A633-C46B00D004B2}"/>
              </a:ext>
            </a:extLst>
          </p:cNvPr>
          <p:cNvSpPr>
            <a:spLocks xmlns:a="http://schemas.openxmlformats.org/drawingml/2006/main" noGrp="1"/>
          </p:cNvSpPr>
          <p:nvPr/>
        </p:nvSpPr>
        <p:spPr>
          <a:xfrm xmlns:a="http://schemas.openxmlformats.org/drawingml/2006/main">
            <a:off x="1695450" y="323850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72A"/>
                </a:solidFill>
                <a:latin typeface="Aptos"/>
                <a:ea typeface="Aptos"/>
                <a:cs typeface="Aptos"/>
              </a:defRPr>
            </a:pPr>
            <a:r>
              <a:rPr sz="1050" b="1">
                <a:solidFill>
                  <a:srgbClr val="0F172A"/>
                </a:solidFill>
                <a:latin typeface="Aptos"/>
                <a:ea typeface="Aptos"/>
                <a:cs typeface="Aptos"/>
              </a:rPr>
              <a:t>2 slots</a:t>
            </a:r>
          </a:p>
        </p:txBody>
      </p:sp>
      <p:sp>
        <p:nvSpPr>
          <p:cNvPr id="19" name="">
            <a:extLst xmlns:a="http://schemas.openxmlformats.org/drawingml/2006/main">
              <a:ext uri="{FF2B5EF4-FFF2-40B4-BE49-F238E27FC236}">
                <a16:creationId xmlns:a16="http://schemas.microsoft.com/office/drawing/2014/main" id="{BC0B5F03-D296-4F3E-AE7B-0292672FCCC6}"/>
              </a:ext>
            </a:extLst>
          </p:cNvPr>
          <p:cNvSpPr>
            <a:spLocks xmlns:a="http://schemas.openxmlformats.org/drawingml/2006/main" noGrp="1"/>
          </p:cNvSpPr>
          <p:nvPr/>
        </p:nvSpPr>
        <p:spPr>
          <a:xfrm xmlns:a="http://schemas.openxmlformats.org/drawingml/2006/main">
            <a:off x="2590800" y="323850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memory reads</a:t>
            </a:r>
          </a:p>
        </p:txBody>
      </p:sp>
      <p:sp>
        <p:nvSpPr>
          <p:cNvPr id="20" name="">
            <a:extLst xmlns:a="http://schemas.openxmlformats.org/drawingml/2006/main">
              <a:ext uri="{FF2B5EF4-FFF2-40B4-BE49-F238E27FC236}">
                <a16:creationId xmlns:a16="http://schemas.microsoft.com/office/drawing/2014/main" id="{164E259E-ACFC-4ACC-BF77-A6FC1AB8E180}"/>
              </a:ext>
            </a:extLst>
          </p:cNvPr>
          <p:cNvSpPr>
            <a:spLocks xmlns:a="http://schemas.openxmlformats.org/drawingml/2006/main" noGrp="1"/>
          </p:cNvSpPr>
          <p:nvPr/>
        </p:nvSpPr>
        <p:spPr>
          <a:xfrm xmlns:a="http://schemas.openxmlformats.org/drawingml/2006/main">
            <a:off x="742950" y="3686175"/>
            <a:ext cx="762000" cy="3429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21" name="">
            <a:extLst xmlns:a="http://schemas.openxmlformats.org/drawingml/2006/main">
              <a:ext uri="{FF2B5EF4-FFF2-40B4-BE49-F238E27FC236}">
                <a16:creationId xmlns:a16="http://schemas.microsoft.com/office/drawing/2014/main" id="{3BCEC50D-C234-4AD6-9BF0-3569DD659326}"/>
              </a:ext>
            </a:extLst>
          </p:cNvPr>
          <p:cNvSpPr>
            <a:spLocks xmlns:a="http://schemas.openxmlformats.org/drawingml/2006/main" noGrp="1"/>
          </p:cNvSpPr>
          <p:nvPr/>
        </p:nvSpPr>
        <p:spPr>
          <a:xfrm xmlns:a="http://schemas.openxmlformats.org/drawingml/2006/main">
            <a:off x="914400" y="3762375"/>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563EB"/>
                </a:solidFill>
                <a:latin typeface="Aptos"/>
                <a:ea typeface="Aptos"/>
                <a:cs typeface="Aptos"/>
              </a:defRPr>
            </a:pPr>
            <a:r>
              <a:rPr sz="1050" b="1">
                <a:solidFill>
                  <a:srgbClr val="2563EB"/>
                </a:solidFill>
                <a:latin typeface="Aptos"/>
                <a:ea typeface="Aptos"/>
                <a:cs typeface="Aptos"/>
              </a:rPr>
              <a:t>store</a:t>
            </a:r>
          </a:p>
        </p:txBody>
      </p:sp>
      <p:sp>
        <p:nvSpPr>
          <p:cNvPr id="22" name="">
            <a:extLst xmlns:a="http://schemas.openxmlformats.org/drawingml/2006/main">
              <a:ext uri="{FF2B5EF4-FFF2-40B4-BE49-F238E27FC236}">
                <a16:creationId xmlns:a16="http://schemas.microsoft.com/office/drawing/2014/main" id="{32629DCF-9D91-4A17-86E7-79EFCCE9F78E}"/>
              </a:ext>
            </a:extLst>
          </p:cNvPr>
          <p:cNvSpPr>
            <a:spLocks xmlns:a="http://schemas.openxmlformats.org/drawingml/2006/main" noGrp="1"/>
          </p:cNvSpPr>
          <p:nvPr/>
        </p:nvSpPr>
        <p:spPr>
          <a:xfrm xmlns:a="http://schemas.openxmlformats.org/drawingml/2006/main">
            <a:off x="1695450" y="376237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72A"/>
                </a:solidFill>
                <a:latin typeface="Aptos"/>
                <a:ea typeface="Aptos"/>
                <a:cs typeface="Aptos"/>
              </a:defRPr>
            </a:pPr>
            <a:r>
              <a:rPr sz="1050" b="1">
                <a:solidFill>
                  <a:srgbClr val="0F172A"/>
                </a:solidFill>
                <a:latin typeface="Aptos"/>
                <a:ea typeface="Aptos"/>
                <a:cs typeface="Aptos"/>
              </a:rPr>
              <a:t>2 slots</a:t>
            </a:r>
          </a:p>
        </p:txBody>
      </p:sp>
      <p:sp>
        <p:nvSpPr>
          <p:cNvPr id="23" name="">
            <a:extLst xmlns:a="http://schemas.openxmlformats.org/drawingml/2006/main">
              <a:ext uri="{FF2B5EF4-FFF2-40B4-BE49-F238E27FC236}">
                <a16:creationId xmlns:a16="http://schemas.microsoft.com/office/drawing/2014/main" id="{505DE53B-E7EB-4E13-A7FB-AA95C808AE3C}"/>
              </a:ext>
            </a:extLst>
          </p:cNvPr>
          <p:cNvSpPr>
            <a:spLocks xmlns:a="http://schemas.openxmlformats.org/drawingml/2006/main" noGrp="1"/>
          </p:cNvSpPr>
          <p:nvPr/>
        </p:nvSpPr>
        <p:spPr>
          <a:xfrm xmlns:a="http://schemas.openxmlformats.org/drawingml/2006/main">
            <a:off x="2590800" y="3762375"/>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memory writes</a:t>
            </a:r>
          </a:p>
        </p:txBody>
      </p:sp>
      <p:sp>
        <p:nvSpPr>
          <p:cNvPr id="24" name="">
            <a:extLst xmlns:a="http://schemas.openxmlformats.org/drawingml/2006/main">
              <a:ext uri="{FF2B5EF4-FFF2-40B4-BE49-F238E27FC236}">
                <a16:creationId xmlns:a16="http://schemas.microsoft.com/office/drawing/2014/main" id="{17BBC88C-D2AC-4559-B7B2-C3490521EDAC}"/>
              </a:ext>
            </a:extLst>
          </p:cNvPr>
          <p:cNvSpPr>
            <a:spLocks xmlns:a="http://schemas.openxmlformats.org/drawingml/2006/main" noGrp="1"/>
          </p:cNvSpPr>
          <p:nvPr/>
        </p:nvSpPr>
        <p:spPr>
          <a:xfrm xmlns:a="http://schemas.openxmlformats.org/drawingml/2006/main">
            <a:off x="742950" y="4210050"/>
            <a:ext cx="762000" cy="3429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ln>
        </p:spPr>
      </p:sp>
      <p:sp>
        <p:nvSpPr>
          <p:cNvPr id="25" name="">
            <a:extLst xmlns:a="http://schemas.openxmlformats.org/drawingml/2006/main">
              <a:ext uri="{FF2B5EF4-FFF2-40B4-BE49-F238E27FC236}">
                <a16:creationId xmlns:a16="http://schemas.microsoft.com/office/drawing/2014/main" id="{75C91885-6224-4470-81F5-6D154C569F52}"/>
              </a:ext>
            </a:extLst>
          </p:cNvPr>
          <p:cNvSpPr>
            <a:spLocks xmlns:a="http://schemas.openxmlformats.org/drawingml/2006/main" noGrp="1"/>
          </p:cNvSpPr>
          <p:nvPr/>
        </p:nvSpPr>
        <p:spPr>
          <a:xfrm xmlns:a="http://schemas.openxmlformats.org/drawingml/2006/main">
            <a:off x="914400" y="4286250"/>
            <a:ext cx="419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563EB"/>
                </a:solidFill>
                <a:latin typeface="Aptos"/>
                <a:ea typeface="Aptos"/>
                <a:cs typeface="Aptos"/>
              </a:defRPr>
            </a:pPr>
            <a:r>
              <a:rPr sz="1050" b="1">
                <a:solidFill>
                  <a:srgbClr val="2563EB"/>
                </a:solidFill>
                <a:latin typeface="Aptos"/>
                <a:ea typeface="Aptos"/>
                <a:cs typeface="Aptos"/>
              </a:rPr>
              <a:t>flow</a:t>
            </a:r>
          </a:p>
        </p:txBody>
      </p:sp>
      <p:sp>
        <p:nvSpPr>
          <p:cNvPr id="26" name="">
            <a:extLst xmlns:a="http://schemas.openxmlformats.org/drawingml/2006/main">
              <a:ext uri="{FF2B5EF4-FFF2-40B4-BE49-F238E27FC236}">
                <a16:creationId xmlns:a16="http://schemas.microsoft.com/office/drawing/2014/main" id="{1DD1EC51-407A-4AFE-8566-B9B9457623AD}"/>
              </a:ext>
            </a:extLst>
          </p:cNvPr>
          <p:cNvSpPr>
            <a:spLocks xmlns:a="http://schemas.openxmlformats.org/drawingml/2006/main" noGrp="1"/>
          </p:cNvSpPr>
          <p:nvPr/>
        </p:nvSpPr>
        <p:spPr>
          <a:xfrm xmlns:a="http://schemas.openxmlformats.org/drawingml/2006/main">
            <a:off x="1695450" y="4286250"/>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172A"/>
                </a:solidFill>
                <a:latin typeface="Aptos"/>
                <a:ea typeface="Aptos"/>
                <a:cs typeface="Aptos"/>
              </a:defRPr>
            </a:pPr>
            <a:r>
              <a:rPr sz="1050" b="1">
                <a:solidFill>
                  <a:srgbClr val="0F172A"/>
                </a:solidFill>
                <a:latin typeface="Aptos"/>
                <a:ea typeface="Aptos"/>
                <a:cs typeface="Aptos"/>
              </a:rPr>
              <a:t>1 slots</a:t>
            </a:r>
          </a:p>
        </p:txBody>
      </p:sp>
      <p:sp>
        <p:nvSpPr>
          <p:cNvPr id="27" name="">
            <a:extLst xmlns:a="http://schemas.openxmlformats.org/drawingml/2006/main">
              <a:ext uri="{FF2B5EF4-FFF2-40B4-BE49-F238E27FC236}">
                <a16:creationId xmlns:a16="http://schemas.microsoft.com/office/drawing/2014/main" id="{3EA2507A-7EE9-433A-B42A-22DA44683F01}"/>
              </a:ext>
            </a:extLst>
          </p:cNvPr>
          <p:cNvSpPr>
            <a:spLocks xmlns:a="http://schemas.openxmlformats.org/drawingml/2006/main" noGrp="1"/>
          </p:cNvSpPr>
          <p:nvPr/>
        </p:nvSpPr>
        <p:spPr>
          <a:xfrm xmlns:a="http://schemas.openxmlformats.org/drawingml/2006/main">
            <a:off x="2590800" y="428625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conditional jumps / control</a:t>
            </a:r>
          </a:p>
        </p:txBody>
      </p:sp>
      <p:sp>
        <p:nvSpPr>
          <p:cNvPr id="28" name="">
            <a:extLst xmlns:a="http://schemas.openxmlformats.org/drawingml/2006/main">
              <a:ext uri="{FF2B5EF4-FFF2-40B4-BE49-F238E27FC236}">
                <a16:creationId xmlns:a16="http://schemas.microsoft.com/office/drawing/2014/main" id="{B7563B63-F90D-4429-B1DC-7C3A56CFCE6F}"/>
              </a:ext>
            </a:extLst>
          </p:cNvPr>
          <p:cNvSpPr>
            <a:spLocks xmlns:a="http://schemas.openxmlformats.org/drawingml/2006/main" noGrp="1"/>
          </p:cNvSpPr>
          <p:nvPr/>
        </p:nvSpPr>
        <p:spPr>
          <a:xfrm xmlns:a="http://schemas.openxmlformats.org/drawingml/2006/main">
            <a:off x="6381750" y="1409700"/>
            <a:ext cx="4810125"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19ECFA99-1AA0-4853-A1E1-D1EEAA5F75FC}"/>
              </a:ext>
            </a:extLst>
          </p:cNvPr>
          <p:cNvSpPr>
            <a:spLocks xmlns:a="http://schemas.openxmlformats.org/drawingml/2006/main" noGrp="1"/>
          </p:cNvSpPr>
          <p:nvPr/>
        </p:nvSpPr>
        <p:spPr>
          <a:xfrm xmlns:a="http://schemas.openxmlformats.org/drawingml/2006/main">
            <a:off x="6629400" y="1619250"/>
            <a:ext cx="2667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How to read traces</a:t>
            </a:r>
          </a:p>
        </p:txBody>
      </p:sp>
      <p:sp>
        <p:nvSpPr>
          <p:cNvPr id="30" name="">
            <a:extLst xmlns:a="http://schemas.openxmlformats.org/drawingml/2006/main">
              <a:ext uri="{FF2B5EF4-FFF2-40B4-BE49-F238E27FC236}">
                <a16:creationId xmlns:a16="http://schemas.microsoft.com/office/drawing/2014/main" id="{C28380C5-9BBD-43DD-8983-7B37B6B672D9}"/>
              </a:ext>
            </a:extLst>
          </p:cNvPr>
          <p:cNvSpPr>
            <a:spLocks xmlns:a="http://schemas.openxmlformats.org/drawingml/2006/main" noGrp="1"/>
          </p:cNvSpPr>
          <p:nvPr/>
        </p:nvSpPr>
        <p:spPr>
          <a:xfrm xmlns:a="http://schemas.openxmlformats.org/drawingml/2006/main">
            <a:off x="6667500" y="219075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31" name="">
            <a:extLst xmlns:a="http://schemas.openxmlformats.org/drawingml/2006/main">
              <a:ext uri="{FF2B5EF4-FFF2-40B4-BE49-F238E27FC236}">
                <a16:creationId xmlns:a16="http://schemas.microsoft.com/office/drawing/2014/main" id="{AE051970-F98F-4426-8404-D7B0371AF00A}"/>
              </a:ext>
            </a:extLst>
          </p:cNvPr>
          <p:cNvSpPr>
            <a:spLocks xmlns:a="http://schemas.openxmlformats.org/drawingml/2006/main" noGrp="1"/>
          </p:cNvSpPr>
          <p:nvPr/>
        </p:nvSpPr>
        <p:spPr>
          <a:xfrm xmlns:a="http://schemas.openxmlformats.org/drawingml/2006/main">
            <a:off x="6838950" y="2114550"/>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0F172A"/>
                </a:solidFill>
                <a:latin typeface="Aptos"/>
                <a:ea typeface="Aptos"/>
                <a:cs typeface="Aptos"/>
              </a:defRPr>
            </a:pPr>
            <a:r>
              <a:rPr sz="1163" b="0">
                <a:solidFill>
                  <a:srgbClr val="0F172A"/>
                </a:solidFill>
                <a:latin typeface="Aptos"/>
                <a:ea typeface="Aptos"/>
                <a:cs typeface="Aptos"/>
              </a:rPr>
              <a:t>Rows are engine lanes; time moves left to right.</a:t>
            </a:r>
          </a:p>
        </p:txBody>
      </p:sp>
      <p:sp>
        <p:nvSpPr>
          <p:cNvPr id="32" name="">
            <a:extLst xmlns:a="http://schemas.openxmlformats.org/drawingml/2006/main">
              <a:ext uri="{FF2B5EF4-FFF2-40B4-BE49-F238E27FC236}">
                <a16:creationId xmlns:a16="http://schemas.microsoft.com/office/drawing/2014/main" id="{094A2247-BE11-4AAF-B5FD-227BCCAA4CAF}"/>
              </a:ext>
            </a:extLst>
          </p:cNvPr>
          <p:cNvSpPr>
            <a:spLocks xmlns:a="http://schemas.openxmlformats.org/drawingml/2006/main" noGrp="1"/>
          </p:cNvSpPr>
          <p:nvPr/>
        </p:nvSpPr>
        <p:spPr>
          <a:xfrm xmlns:a="http://schemas.openxmlformats.org/drawingml/2006/main">
            <a:off x="6667500" y="266700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33" name="">
            <a:extLst xmlns:a="http://schemas.openxmlformats.org/drawingml/2006/main">
              <a:ext uri="{FF2B5EF4-FFF2-40B4-BE49-F238E27FC236}">
                <a16:creationId xmlns:a16="http://schemas.microsoft.com/office/drawing/2014/main" id="{4EC0D61C-B931-400E-89E7-5A9EE6C7A8CC}"/>
              </a:ext>
            </a:extLst>
          </p:cNvPr>
          <p:cNvSpPr>
            <a:spLocks xmlns:a="http://schemas.openxmlformats.org/drawingml/2006/main" noGrp="1"/>
          </p:cNvSpPr>
          <p:nvPr/>
        </p:nvSpPr>
        <p:spPr>
          <a:xfrm xmlns:a="http://schemas.openxmlformats.org/drawingml/2006/main">
            <a:off x="6838950" y="2590800"/>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0F172A"/>
                </a:solidFill>
                <a:latin typeface="Aptos"/>
                <a:ea typeface="Aptos"/>
                <a:cs typeface="Aptos"/>
              </a:defRPr>
            </a:pPr>
            <a:r>
              <a:rPr sz="1163" b="0">
                <a:solidFill>
                  <a:srgbClr val="0F172A"/>
                </a:solidFill>
                <a:latin typeface="Aptos"/>
                <a:ea typeface="Aptos"/>
                <a:cs typeface="Aptos"/>
              </a:rPr>
              <a:t>Colored spans are issued operations.</a:t>
            </a:r>
          </a:p>
        </p:txBody>
      </p:sp>
      <p:sp>
        <p:nvSpPr>
          <p:cNvPr id="34" name="">
            <a:extLst xmlns:a="http://schemas.openxmlformats.org/drawingml/2006/main">
              <a:ext uri="{FF2B5EF4-FFF2-40B4-BE49-F238E27FC236}">
                <a16:creationId xmlns:a16="http://schemas.microsoft.com/office/drawing/2014/main" id="{D1159FB7-FA16-4711-BBCC-B16AB2001B6E}"/>
              </a:ext>
            </a:extLst>
          </p:cNvPr>
          <p:cNvSpPr>
            <a:spLocks xmlns:a="http://schemas.openxmlformats.org/drawingml/2006/main" noGrp="1"/>
          </p:cNvSpPr>
          <p:nvPr/>
        </p:nvSpPr>
        <p:spPr>
          <a:xfrm xmlns:a="http://schemas.openxmlformats.org/drawingml/2006/main">
            <a:off x="6667500" y="314325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35" name="">
            <a:extLst xmlns:a="http://schemas.openxmlformats.org/drawingml/2006/main">
              <a:ext uri="{FF2B5EF4-FFF2-40B4-BE49-F238E27FC236}">
                <a16:creationId xmlns:a16="http://schemas.microsoft.com/office/drawing/2014/main" id="{50AF18BA-22E5-4DE7-A066-079A78E16AEC}"/>
              </a:ext>
            </a:extLst>
          </p:cNvPr>
          <p:cNvSpPr>
            <a:spLocks xmlns:a="http://schemas.openxmlformats.org/drawingml/2006/main" noGrp="1"/>
          </p:cNvSpPr>
          <p:nvPr/>
        </p:nvSpPr>
        <p:spPr>
          <a:xfrm xmlns:a="http://schemas.openxmlformats.org/drawingml/2006/main">
            <a:off x="6838950" y="3067050"/>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0F172A"/>
                </a:solidFill>
                <a:latin typeface="Aptos"/>
                <a:ea typeface="Aptos"/>
                <a:cs typeface="Aptos"/>
              </a:defRPr>
            </a:pPr>
            <a:r>
              <a:rPr sz="1163" b="0">
                <a:solidFill>
                  <a:srgbClr val="0F172A"/>
                </a:solidFill>
                <a:latin typeface="Aptos"/>
                <a:ea typeface="Aptos"/>
                <a:cs typeface="Aptos"/>
              </a:rPr>
              <a:t>Blank gaps are idle capacity caused by dependencies, memory pressure, or lack of ready work.</a:t>
            </a:r>
          </a:p>
        </p:txBody>
      </p:sp>
      <p:sp>
        <p:nvSpPr>
          <p:cNvPr id="36" name="">
            <a:extLst xmlns:a="http://schemas.openxmlformats.org/drawingml/2006/main">
              <a:ext uri="{FF2B5EF4-FFF2-40B4-BE49-F238E27FC236}">
                <a16:creationId xmlns:a16="http://schemas.microsoft.com/office/drawing/2014/main" id="{F4692A2E-DA1F-41C7-BA9E-E2CEDC57C46E}"/>
              </a:ext>
            </a:extLst>
          </p:cNvPr>
          <p:cNvSpPr>
            <a:spLocks xmlns:a="http://schemas.openxmlformats.org/drawingml/2006/main" noGrp="1"/>
          </p:cNvSpPr>
          <p:nvPr/>
        </p:nvSpPr>
        <p:spPr>
          <a:xfrm xmlns:a="http://schemas.openxmlformats.org/drawingml/2006/main">
            <a:off x="6667500" y="361950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37" name="">
            <a:extLst xmlns:a="http://schemas.openxmlformats.org/drawingml/2006/main">
              <a:ext uri="{FF2B5EF4-FFF2-40B4-BE49-F238E27FC236}">
                <a16:creationId xmlns:a16="http://schemas.microsoft.com/office/drawing/2014/main" id="{E04D6A45-307A-47F8-9CB7-1279EE0A57D6}"/>
              </a:ext>
            </a:extLst>
          </p:cNvPr>
          <p:cNvSpPr>
            <a:spLocks xmlns:a="http://schemas.openxmlformats.org/drawingml/2006/main" noGrp="1"/>
          </p:cNvSpPr>
          <p:nvPr/>
        </p:nvSpPr>
        <p:spPr>
          <a:xfrm xmlns:a="http://schemas.openxmlformats.org/drawingml/2006/main">
            <a:off x="6838950" y="3543300"/>
            <a:ext cx="3810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0F172A"/>
                </a:solidFill>
                <a:latin typeface="Aptos"/>
                <a:ea typeface="Aptos"/>
                <a:cs typeface="Aptos"/>
              </a:defRPr>
            </a:pPr>
            <a:r>
              <a:rPr sz="1163" b="0">
                <a:solidFill>
                  <a:srgbClr val="0F172A"/>
                </a:solidFill>
                <a:latin typeface="Aptos"/>
                <a:ea typeface="Aptos"/>
                <a:cs typeface="Aptos"/>
              </a:rPr>
              <a:t>The goal is not simply fewer operations; it is denser useful work per cycle.</a:t>
            </a:r>
          </a:p>
        </p:txBody>
      </p:sp>
      <p:sp>
        <p:nvSpPr>
          <p:cNvPr id="38" name="">
            <a:extLst xmlns:a="http://schemas.openxmlformats.org/drawingml/2006/main">
              <a:ext uri="{FF2B5EF4-FFF2-40B4-BE49-F238E27FC236}">
                <a16:creationId xmlns:a16="http://schemas.microsoft.com/office/drawing/2014/main" id="{0C03E0CE-D57D-47BB-89D2-03EFDBDA6A50}"/>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4</a:t>
            </a:r>
          </a:p>
        </p:txBody>
      </p:sp>
    </p:spTree>
    <p:extLst>
      <p:ext uri="{BB962C8B-B14F-4D97-AF65-F5344CB8AC3E}">
        <p14:creationId xmlns:p14="http://schemas.microsoft.com/office/powerpoint/2010/main" val="12376732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19236B-9FB3-4DC2-B762-B5B8C57D1E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84F3B16-B32C-408A-A0EB-8253338F12C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C4514EA-7F2E-4C5D-8BE6-A4D2CD5D91EF}"/>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ROADMAP</a:t>
            </a:r>
          </a:p>
        </p:txBody>
      </p:sp>
      <p:sp>
        <p:nvSpPr>
          <p:cNvPr id="4" name="">
            <a:extLst xmlns:a="http://schemas.openxmlformats.org/drawingml/2006/main">
              <a:ext uri="{FF2B5EF4-FFF2-40B4-BE49-F238E27FC236}">
                <a16:creationId xmlns:a16="http://schemas.microsoft.com/office/drawing/2014/main" id="{7025174E-5919-4C75-B189-7F91C0705D45}"/>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Optimization Roadmap: Cumulative Checkpoints</a:t>
            </a:r>
          </a:p>
        </p:txBody>
      </p:sp>
      <p:sp>
        <p:nvSpPr>
          <p:cNvPr id="5" name="">
            <a:extLst xmlns:a="http://schemas.openxmlformats.org/drawingml/2006/main">
              <a:ext uri="{FF2B5EF4-FFF2-40B4-BE49-F238E27FC236}">
                <a16:creationId xmlns:a16="http://schemas.microsoft.com/office/drawing/2014/main" id="{CDECC9CC-7053-4168-8EB9-9A2FB3BEE8CD}"/>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Each rung preserves correctness and adds one narrative capability.</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95460336cc45a2"/>
          <a:stretch xmlns:a="http://schemas.openxmlformats.org/drawingml/2006/main"/>
        </p:blipFill>
        <p:spPr>
          <a:xfrm xmlns:a="http://schemas.openxmlformats.org/drawingml/2006/main">
            <a:off x="495300" y="1575197"/>
            <a:ext cx="6286500" cy="353615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D7A0E93-5920-4EFA-8D09-6495F2B1A008}"/>
              </a:ext>
            </a:extLst>
          </p:cNvPr>
          <p:cNvSpPr>
            <a:spLocks xmlns:a="http://schemas.openxmlformats.org/drawingml/2006/main" noGrp="1"/>
          </p:cNvSpPr>
          <p:nvPr/>
        </p:nvSpPr>
        <p:spPr>
          <a:xfrm xmlns:a="http://schemas.openxmlformats.org/drawingml/2006/main">
            <a:off x="7143750" y="1485900"/>
            <a:ext cx="4000500" cy="2724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9ECBF3C9-16C7-47CB-820D-A812E7FE2DD3}"/>
              </a:ext>
            </a:extLst>
          </p:cNvPr>
          <p:cNvSpPr>
            <a:spLocks xmlns:a="http://schemas.openxmlformats.org/drawingml/2006/main" noGrp="1"/>
          </p:cNvSpPr>
          <p:nvPr/>
        </p:nvSpPr>
        <p:spPr>
          <a:xfrm xmlns:a="http://schemas.openxmlformats.org/drawingml/2006/main">
            <a:off x="7258050" y="156210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475569"/>
                </a:solidFill>
                <a:latin typeface="Aptos"/>
                <a:ea typeface="Aptos"/>
                <a:cs typeface="Aptos"/>
              </a:defRPr>
            </a:pPr>
            <a:r>
              <a:rPr sz="900" b="1">
                <a:solidFill>
                  <a:srgbClr val="475569"/>
                </a:solidFill>
                <a:latin typeface="Aptos"/>
                <a:ea typeface="Aptos"/>
                <a:cs typeface="Aptos"/>
              </a:rPr>
              <a:t>0 Baseline</a:t>
            </a:r>
          </a:p>
        </p:txBody>
      </p:sp>
      <p:sp>
        <p:nvSpPr>
          <p:cNvPr id="9" name="">
            <a:extLst xmlns:a="http://schemas.openxmlformats.org/drawingml/2006/main">
              <a:ext uri="{FF2B5EF4-FFF2-40B4-BE49-F238E27FC236}">
                <a16:creationId xmlns:a16="http://schemas.microsoft.com/office/drawing/2014/main" id="{4E7A6D4C-B730-4610-8EF4-DB68E16EC98E}"/>
              </a:ext>
            </a:extLst>
          </p:cNvPr>
          <p:cNvSpPr>
            <a:spLocks xmlns:a="http://schemas.openxmlformats.org/drawingml/2006/main" noGrp="1"/>
          </p:cNvSpPr>
          <p:nvPr/>
        </p:nvSpPr>
        <p:spPr>
          <a:xfrm xmlns:a="http://schemas.openxmlformats.org/drawingml/2006/main">
            <a:off x="8663940" y="156210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supplied reference point</a:t>
            </a:r>
          </a:p>
        </p:txBody>
      </p:sp>
      <p:sp>
        <p:nvSpPr>
          <p:cNvPr id="10" name="">
            <a:extLst xmlns:a="http://schemas.openxmlformats.org/drawingml/2006/main">
              <a:ext uri="{FF2B5EF4-FFF2-40B4-BE49-F238E27FC236}">
                <a16:creationId xmlns:a16="http://schemas.microsoft.com/office/drawing/2014/main" id="{D739005E-E591-4C2A-A936-DBD101170FB0}"/>
              </a:ext>
            </a:extLst>
          </p:cNvPr>
          <p:cNvSpPr>
            <a:spLocks xmlns:a="http://schemas.openxmlformats.org/drawingml/2006/main" noGrp="1"/>
          </p:cNvSpPr>
          <p:nvPr/>
        </p:nvSpPr>
        <p:spPr>
          <a:xfrm xmlns:a="http://schemas.openxmlformats.org/drawingml/2006/main">
            <a:off x="10104120" y="1562100"/>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147,734</a:t>
            </a:r>
          </a:p>
        </p:txBody>
      </p:sp>
      <p:sp>
        <p:nvSpPr>
          <p:cNvPr id="11" name="">
            <a:extLst xmlns:a="http://schemas.openxmlformats.org/drawingml/2006/main">
              <a:ext uri="{FF2B5EF4-FFF2-40B4-BE49-F238E27FC236}">
                <a16:creationId xmlns:a16="http://schemas.microsoft.com/office/drawing/2014/main" id="{CC9C125E-F6EA-40A9-BE8B-56AC34C0E777}"/>
              </a:ext>
            </a:extLst>
          </p:cNvPr>
          <p:cNvSpPr>
            <a:spLocks xmlns:a="http://schemas.openxmlformats.org/drawingml/2006/main" noGrp="1"/>
          </p:cNvSpPr>
          <p:nvPr/>
        </p:nvSpPr>
        <p:spPr>
          <a:xfrm xmlns:a="http://schemas.openxmlformats.org/drawingml/2006/main">
            <a:off x="7143750" y="1939925"/>
            <a:ext cx="40005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ln>
        </p:spPr>
      </p:sp>
      <p:sp>
        <p:nvSpPr>
          <p:cNvPr id="12" name="">
            <a:extLst xmlns:a="http://schemas.openxmlformats.org/drawingml/2006/main">
              <a:ext uri="{FF2B5EF4-FFF2-40B4-BE49-F238E27FC236}">
                <a16:creationId xmlns:a16="http://schemas.microsoft.com/office/drawing/2014/main" id="{C0BEDE1F-89C9-4D60-94FE-9D95E72B6537}"/>
              </a:ext>
            </a:extLst>
          </p:cNvPr>
          <p:cNvSpPr>
            <a:spLocks xmlns:a="http://schemas.openxmlformats.org/drawingml/2006/main" noGrp="1"/>
          </p:cNvSpPr>
          <p:nvPr/>
        </p:nvSpPr>
        <p:spPr>
          <a:xfrm xmlns:a="http://schemas.openxmlformats.org/drawingml/2006/main">
            <a:off x="7258050" y="201612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A34A"/>
                </a:solidFill>
                <a:latin typeface="Aptos"/>
                <a:ea typeface="Aptos"/>
                <a:cs typeface="Aptos"/>
              </a:defRPr>
            </a:pPr>
            <a:r>
              <a:rPr sz="900" b="1">
                <a:solidFill>
                  <a:srgbClr val="16A34A"/>
                </a:solidFill>
                <a:latin typeface="Aptos"/>
                <a:ea typeface="Aptos"/>
                <a:cs typeface="Aptos"/>
              </a:rPr>
              <a:t>1 Remove work</a:t>
            </a:r>
          </a:p>
        </p:txBody>
      </p:sp>
      <p:sp>
        <p:nvSpPr>
          <p:cNvPr id="13" name="">
            <a:extLst xmlns:a="http://schemas.openxmlformats.org/drawingml/2006/main">
              <a:ext uri="{FF2B5EF4-FFF2-40B4-BE49-F238E27FC236}">
                <a16:creationId xmlns:a16="http://schemas.microsoft.com/office/drawing/2014/main" id="{F591C86E-FC5B-4F8D-9EAD-5922498E1ACF}"/>
              </a:ext>
            </a:extLst>
          </p:cNvPr>
          <p:cNvSpPr>
            <a:spLocks xmlns:a="http://schemas.openxmlformats.org/drawingml/2006/main" noGrp="1"/>
          </p:cNvSpPr>
          <p:nvPr/>
        </p:nvSpPr>
        <p:spPr>
          <a:xfrm xmlns:a="http://schemas.openxmlformats.org/drawingml/2006/main">
            <a:off x="8663940" y="201612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remove index bookkeeping</a:t>
            </a:r>
          </a:p>
        </p:txBody>
      </p:sp>
      <p:sp>
        <p:nvSpPr>
          <p:cNvPr id="14" name="">
            <a:extLst xmlns:a="http://schemas.openxmlformats.org/drawingml/2006/main">
              <a:ext uri="{FF2B5EF4-FFF2-40B4-BE49-F238E27FC236}">
                <a16:creationId xmlns:a16="http://schemas.microsoft.com/office/drawing/2014/main" id="{563DE32C-D165-4C96-801B-C19F5735BC59}"/>
              </a:ext>
            </a:extLst>
          </p:cNvPr>
          <p:cNvSpPr>
            <a:spLocks xmlns:a="http://schemas.openxmlformats.org/drawingml/2006/main" noGrp="1"/>
          </p:cNvSpPr>
          <p:nvPr/>
        </p:nvSpPr>
        <p:spPr>
          <a:xfrm xmlns:a="http://schemas.openxmlformats.org/drawingml/2006/main">
            <a:off x="10104120" y="2016125"/>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114,868</a:t>
            </a:r>
          </a:p>
        </p:txBody>
      </p:sp>
      <p:sp>
        <p:nvSpPr>
          <p:cNvPr id="15" name="">
            <a:extLst xmlns:a="http://schemas.openxmlformats.org/drawingml/2006/main">
              <a:ext uri="{FF2B5EF4-FFF2-40B4-BE49-F238E27FC236}">
                <a16:creationId xmlns:a16="http://schemas.microsoft.com/office/drawing/2014/main" id="{BF713F5D-A9FD-4409-947A-F575EBBFAEE9}"/>
              </a:ext>
            </a:extLst>
          </p:cNvPr>
          <p:cNvSpPr>
            <a:spLocks xmlns:a="http://schemas.openxmlformats.org/drawingml/2006/main" noGrp="1"/>
          </p:cNvSpPr>
          <p:nvPr/>
        </p:nvSpPr>
        <p:spPr>
          <a:xfrm xmlns:a="http://schemas.openxmlformats.org/drawingml/2006/main">
            <a:off x="7143750" y="2393950"/>
            <a:ext cx="40005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ln>
        </p:spPr>
      </p:sp>
      <p:sp>
        <p:nvSpPr>
          <p:cNvPr id="16" name="">
            <a:extLst xmlns:a="http://schemas.openxmlformats.org/drawingml/2006/main">
              <a:ext uri="{FF2B5EF4-FFF2-40B4-BE49-F238E27FC236}">
                <a16:creationId xmlns:a16="http://schemas.microsoft.com/office/drawing/2014/main" id="{A9F61342-A34D-4364-A58C-FB94D189AA4D}"/>
              </a:ext>
            </a:extLst>
          </p:cNvPr>
          <p:cNvSpPr>
            <a:spLocks xmlns:a="http://schemas.openxmlformats.org/drawingml/2006/main" noGrp="1"/>
          </p:cNvSpPr>
          <p:nvPr/>
        </p:nvSpPr>
        <p:spPr>
          <a:xfrm xmlns:a="http://schemas.openxmlformats.org/drawingml/2006/main">
            <a:off x="7258050" y="247015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891B2"/>
                </a:solidFill>
                <a:latin typeface="Aptos"/>
                <a:ea typeface="Aptos"/>
                <a:cs typeface="Aptos"/>
              </a:defRPr>
            </a:pPr>
            <a:r>
              <a:rPr sz="900" b="1">
                <a:solidFill>
                  <a:srgbClr val="0891B2"/>
                </a:solidFill>
                <a:latin typeface="Aptos"/>
                <a:ea typeface="Aptos"/>
                <a:cs typeface="Aptos"/>
              </a:rPr>
              <a:t>2-3 Specialize</a:t>
            </a:r>
          </a:p>
        </p:txBody>
      </p:sp>
      <p:sp>
        <p:nvSpPr>
          <p:cNvPr id="17" name="">
            <a:extLst xmlns:a="http://schemas.openxmlformats.org/drawingml/2006/main">
              <a:ext uri="{FF2B5EF4-FFF2-40B4-BE49-F238E27FC236}">
                <a16:creationId xmlns:a16="http://schemas.microsoft.com/office/drawing/2014/main" id="{1663B85E-60F2-4189-9229-CA08EB50D48C}"/>
              </a:ext>
            </a:extLst>
          </p:cNvPr>
          <p:cNvSpPr>
            <a:spLocks xmlns:a="http://schemas.openxmlformats.org/drawingml/2006/main" noGrp="1"/>
          </p:cNvSpPr>
          <p:nvPr/>
        </p:nvSpPr>
        <p:spPr>
          <a:xfrm xmlns:a="http://schemas.openxmlformats.org/drawingml/2006/main">
            <a:off x="8663940" y="247015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fixed layout + unroll</a:t>
            </a:r>
          </a:p>
        </p:txBody>
      </p:sp>
      <p:sp>
        <p:nvSpPr>
          <p:cNvPr id="18" name="">
            <a:extLst xmlns:a="http://schemas.openxmlformats.org/drawingml/2006/main">
              <a:ext uri="{FF2B5EF4-FFF2-40B4-BE49-F238E27FC236}">
                <a16:creationId xmlns:a16="http://schemas.microsoft.com/office/drawing/2014/main" id="{67DC5657-D3A0-41D1-9A33-E16AA2F7B5C9}"/>
              </a:ext>
            </a:extLst>
          </p:cNvPr>
          <p:cNvSpPr>
            <a:spLocks xmlns:a="http://schemas.openxmlformats.org/drawingml/2006/main" noGrp="1"/>
          </p:cNvSpPr>
          <p:nvPr/>
        </p:nvSpPr>
        <p:spPr>
          <a:xfrm xmlns:a="http://schemas.openxmlformats.org/drawingml/2006/main">
            <a:off x="10104120" y="2470150"/>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97,040</a:t>
            </a:r>
          </a:p>
        </p:txBody>
      </p:sp>
      <p:sp>
        <p:nvSpPr>
          <p:cNvPr id="19" name="">
            <a:extLst xmlns:a="http://schemas.openxmlformats.org/drawingml/2006/main">
              <a:ext uri="{FF2B5EF4-FFF2-40B4-BE49-F238E27FC236}">
                <a16:creationId xmlns:a16="http://schemas.microsoft.com/office/drawing/2014/main" id="{C8C221F7-74C3-4311-9879-BBA0564C5F28}"/>
              </a:ext>
            </a:extLst>
          </p:cNvPr>
          <p:cNvSpPr>
            <a:spLocks xmlns:a="http://schemas.openxmlformats.org/drawingml/2006/main" noGrp="1"/>
          </p:cNvSpPr>
          <p:nvPr/>
        </p:nvSpPr>
        <p:spPr>
          <a:xfrm xmlns:a="http://schemas.openxmlformats.org/drawingml/2006/main">
            <a:off x="7143750" y="2847975"/>
            <a:ext cx="40005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ln>
        </p:spPr>
      </p:sp>
      <p:sp>
        <p:nvSpPr>
          <p:cNvPr id="20" name="">
            <a:extLst xmlns:a="http://schemas.openxmlformats.org/drawingml/2006/main">
              <a:ext uri="{FF2B5EF4-FFF2-40B4-BE49-F238E27FC236}">
                <a16:creationId xmlns:a16="http://schemas.microsoft.com/office/drawing/2014/main" id="{638F6AB2-D098-4823-8044-DDDB84CB6339}"/>
              </a:ext>
            </a:extLst>
          </p:cNvPr>
          <p:cNvSpPr>
            <a:spLocks xmlns:a="http://schemas.openxmlformats.org/drawingml/2006/main" noGrp="1"/>
          </p:cNvSpPr>
          <p:nvPr/>
        </p:nvSpPr>
        <p:spPr>
          <a:xfrm xmlns:a="http://schemas.openxmlformats.org/drawingml/2006/main">
            <a:off x="7258050" y="292417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7C3AED"/>
                </a:solidFill>
                <a:latin typeface="Aptos"/>
                <a:ea typeface="Aptos"/>
                <a:cs typeface="Aptos"/>
              </a:defRPr>
            </a:pPr>
            <a:r>
              <a:rPr sz="900" b="1">
                <a:solidFill>
                  <a:srgbClr val="7C3AED"/>
                </a:solidFill>
                <a:latin typeface="Aptos"/>
                <a:ea typeface="Aptos"/>
                <a:cs typeface="Aptos"/>
              </a:rPr>
              <a:t>4 SIMD</a:t>
            </a:r>
          </a:p>
        </p:txBody>
      </p:sp>
      <p:sp>
        <p:nvSpPr>
          <p:cNvPr id="21" name="">
            <a:extLst xmlns:a="http://schemas.openxmlformats.org/drawingml/2006/main">
              <a:ext uri="{FF2B5EF4-FFF2-40B4-BE49-F238E27FC236}">
                <a16:creationId xmlns:a16="http://schemas.microsoft.com/office/drawing/2014/main" id="{CA140C8D-BD57-45B8-910B-C4AD88FD04DE}"/>
              </a:ext>
            </a:extLst>
          </p:cNvPr>
          <p:cNvSpPr>
            <a:spLocks xmlns:a="http://schemas.openxmlformats.org/drawingml/2006/main" noGrp="1"/>
          </p:cNvSpPr>
          <p:nvPr/>
        </p:nvSpPr>
        <p:spPr>
          <a:xfrm xmlns:a="http://schemas.openxmlformats.org/drawingml/2006/main">
            <a:off x="8663940" y="292417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8 inputs per vector op</a:t>
            </a:r>
          </a:p>
        </p:txBody>
      </p:sp>
      <p:sp>
        <p:nvSpPr>
          <p:cNvPr id="22" name="">
            <a:extLst xmlns:a="http://schemas.openxmlformats.org/drawingml/2006/main">
              <a:ext uri="{FF2B5EF4-FFF2-40B4-BE49-F238E27FC236}">
                <a16:creationId xmlns:a16="http://schemas.microsoft.com/office/drawing/2014/main" id="{1D1CCD9C-3561-4D53-BBA2-2878CFA2F523}"/>
              </a:ext>
            </a:extLst>
          </p:cNvPr>
          <p:cNvSpPr>
            <a:spLocks xmlns:a="http://schemas.openxmlformats.org/drawingml/2006/main" noGrp="1"/>
          </p:cNvSpPr>
          <p:nvPr/>
        </p:nvSpPr>
        <p:spPr>
          <a:xfrm xmlns:a="http://schemas.openxmlformats.org/drawingml/2006/main">
            <a:off x="10104120" y="2924175"/>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12,285</a:t>
            </a:r>
          </a:p>
        </p:txBody>
      </p:sp>
      <p:sp>
        <p:nvSpPr>
          <p:cNvPr id="23" name="">
            <a:extLst xmlns:a="http://schemas.openxmlformats.org/drawingml/2006/main">
              <a:ext uri="{FF2B5EF4-FFF2-40B4-BE49-F238E27FC236}">
                <a16:creationId xmlns:a16="http://schemas.microsoft.com/office/drawing/2014/main" id="{A88E4FFF-5EBC-4AEC-A2E1-8E38879CB7FC}"/>
              </a:ext>
            </a:extLst>
          </p:cNvPr>
          <p:cNvSpPr>
            <a:spLocks xmlns:a="http://schemas.openxmlformats.org/drawingml/2006/main" noGrp="1"/>
          </p:cNvSpPr>
          <p:nvPr/>
        </p:nvSpPr>
        <p:spPr>
          <a:xfrm xmlns:a="http://schemas.openxmlformats.org/drawingml/2006/main">
            <a:off x="7143750" y="3302000"/>
            <a:ext cx="40005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ln>
        </p:spPr>
      </p:sp>
      <p:sp>
        <p:nvSpPr>
          <p:cNvPr id="24" name="">
            <a:extLst xmlns:a="http://schemas.openxmlformats.org/drawingml/2006/main">
              <a:ext uri="{FF2B5EF4-FFF2-40B4-BE49-F238E27FC236}">
                <a16:creationId xmlns:a16="http://schemas.microsoft.com/office/drawing/2014/main" id="{92DC4E06-D3C2-40E2-9A95-41F45175AB3F}"/>
              </a:ext>
            </a:extLst>
          </p:cNvPr>
          <p:cNvSpPr>
            <a:spLocks xmlns:a="http://schemas.openxmlformats.org/drawingml/2006/main" noGrp="1"/>
          </p:cNvSpPr>
          <p:nvPr/>
        </p:nvSpPr>
        <p:spPr>
          <a:xfrm xmlns:a="http://schemas.openxmlformats.org/drawingml/2006/main">
            <a:off x="7258050" y="337820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D97706"/>
                </a:solidFill>
                <a:latin typeface="Aptos"/>
                <a:ea typeface="Aptos"/>
                <a:cs typeface="Aptos"/>
              </a:defRPr>
            </a:pPr>
            <a:r>
              <a:rPr sz="900" b="1">
                <a:solidFill>
                  <a:srgbClr val="D97706"/>
                </a:solidFill>
                <a:latin typeface="Aptos"/>
                <a:ea typeface="Aptos"/>
                <a:cs typeface="Aptos"/>
              </a:rPr>
              <a:t>5-6 Memory</a:t>
            </a:r>
          </a:p>
        </p:txBody>
      </p:sp>
      <p:sp>
        <p:nvSpPr>
          <p:cNvPr id="25" name="">
            <a:extLst xmlns:a="http://schemas.openxmlformats.org/drawingml/2006/main">
              <a:ext uri="{FF2B5EF4-FFF2-40B4-BE49-F238E27FC236}">
                <a16:creationId xmlns:a16="http://schemas.microsoft.com/office/drawing/2014/main" id="{12177DC4-0C9B-4A13-BFFF-1513D384C899}"/>
              </a:ext>
            </a:extLst>
          </p:cNvPr>
          <p:cNvSpPr>
            <a:spLocks xmlns:a="http://schemas.openxmlformats.org/drawingml/2006/main" noGrp="1"/>
          </p:cNvSpPr>
          <p:nvPr/>
        </p:nvSpPr>
        <p:spPr>
          <a:xfrm xmlns:a="http://schemas.openxmlformats.org/drawingml/2006/main">
            <a:off x="8663940" y="3378200"/>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cache hot nodes + stream I/O</a:t>
            </a:r>
          </a:p>
        </p:txBody>
      </p:sp>
      <p:sp>
        <p:nvSpPr>
          <p:cNvPr id="26" name="">
            <a:extLst xmlns:a="http://schemas.openxmlformats.org/drawingml/2006/main">
              <a:ext uri="{FF2B5EF4-FFF2-40B4-BE49-F238E27FC236}">
                <a16:creationId xmlns:a16="http://schemas.microsoft.com/office/drawing/2014/main" id="{82895F61-0FF9-4A10-9468-C050655EF2AF}"/>
              </a:ext>
            </a:extLst>
          </p:cNvPr>
          <p:cNvSpPr>
            <a:spLocks xmlns:a="http://schemas.openxmlformats.org/drawingml/2006/main" noGrp="1"/>
          </p:cNvSpPr>
          <p:nvPr/>
        </p:nvSpPr>
        <p:spPr>
          <a:xfrm xmlns:a="http://schemas.openxmlformats.org/drawingml/2006/main">
            <a:off x="10104120" y="3378200"/>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11,825</a:t>
            </a:r>
          </a:p>
        </p:txBody>
      </p:sp>
      <p:sp>
        <p:nvSpPr>
          <p:cNvPr id="27" name="">
            <a:extLst xmlns:a="http://schemas.openxmlformats.org/drawingml/2006/main">
              <a:ext uri="{FF2B5EF4-FFF2-40B4-BE49-F238E27FC236}">
                <a16:creationId xmlns:a16="http://schemas.microsoft.com/office/drawing/2014/main" id="{75BEE3D4-06F2-43A0-AE4E-783C64FE4D29}"/>
              </a:ext>
            </a:extLst>
          </p:cNvPr>
          <p:cNvSpPr>
            <a:spLocks xmlns:a="http://schemas.openxmlformats.org/drawingml/2006/main" noGrp="1"/>
          </p:cNvSpPr>
          <p:nvPr/>
        </p:nvSpPr>
        <p:spPr>
          <a:xfrm xmlns:a="http://schemas.openxmlformats.org/drawingml/2006/main">
            <a:off x="7143750" y="3756025"/>
            <a:ext cx="4000500" cy="9525"/>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ln>
        </p:spPr>
      </p:sp>
      <p:sp>
        <p:nvSpPr>
          <p:cNvPr id="28" name="">
            <a:extLst xmlns:a="http://schemas.openxmlformats.org/drawingml/2006/main">
              <a:ext uri="{FF2B5EF4-FFF2-40B4-BE49-F238E27FC236}">
                <a16:creationId xmlns:a16="http://schemas.microsoft.com/office/drawing/2014/main" id="{57E2151F-E998-4362-B45B-FE69A956367C}"/>
              </a:ext>
            </a:extLst>
          </p:cNvPr>
          <p:cNvSpPr>
            <a:spLocks xmlns:a="http://schemas.openxmlformats.org/drawingml/2006/main" noGrp="1"/>
          </p:cNvSpPr>
          <p:nvPr/>
        </p:nvSpPr>
        <p:spPr>
          <a:xfrm xmlns:a="http://schemas.openxmlformats.org/drawingml/2006/main">
            <a:off x="7258050" y="383222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BE123C"/>
                </a:solidFill>
                <a:latin typeface="Aptos"/>
                <a:ea typeface="Aptos"/>
                <a:cs typeface="Aptos"/>
              </a:defRPr>
            </a:pPr>
            <a:r>
              <a:rPr sz="900" b="1">
                <a:solidFill>
                  <a:srgbClr val="BE123C"/>
                </a:solidFill>
                <a:latin typeface="Aptos"/>
                <a:ea typeface="Aptos"/>
                <a:cs typeface="Aptos"/>
              </a:rPr>
              <a:t>7-9 Schedule</a:t>
            </a:r>
          </a:p>
        </p:txBody>
      </p:sp>
      <p:sp>
        <p:nvSpPr>
          <p:cNvPr id="29" name="">
            <a:extLst xmlns:a="http://schemas.openxmlformats.org/drawingml/2006/main">
              <a:ext uri="{FF2B5EF4-FFF2-40B4-BE49-F238E27FC236}">
                <a16:creationId xmlns:a16="http://schemas.microsoft.com/office/drawing/2014/main" id="{5A212B9F-3B7F-4C68-843B-02FDE77CBD12}"/>
              </a:ext>
            </a:extLst>
          </p:cNvPr>
          <p:cNvSpPr>
            <a:spLocks xmlns:a="http://schemas.openxmlformats.org/drawingml/2006/main" noGrp="1"/>
          </p:cNvSpPr>
          <p:nvPr/>
        </p:nvSpPr>
        <p:spPr>
          <a:xfrm xmlns:a="http://schemas.openxmlformats.org/drawingml/2006/main">
            <a:off x="8663940" y="3832225"/>
            <a:ext cx="136017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0F172A"/>
                </a:solidFill>
                <a:latin typeface="Aptos"/>
                <a:ea typeface="Aptos"/>
                <a:cs typeface="Aptos"/>
              </a:defRPr>
            </a:pPr>
            <a:r>
              <a:rPr sz="900" b="0">
                <a:solidFill>
                  <a:srgbClr val="0F172A"/>
                </a:solidFill>
                <a:latin typeface="Aptos"/>
                <a:ea typeface="Aptos"/>
                <a:cs typeface="Aptos"/>
              </a:rPr>
              <a:t>temp banks + VLIW + refinements</a:t>
            </a:r>
          </a:p>
        </p:txBody>
      </p:sp>
      <p:sp>
        <p:nvSpPr>
          <p:cNvPr id="30" name="">
            <a:extLst xmlns:a="http://schemas.openxmlformats.org/drawingml/2006/main">
              <a:ext uri="{FF2B5EF4-FFF2-40B4-BE49-F238E27FC236}">
                <a16:creationId xmlns:a16="http://schemas.microsoft.com/office/drawing/2014/main" id="{3CA312A3-EC33-4320-A32C-20501D6FC502}"/>
              </a:ext>
            </a:extLst>
          </p:cNvPr>
          <p:cNvSpPr>
            <a:spLocks xmlns:a="http://schemas.openxmlformats.org/drawingml/2006/main" noGrp="1"/>
          </p:cNvSpPr>
          <p:nvPr/>
        </p:nvSpPr>
        <p:spPr>
          <a:xfrm xmlns:a="http://schemas.openxmlformats.org/drawingml/2006/main">
            <a:off x="10104120" y="3832225"/>
            <a:ext cx="880110" cy="377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475569"/>
                </a:solidFill>
                <a:latin typeface="Aptos"/>
                <a:ea typeface="Aptos"/>
                <a:cs typeface="Aptos"/>
              </a:defRPr>
            </a:pPr>
            <a:r>
              <a:rPr sz="900" b="0">
                <a:solidFill>
                  <a:srgbClr val="475569"/>
                </a:solidFill>
                <a:latin typeface="Aptos"/>
                <a:ea typeface="Aptos"/>
                <a:cs typeface="Aptos"/>
              </a:rPr>
              <a:t>1,184</a:t>
            </a:r>
          </a:p>
        </p:txBody>
      </p:sp>
      <p:sp>
        <p:nvSpPr>
          <p:cNvPr id="31" name="">
            <a:extLst xmlns:a="http://schemas.openxmlformats.org/drawingml/2006/main">
              <a:ext uri="{FF2B5EF4-FFF2-40B4-BE49-F238E27FC236}">
                <a16:creationId xmlns:a16="http://schemas.microsoft.com/office/drawing/2014/main" id="{8BEF46E3-E969-4B78-8E0F-30E618F05EE5}"/>
              </a:ext>
            </a:extLst>
          </p:cNvPr>
          <p:cNvSpPr>
            <a:spLocks xmlns:a="http://schemas.openxmlformats.org/drawingml/2006/main" noGrp="1"/>
          </p:cNvSpPr>
          <p:nvPr/>
        </p:nvSpPr>
        <p:spPr>
          <a:xfrm xmlns:a="http://schemas.openxmlformats.org/drawingml/2006/main">
            <a:off x="7239000" y="457200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32" name="">
            <a:extLst xmlns:a="http://schemas.openxmlformats.org/drawingml/2006/main">
              <a:ext uri="{FF2B5EF4-FFF2-40B4-BE49-F238E27FC236}">
                <a16:creationId xmlns:a16="http://schemas.microsoft.com/office/drawing/2014/main" id="{7DAE6211-248F-4EFB-825B-5FC60A46C6E7}"/>
              </a:ext>
            </a:extLst>
          </p:cNvPr>
          <p:cNvSpPr>
            <a:spLocks xmlns:a="http://schemas.openxmlformats.org/drawingml/2006/main" noGrp="1"/>
          </p:cNvSpPr>
          <p:nvPr/>
        </p:nvSpPr>
        <p:spPr>
          <a:xfrm xmlns:a="http://schemas.openxmlformats.org/drawingml/2006/main">
            <a:off x="7410450" y="4495800"/>
            <a:ext cx="35242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0F172A"/>
                </a:solidFill>
                <a:latin typeface="Aptos"/>
                <a:ea typeface="Aptos"/>
                <a:cs typeface="Aptos"/>
              </a:defRPr>
            </a:pPr>
            <a:r>
              <a:rPr sz="1125" b="0">
                <a:solidFill>
                  <a:srgbClr val="0F172A"/>
                </a:solidFill>
                <a:latin typeface="Aptos"/>
                <a:ea typeface="Aptos"/>
                <a:cs typeface="Aptos"/>
              </a:rPr>
              <a:t>The story is chronological: remove unnecessary work first, then unlock hardware parallelism.</a:t>
            </a:r>
          </a:p>
        </p:txBody>
      </p:sp>
      <p:sp>
        <p:nvSpPr>
          <p:cNvPr id="33" name="">
            <a:extLst xmlns:a="http://schemas.openxmlformats.org/drawingml/2006/main">
              <a:ext uri="{FF2B5EF4-FFF2-40B4-BE49-F238E27FC236}">
                <a16:creationId xmlns:a16="http://schemas.microsoft.com/office/drawing/2014/main" id="{73B40BBA-CF10-4555-A47A-AAB802ACD31E}"/>
              </a:ext>
            </a:extLst>
          </p:cNvPr>
          <p:cNvSpPr>
            <a:spLocks xmlns:a="http://schemas.openxmlformats.org/drawingml/2006/main" noGrp="1"/>
          </p:cNvSpPr>
          <p:nvPr/>
        </p:nvSpPr>
        <p:spPr>
          <a:xfrm xmlns:a="http://schemas.openxmlformats.org/drawingml/2006/main">
            <a:off x="7239000" y="506730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34" name="">
            <a:extLst xmlns:a="http://schemas.openxmlformats.org/drawingml/2006/main">
              <a:ext uri="{FF2B5EF4-FFF2-40B4-BE49-F238E27FC236}">
                <a16:creationId xmlns:a16="http://schemas.microsoft.com/office/drawing/2014/main" id="{8B4D28AE-A35E-44C4-9C8F-5D6D25738E55}"/>
              </a:ext>
            </a:extLst>
          </p:cNvPr>
          <p:cNvSpPr>
            <a:spLocks xmlns:a="http://schemas.openxmlformats.org/drawingml/2006/main" noGrp="1"/>
          </p:cNvSpPr>
          <p:nvPr/>
        </p:nvSpPr>
        <p:spPr>
          <a:xfrm xmlns:a="http://schemas.openxmlformats.org/drawingml/2006/main">
            <a:off x="7410450" y="4991100"/>
            <a:ext cx="35242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0F172A"/>
                </a:solidFill>
                <a:latin typeface="Aptos"/>
                <a:ea typeface="Aptos"/>
                <a:cs typeface="Aptos"/>
              </a:defRPr>
            </a:pPr>
            <a:r>
              <a:rPr sz="1125" b="0">
                <a:solidFill>
                  <a:srgbClr val="0F172A"/>
                </a:solidFill>
                <a:latin typeface="Aptos"/>
                <a:ea typeface="Aptos"/>
                <a:cs typeface="Aptos"/>
              </a:rPr>
              <a:t>The largest drops happen when the program shape changes: scalar to SIMD, then unscheduled to VLIW-packed.</a:t>
            </a:r>
          </a:p>
        </p:txBody>
      </p:sp>
      <p:sp>
        <p:nvSpPr>
          <p:cNvPr id="35" name="">
            <a:extLst xmlns:a="http://schemas.openxmlformats.org/drawingml/2006/main">
              <a:ext uri="{FF2B5EF4-FFF2-40B4-BE49-F238E27FC236}">
                <a16:creationId xmlns:a16="http://schemas.microsoft.com/office/drawing/2014/main" id="{92457197-0CA2-4F6F-A0B4-42E5FFC9F31F}"/>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5</a:t>
            </a:r>
          </a:p>
        </p:txBody>
      </p:sp>
    </p:spTree>
    <p:extLst>
      <p:ext uri="{BB962C8B-B14F-4D97-AF65-F5344CB8AC3E}">
        <p14:creationId xmlns:p14="http://schemas.microsoft.com/office/powerpoint/2010/main" val="162278516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D3F8F5-4C4C-48CE-BE60-D6626FDB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A04B863-B0F2-4D98-90F3-4B51BA6425B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AE2238F-D854-4451-A833-034255DF8901}"/>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BASELINE</a:t>
            </a:r>
          </a:p>
        </p:txBody>
      </p:sp>
      <p:sp>
        <p:nvSpPr>
          <p:cNvPr id="4" name="">
            <a:extLst xmlns:a="http://schemas.openxmlformats.org/drawingml/2006/main">
              <a:ext uri="{FF2B5EF4-FFF2-40B4-BE49-F238E27FC236}">
                <a16:creationId xmlns:a16="http://schemas.microsoft.com/office/drawing/2014/main" id="{5CAB8693-5CAA-4830-B32E-BEEAA30146E2}"/>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Baseline: The Trace Shows Serialization And Waste</a:t>
            </a:r>
          </a:p>
        </p:txBody>
      </p:sp>
      <p:sp>
        <p:nvSpPr>
          <p:cNvPr id="5" name="">
            <a:extLst xmlns:a="http://schemas.openxmlformats.org/drawingml/2006/main">
              <a:ext uri="{FF2B5EF4-FFF2-40B4-BE49-F238E27FC236}">
                <a16:creationId xmlns:a16="http://schemas.microsoft.com/office/drawing/2014/main" id="{44685111-B789-4EB2-8CD5-FDE5E83B8D5F}"/>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starting point does correct work, but it leaves most available machine capacity unused.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75719d598034825"/>
          <a:stretch xmlns:a="http://schemas.openxmlformats.org/drawingml/2006/main"/>
        </p:blipFill>
        <p:spPr>
          <a:xfrm xmlns:a="http://schemas.openxmlformats.org/drawingml/2006/main">
            <a:off x="400050" y="1785789"/>
            <a:ext cx="7239000" cy="322927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58A3E3E-B4C2-4D42-B532-CDEBF01E8360}"/>
              </a:ext>
            </a:extLst>
          </p:cNvPr>
          <p:cNvSpPr>
            <a:spLocks xmlns:a="http://schemas.openxmlformats.org/drawingml/2006/main" noGrp="1"/>
          </p:cNvSpPr>
          <p:nvPr/>
        </p:nvSpPr>
        <p:spPr>
          <a:xfrm xmlns:a="http://schemas.openxmlformats.org/drawingml/2006/main">
            <a:off x="8096250" y="1447800"/>
            <a:ext cx="2571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4FFDFFAF-0020-462E-9737-5F618480D52F}"/>
              </a:ext>
            </a:extLst>
          </p:cNvPr>
          <p:cNvSpPr>
            <a:spLocks xmlns:a="http://schemas.openxmlformats.org/drawingml/2006/main" noGrp="1"/>
          </p:cNvSpPr>
          <p:nvPr/>
        </p:nvSpPr>
        <p:spPr>
          <a:xfrm xmlns:a="http://schemas.openxmlformats.org/drawingml/2006/main">
            <a:off x="8248650" y="1581150"/>
            <a:ext cx="22669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475569"/>
                </a:solidFill>
                <a:latin typeface="Aptos Display"/>
                <a:ea typeface="Aptos Display"/>
                <a:cs typeface="Aptos Display"/>
              </a:defRPr>
            </a:pPr>
            <a:r>
              <a:rPr sz="2100" b="1">
                <a:solidFill>
                  <a:srgbClr val="475569"/>
                </a:solidFill>
                <a:latin typeface="Aptos Display"/>
                <a:ea typeface="Aptos Display"/>
                <a:cs typeface="Aptos Display"/>
              </a:rPr>
              <a:t>147,734</a:t>
            </a:r>
          </a:p>
        </p:txBody>
      </p:sp>
      <p:sp>
        <p:nvSpPr>
          <p:cNvPr id="9" name="">
            <a:extLst xmlns:a="http://schemas.openxmlformats.org/drawingml/2006/main">
              <a:ext uri="{FF2B5EF4-FFF2-40B4-BE49-F238E27FC236}">
                <a16:creationId xmlns:a16="http://schemas.microsoft.com/office/drawing/2014/main" id="{30B5C40A-890D-493D-8F71-6546547F548F}"/>
              </a:ext>
            </a:extLst>
          </p:cNvPr>
          <p:cNvSpPr>
            <a:spLocks xmlns:a="http://schemas.openxmlformats.org/drawingml/2006/main" noGrp="1"/>
          </p:cNvSpPr>
          <p:nvPr/>
        </p:nvSpPr>
        <p:spPr>
          <a:xfrm xmlns:a="http://schemas.openxmlformats.org/drawingml/2006/main">
            <a:off x="8248650" y="2000250"/>
            <a:ext cx="2266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baseline cycles</a:t>
            </a:r>
          </a:p>
        </p:txBody>
      </p:sp>
      <p:sp>
        <p:nvSpPr>
          <p:cNvPr id="10" name="">
            <a:extLst xmlns:a="http://schemas.openxmlformats.org/drawingml/2006/main">
              <a:ext uri="{FF2B5EF4-FFF2-40B4-BE49-F238E27FC236}">
                <a16:creationId xmlns:a16="http://schemas.microsoft.com/office/drawing/2014/main" id="{B2D19BBF-633E-402C-AEF7-DE8F5BC7544D}"/>
              </a:ext>
            </a:extLst>
          </p:cNvPr>
          <p:cNvSpPr>
            <a:spLocks xmlns:a="http://schemas.openxmlformats.org/drawingml/2006/main" noGrp="1"/>
          </p:cNvSpPr>
          <p:nvPr/>
        </p:nvSpPr>
        <p:spPr>
          <a:xfrm xmlns:a="http://schemas.openxmlformats.org/drawingml/2006/main">
            <a:off x="8096250" y="274320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1" name="">
            <a:extLst xmlns:a="http://schemas.openxmlformats.org/drawingml/2006/main">
              <a:ext uri="{FF2B5EF4-FFF2-40B4-BE49-F238E27FC236}">
                <a16:creationId xmlns:a16="http://schemas.microsoft.com/office/drawing/2014/main" id="{439948FE-5CD4-48F0-9082-8D558D10CBA6}"/>
              </a:ext>
            </a:extLst>
          </p:cNvPr>
          <p:cNvSpPr>
            <a:spLocks xmlns:a="http://schemas.openxmlformats.org/drawingml/2006/main" noGrp="1"/>
          </p:cNvSpPr>
          <p:nvPr/>
        </p:nvSpPr>
        <p:spPr>
          <a:xfrm xmlns:a="http://schemas.openxmlformats.org/drawingml/2006/main">
            <a:off x="8267700" y="2667000"/>
            <a:ext cx="2952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Scalar execution dominates; vector lanes are largely unused.</a:t>
            </a:r>
          </a:p>
        </p:txBody>
      </p:sp>
      <p:sp>
        <p:nvSpPr>
          <p:cNvPr id="12" name="">
            <a:extLst xmlns:a="http://schemas.openxmlformats.org/drawingml/2006/main">
              <a:ext uri="{FF2B5EF4-FFF2-40B4-BE49-F238E27FC236}">
                <a16:creationId xmlns:a16="http://schemas.microsoft.com/office/drawing/2014/main" id="{B9A92BF8-C2ED-49BD-B606-8112FE73DCD1}"/>
              </a:ext>
            </a:extLst>
          </p:cNvPr>
          <p:cNvSpPr>
            <a:spLocks xmlns:a="http://schemas.openxmlformats.org/drawingml/2006/main" noGrp="1"/>
          </p:cNvSpPr>
          <p:nvPr/>
        </p:nvSpPr>
        <p:spPr>
          <a:xfrm xmlns:a="http://schemas.openxmlformats.org/drawingml/2006/main">
            <a:off x="8096250" y="327660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3" name="">
            <a:extLst xmlns:a="http://schemas.openxmlformats.org/drawingml/2006/main">
              <a:ext uri="{FF2B5EF4-FFF2-40B4-BE49-F238E27FC236}">
                <a16:creationId xmlns:a16="http://schemas.microsoft.com/office/drawing/2014/main" id="{6068CD88-91D1-461D-8B93-D88BFD674AE3}"/>
              </a:ext>
            </a:extLst>
          </p:cNvPr>
          <p:cNvSpPr>
            <a:spLocks xmlns:a="http://schemas.openxmlformats.org/drawingml/2006/main" noGrp="1"/>
          </p:cNvSpPr>
          <p:nvPr/>
        </p:nvSpPr>
        <p:spPr>
          <a:xfrm xmlns:a="http://schemas.openxmlformats.org/drawingml/2006/main">
            <a:off x="8267700" y="3200400"/>
            <a:ext cx="2952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Index state repeatedly moves through memory even though it is only needed to choose future nodes.</a:t>
            </a:r>
          </a:p>
        </p:txBody>
      </p:sp>
      <p:sp>
        <p:nvSpPr>
          <p:cNvPr id="14" name="">
            <a:extLst xmlns:a="http://schemas.openxmlformats.org/drawingml/2006/main">
              <a:ext uri="{FF2B5EF4-FFF2-40B4-BE49-F238E27FC236}">
                <a16:creationId xmlns:a16="http://schemas.microsoft.com/office/drawing/2014/main" id="{C8B29190-4C44-4F4B-8D17-BF0D0B182C6D}"/>
              </a:ext>
            </a:extLst>
          </p:cNvPr>
          <p:cNvSpPr>
            <a:spLocks xmlns:a="http://schemas.openxmlformats.org/drawingml/2006/main" noGrp="1"/>
          </p:cNvSpPr>
          <p:nvPr/>
        </p:nvSpPr>
        <p:spPr>
          <a:xfrm xmlns:a="http://schemas.openxmlformats.org/drawingml/2006/main">
            <a:off x="8096250" y="381000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5" name="">
            <a:extLst xmlns:a="http://schemas.openxmlformats.org/drawingml/2006/main">
              <a:ext uri="{FF2B5EF4-FFF2-40B4-BE49-F238E27FC236}">
                <a16:creationId xmlns:a16="http://schemas.microsoft.com/office/drawing/2014/main" id="{C420E36C-1A23-4430-8917-DD463BED9A6C}"/>
              </a:ext>
            </a:extLst>
          </p:cNvPr>
          <p:cNvSpPr>
            <a:spLocks xmlns:a="http://schemas.openxmlformats.org/drawingml/2006/main" noGrp="1"/>
          </p:cNvSpPr>
          <p:nvPr/>
        </p:nvSpPr>
        <p:spPr>
          <a:xfrm xmlns:a="http://schemas.openxmlformats.org/drawingml/2006/main">
            <a:off x="8267700" y="3733800"/>
            <a:ext cx="2952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Loop/control overhead and address recomputation are visible before the useful tree-walk work.</a:t>
            </a:r>
          </a:p>
        </p:txBody>
      </p:sp>
      <p:sp>
        <p:nvSpPr>
          <p:cNvPr id="16" name="">
            <a:extLst xmlns:a="http://schemas.openxmlformats.org/drawingml/2006/main">
              <a:ext uri="{FF2B5EF4-FFF2-40B4-BE49-F238E27FC236}">
                <a16:creationId xmlns:a16="http://schemas.microsoft.com/office/drawing/2014/main" id="{82FD7CB4-90F1-4B04-AE43-89CDAF42B4CC}"/>
              </a:ext>
            </a:extLst>
          </p:cNvPr>
          <p:cNvSpPr>
            <a:spLocks xmlns:a="http://schemas.openxmlformats.org/drawingml/2006/main" noGrp="1"/>
          </p:cNvSpPr>
          <p:nvPr/>
        </p:nvSpPr>
        <p:spPr>
          <a:xfrm xmlns:a="http://schemas.openxmlformats.org/drawingml/2006/main">
            <a:off x="8096250" y="434340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7" name="">
            <a:extLst xmlns:a="http://schemas.openxmlformats.org/drawingml/2006/main">
              <a:ext uri="{FF2B5EF4-FFF2-40B4-BE49-F238E27FC236}">
                <a16:creationId xmlns:a16="http://schemas.microsoft.com/office/drawing/2014/main" id="{C42B3D82-26BE-4135-ABD8-75BFF91AFAE2}"/>
              </a:ext>
            </a:extLst>
          </p:cNvPr>
          <p:cNvSpPr>
            <a:spLocks xmlns:a="http://schemas.openxmlformats.org/drawingml/2006/main" noGrp="1"/>
          </p:cNvSpPr>
          <p:nvPr/>
        </p:nvSpPr>
        <p:spPr>
          <a:xfrm xmlns:a="http://schemas.openxmlformats.org/drawingml/2006/main">
            <a:off x="8267700" y="4267200"/>
            <a:ext cx="2952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This trace established the first goal: remove bookkeeping before tuning deep scheduling.</a:t>
            </a:r>
          </a:p>
        </p:txBody>
      </p:sp>
      <p:sp>
        <p:nvSpPr>
          <p:cNvPr id="18" name="">
            <a:extLst xmlns:a="http://schemas.openxmlformats.org/drawingml/2006/main">
              <a:ext uri="{FF2B5EF4-FFF2-40B4-BE49-F238E27FC236}">
                <a16:creationId xmlns:a16="http://schemas.microsoft.com/office/drawing/2014/main" id="{7335C11D-BDC8-47DA-B576-909D0C685295}"/>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6</a:t>
            </a:r>
          </a:p>
        </p:txBody>
      </p:sp>
    </p:spTree>
    <p:extLst>
      <p:ext uri="{BB962C8B-B14F-4D97-AF65-F5344CB8AC3E}">
        <p14:creationId xmlns:p14="http://schemas.microsoft.com/office/powerpoint/2010/main" val="100553908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7AF1D4-3430-4949-B562-DDB79653F4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9A124D-CA8F-4A17-AA1A-2BC4670B5A8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F348669-0E10-4B02-98B1-0BC5D273698C}"/>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REMOVE WORK</a:t>
            </a:r>
          </a:p>
        </p:txBody>
      </p:sp>
      <p:sp>
        <p:nvSpPr>
          <p:cNvPr id="4" name="">
            <a:extLst xmlns:a="http://schemas.openxmlformats.org/drawingml/2006/main">
              <a:ext uri="{FF2B5EF4-FFF2-40B4-BE49-F238E27FC236}">
                <a16:creationId xmlns:a16="http://schemas.microsoft.com/office/drawing/2014/main" id="{AE8A90C7-2EFB-4B9E-832C-C9E553DC7CE9}"/>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Easy Wins: Remove Ungraded And Unnecessary Work</a:t>
            </a:r>
          </a:p>
        </p:txBody>
      </p:sp>
      <p:sp>
        <p:nvSpPr>
          <p:cNvPr id="5" name="">
            <a:extLst xmlns:a="http://schemas.openxmlformats.org/drawingml/2006/main">
              <a:ext uri="{FF2B5EF4-FFF2-40B4-BE49-F238E27FC236}">
                <a16:creationId xmlns:a16="http://schemas.microsoft.com/office/drawing/2014/main" id="{C2C630E5-022D-4D43-B444-6D5694B02168}"/>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first improvements come from aligning the kernel with exactly what the grader checks.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161c14903684d19"/>
          <a:stretch xmlns:a="http://schemas.openxmlformats.org/drawingml/2006/main"/>
        </p:blipFill>
        <p:spPr>
          <a:xfrm xmlns:a="http://schemas.openxmlformats.org/drawingml/2006/main">
            <a:off x="421068" y="1428750"/>
            <a:ext cx="4910963" cy="219075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dbce4b9efd44c7a"/>
          <a:stretch xmlns:a="http://schemas.openxmlformats.org/drawingml/2006/main"/>
        </p:blipFill>
        <p:spPr>
          <a:xfrm xmlns:a="http://schemas.openxmlformats.org/drawingml/2006/main">
            <a:off x="421068" y="3905250"/>
            <a:ext cx="4910963"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15D62C6-D4D3-4E7F-B8B5-122D4C742E97}"/>
              </a:ext>
            </a:extLst>
          </p:cNvPr>
          <p:cNvSpPr>
            <a:spLocks xmlns:a="http://schemas.openxmlformats.org/drawingml/2006/main" noGrp="1"/>
          </p:cNvSpPr>
          <p:nvPr/>
        </p:nvSpPr>
        <p:spPr>
          <a:xfrm xmlns:a="http://schemas.openxmlformats.org/drawingml/2006/main">
            <a:off x="5905500" y="1504950"/>
            <a:ext cx="3429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0AFB8307-9704-4BE5-B43F-0913E4064FCE}"/>
              </a:ext>
            </a:extLst>
          </p:cNvPr>
          <p:cNvSpPr>
            <a:spLocks xmlns:a="http://schemas.openxmlformats.org/drawingml/2006/main" noGrp="1"/>
          </p:cNvSpPr>
          <p:nvPr/>
        </p:nvSpPr>
        <p:spPr>
          <a:xfrm xmlns:a="http://schemas.openxmlformats.org/drawingml/2006/main">
            <a:off x="6057900" y="1638300"/>
            <a:ext cx="3124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A34A"/>
                </a:solidFill>
                <a:latin typeface="Aptos Display"/>
                <a:ea typeface="Aptos Display"/>
                <a:cs typeface="Aptos Display"/>
              </a:defRPr>
            </a:pPr>
            <a:r>
              <a:rPr sz="2100" b="1">
                <a:solidFill>
                  <a:srgbClr val="16A34A"/>
                </a:solidFill>
                <a:latin typeface="Aptos Display"/>
                <a:ea typeface="Aptos Display"/>
                <a:cs typeface="Aptos Display"/>
              </a:rPr>
              <a:t>147,734 -&gt; 114,868</a:t>
            </a:r>
          </a:p>
        </p:txBody>
      </p:sp>
      <p:sp>
        <p:nvSpPr>
          <p:cNvPr id="10" name="">
            <a:extLst xmlns:a="http://schemas.openxmlformats.org/drawingml/2006/main">
              <a:ext uri="{FF2B5EF4-FFF2-40B4-BE49-F238E27FC236}">
                <a16:creationId xmlns:a16="http://schemas.microsoft.com/office/drawing/2014/main" id="{6A555062-8577-4D8D-A35D-6794814622B6}"/>
              </a:ext>
            </a:extLst>
          </p:cNvPr>
          <p:cNvSpPr>
            <a:spLocks xmlns:a="http://schemas.openxmlformats.org/drawingml/2006/main" noGrp="1"/>
          </p:cNvSpPr>
          <p:nvPr/>
        </p:nvSpPr>
        <p:spPr>
          <a:xfrm xmlns:a="http://schemas.openxmlformats.org/drawingml/2006/main">
            <a:off x="6057900" y="2057400"/>
            <a:ext cx="31242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remove index bookkeeping</a:t>
            </a:r>
          </a:p>
        </p:txBody>
      </p:sp>
      <p:sp>
        <p:nvSpPr>
          <p:cNvPr id="11" name="">
            <a:extLst xmlns:a="http://schemas.openxmlformats.org/drawingml/2006/main">
              <a:ext uri="{FF2B5EF4-FFF2-40B4-BE49-F238E27FC236}">
                <a16:creationId xmlns:a16="http://schemas.microsoft.com/office/drawing/2014/main" id="{E9429260-D161-4840-B0FF-63FEA55631C8}"/>
              </a:ext>
            </a:extLst>
          </p:cNvPr>
          <p:cNvSpPr>
            <a:spLocks xmlns:a="http://schemas.openxmlformats.org/drawingml/2006/main" noGrp="1"/>
          </p:cNvSpPr>
          <p:nvPr/>
        </p:nvSpPr>
        <p:spPr>
          <a:xfrm xmlns:a="http://schemas.openxmlformats.org/drawingml/2006/main">
            <a:off x="5962650" y="28765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2" name="">
            <a:extLst xmlns:a="http://schemas.openxmlformats.org/drawingml/2006/main">
              <a:ext uri="{FF2B5EF4-FFF2-40B4-BE49-F238E27FC236}">
                <a16:creationId xmlns:a16="http://schemas.microsoft.com/office/drawing/2014/main" id="{7B7D471A-8138-433D-B218-90219A69375E}"/>
              </a:ext>
            </a:extLst>
          </p:cNvPr>
          <p:cNvSpPr>
            <a:spLocks xmlns:a="http://schemas.openxmlformats.org/drawingml/2006/main" noGrp="1"/>
          </p:cNvSpPr>
          <p:nvPr/>
        </p:nvSpPr>
        <p:spPr>
          <a:xfrm xmlns:a="http://schemas.openxmlformats.org/drawingml/2006/main">
            <a:off x="6134100" y="280035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Final values are graded; final index state is not. The last round can compute values without storing final indices.</a:t>
            </a:r>
          </a:p>
        </p:txBody>
      </p:sp>
      <p:sp>
        <p:nvSpPr>
          <p:cNvPr id="13" name="">
            <a:extLst xmlns:a="http://schemas.openxmlformats.org/drawingml/2006/main">
              <a:ext uri="{FF2B5EF4-FFF2-40B4-BE49-F238E27FC236}">
                <a16:creationId xmlns:a16="http://schemas.microsoft.com/office/drawing/2014/main" id="{A93B95A7-2839-41EF-AAFD-3A013420A907}"/>
              </a:ext>
            </a:extLst>
          </p:cNvPr>
          <p:cNvSpPr>
            <a:spLocks xmlns:a="http://schemas.openxmlformats.org/drawingml/2006/main" noGrp="1"/>
          </p:cNvSpPr>
          <p:nvPr/>
        </p:nvSpPr>
        <p:spPr>
          <a:xfrm xmlns:a="http://schemas.openxmlformats.org/drawingml/2006/main">
            <a:off x="5962650" y="342900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4" name="">
            <a:extLst xmlns:a="http://schemas.openxmlformats.org/drawingml/2006/main">
              <a:ext uri="{FF2B5EF4-FFF2-40B4-BE49-F238E27FC236}">
                <a16:creationId xmlns:a16="http://schemas.microsoft.com/office/drawing/2014/main" id="{36FB80F1-81C9-47B5-9B36-7990A1273C6C}"/>
              </a:ext>
            </a:extLst>
          </p:cNvPr>
          <p:cNvSpPr>
            <a:spLocks xmlns:a="http://schemas.openxmlformats.org/drawingml/2006/main" noGrp="1"/>
          </p:cNvSpPr>
          <p:nvPr/>
        </p:nvSpPr>
        <p:spPr>
          <a:xfrm xmlns:a="http://schemas.openxmlformats.org/drawingml/2006/main">
            <a:off x="6134100" y="335280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Live traversal indices still matter during execution, but they can live in scratch instead of memory between rounds.</a:t>
            </a:r>
          </a:p>
        </p:txBody>
      </p:sp>
      <p:sp>
        <p:nvSpPr>
          <p:cNvPr id="15" name="">
            <a:extLst xmlns:a="http://schemas.openxmlformats.org/drawingml/2006/main">
              <a:ext uri="{FF2B5EF4-FFF2-40B4-BE49-F238E27FC236}">
                <a16:creationId xmlns:a16="http://schemas.microsoft.com/office/drawing/2014/main" id="{9A9387CA-7A20-46D3-93CD-4703A9290BC8}"/>
              </a:ext>
            </a:extLst>
          </p:cNvPr>
          <p:cNvSpPr>
            <a:spLocks xmlns:a="http://schemas.openxmlformats.org/drawingml/2006/main" noGrp="1"/>
          </p:cNvSpPr>
          <p:nvPr/>
        </p:nvSpPr>
        <p:spPr>
          <a:xfrm xmlns:a="http://schemas.openxmlformats.org/drawingml/2006/main">
            <a:off x="5962650" y="39814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6" name="">
            <a:extLst xmlns:a="http://schemas.openxmlformats.org/drawingml/2006/main">
              <a:ext uri="{FF2B5EF4-FFF2-40B4-BE49-F238E27FC236}">
                <a16:creationId xmlns:a16="http://schemas.microsoft.com/office/drawing/2014/main" id="{AE663213-08FE-4A18-9BA4-2D197314A544}"/>
              </a:ext>
            </a:extLst>
          </p:cNvPr>
          <p:cNvSpPr>
            <a:spLocks xmlns:a="http://schemas.openxmlformats.org/drawingml/2006/main" noGrp="1"/>
          </p:cNvSpPr>
          <p:nvPr/>
        </p:nvSpPr>
        <p:spPr>
          <a:xfrm xmlns:a="http://schemas.openxmlformats.org/drawingml/2006/main">
            <a:off x="6134100" y="390525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This combines the old test-contract and scratch-indices checkpoints because both remove index work from the graded path.</a:t>
            </a:r>
          </a:p>
        </p:txBody>
      </p:sp>
      <p:sp>
        <p:nvSpPr>
          <p:cNvPr id="17" name="">
            <a:extLst xmlns:a="http://schemas.openxmlformats.org/drawingml/2006/main">
              <a:ext uri="{FF2B5EF4-FFF2-40B4-BE49-F238E27FC236}">
                <a16:creationId xmlns:a16="http://schemas.microsoft.com/office/drawing/2014/main" id="{18FB7E3F-2108-4849-982D-951D38E34BD9}"/>
              </a:ext>
            </a:extLst>
          </p:cNvPr>
          <p:cNvSpPr>
            <a:spLocks xmlns:a="http://schemas.openxmlformats.org/drawingml/2006/main" noGrp="1"/>
          </p:cNvSpPr>
          <p:nvPr/>
        </p:nvSpPr>
        <p:spPr>
          <a:xfrm xmlns:a="http://schemas.openxmlformats.org/drawingml/2006/main">
            <a:off x="5962650" y="453390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8" name="">
            <a:extLst xmlns:a="http://schemas.openxmlformats.org/drawingml/2006/main">
              <a:ext uri="{FF2B5EF4-FFF2-40B4-BE49-F238E27FC236}">
                <a16:creationId xmlns:a16="http://schemas.microsoft.com/office/drawing/2014/main" id="{376DE9D9-E07D-4EBF-8676-B193DBD5AFBE}"/>
              </a:ext>
            </a:extLst>
          </p:cNvPr>
          <p:cNvSpPr>
            <a:spLocks xmlns:a="http://schemas.openxmlformats.org/drawingml/2006/main" noGrp="1"/>
          </p:cNvSpPr>
          <p:nvPr/>
        </p:nvSpPr>
        <p:spPr>
          <a:xfrm xmlns:a="http://schemas.openxmlformats.org/drawingml/2006/main">
            <a:off x="6134100" y="445770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Narrative role: these are low-risk cleanup passes before specialization.</a:t>
            </a:r>
          </a:p>
        </p:txBody>
      </p:sp>
      <p:sp>
        <p:nvSpPr>
          <p:cNvPr id="19" name="">
            <a:extLst xmlns:a="http://schemas.openxmlformats.org/drawingml/2006/main">
              <a:ext uri="{FF2B5EF4-FFF2-40B4-BE49-F238E27FC236}">
                <a16:creationId xmlns:a16="http://schemas.microsoft.com/office/drawing/2014/main" id="{BF791C65-BAFB-4009-8CE3-9C63E02A10C0}"/>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7</a:t>
            </a:r>
          </a:p>
        </p:txBody>
      </p:sp>
    </p:spTree>
    <p:extLst>
      <p:ext uri="{BB962C8B-B14F-4D97-AF65-F5344CB8AC3E}">
        <p14:creationId xmlns:p14="http://schemas.microsoft.com/office/powerpoint/2010/main" val="212689049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91639D7-6A08-4A6F-8547-2D2D002456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773423C-C4D3-4184-81EF-9E46BC4BBC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36E7302-2D17-4CEC-836D-8DE1A1C6A54C}"/>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SPECIALIZATION</a:t>
            </a:r>
          </a:p>
        </p:txBody>
      </p:sp>
      <p:sp>
        <p:nvSpPr>
          <p:cNvPr id="4" name="">
            <a:extLst xmlns:a="http://schemas.openxmlformats.org/drawingml/2006/main">
              <a:ext uri="{FF2B5EF4-FFF2-40B4-BE49-F238E27FC236}">
                <a16:creationId xmlns:a16="http://schemas.microsoft.com/office/drawing/2014/main" id="{906A8E9D-CC3A-4DA4-9F5E-D5915F89132B}"/>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Specialization: Make The Fixed Workload Explicit</a:t>
            </a:r>
          </a:p>
        </p:txBody>
      </p:sp>
      <p:sp>
        <p:nvSpPr>
          <p:cNvPr id="5" name="">
            <a:extLst xmlns:a="http://schemas.openxmlformats.org/drawingml/2006/main">
              <a:ext uri="{FF2B5EF4-FFF2-40B4-BE49-F238E27FC236}">
                <a16:creationId xmlns:a16="http://schemas.microsoft.com/office/drawing/2014/main" id="{C9DCB327-999E-4980-A2BC-4989978AC456}"/>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Once the benchmark shape is known, the generated program can remove general-purpose control and layout handling.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4f5337bc1df486e"/>
          <a:stretch xmlns:a="http://schemas.openxmlformats.org/drawingml/2006/main"/>
        </p:blipFill>
        <p:spPr>
          <a:xfrm xmlns:a="http://schemas.openxmlformats.org/drawingml/2006/main">
            <a:off x="421068" y="1428750"/>
            <a:ext cx="4910963" cy="219075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0628d2c125a4779"/>
          <a:stretch xmlns:a="http://schemas.openxmlformats.org/drawingml/2006/main"/>
        </p:blipFill>
        <p:spPr>
          <a:xfrm xmlns:a="http://schemas.openxmlformats.org/drawingml/2006/main">
            <a:off x="421068" y="3905250"/>
            <a:ext cx="4910963"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B9441C7-4687-4BB9-8A6C-3D38D6077101}"/>
              </a:ext>
            </a:extLst>
          </p:cNvPr>
          <p:cNvSpPr>
            <a:spLocks xmlns:a="http://schemas.openxmlformats.org/drawingml/2006/main" noGrp="1"/>
          </p:cNvSpPr>
          <p:nvPr/>
        </p:nvSpPr>
        <p:spPr>
          <a:xfrm xmlns:a="http://schemas.openxmlformats.org/drawingml/2006/main">
            <a:off x="5905500" y="1504950"/>
            <a:ext cx="24765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51E12E41-56CB-46B5-A908-7E64262D4C23}"/>
              </a:ext>
            </a:extLst>
          </p:cNvPr>
          <p:cNvSpPr>
            <a:spLocks xmlns:a="http://schemas.openxmlformats.org/drawingml/2006/main" noGrp="1"/>
          </p:cNvSpPr>
          <p:nvPr/>
        </p:nvSpPr>
        <p:spPr>
          <a:xfrm xmlns:a="http://schemas.openxmlformats.org/drawingml/2006/main">
            <a:off x="6057900" y="1638300"/>
            <a:ext cx="2171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891B2"/>
                </a:solidFill>
                <a:latin typeface="Aptos Display"/>
                <a:ea typeface="Aptos Display"/>
                <a:cs typeface="Aptos Display"/>
              </a:defRPr>
            </a:pPr>
            <a:r>
              <a:rPr sz="2100" b="1">
                <a:solidFill>
                  <a:srgbClr val="0891B2"/>
                </a:solidFill>
                <a:latin typeface="Aptos Display"/>
                <a:ea typeface="Aptos Display"/>
                <a:cs typeface="Aptos Display"/>
              </a:rPr>
              <a:t>114,868 -&gt; 110,898</a:t>
            </a:r>
          </a:p>
        </p:txBody>
      </p:sp>
      <p:sp>
        <p:nvSpPr>
          <p:cNvPr id="10" name="">
            <a:extLst xmlns:a="http://schemas.openxmlformats.org/drawingml/2006/main">
              <a:ext uri="{FF2B5EF4-FFF2-40B4-BE49-F238E27FC236}">
                <a16:creationId xmlns:a16="http://schemas.microsoft.com/office/drawing/2014/main" id="{88B1D36F-CB29-41D2-911A-8B1770EC8CC8}"/>
              </a:ext>
            </a:extLst>
          </p:cNvPr>
          <p:cNvSpPr>
            <a:spLocks xmlns:a="http://schemas.openxmlformats.org/drawingml/2006/main" noGrp="1"/>
          </p:cNvSpPr>
          <p:nvPr/>
        </p:nvSpPr>
        <p:spPr>
          <a:xfrm xmlns:a="http://schemas.openxmlformats.org/drawingml/2006/main">
            <a:off x="6057900" y="2057400"/>
            <a:ext cx="2171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bake in fixed layout</a:t>
            </a:r>
          </a:p>
        </p:txBody>
      </p:sp>
      <p:sp>
        <p:nvSpPr>
          <p:cNvPr id="11" name="">
            <a:extLst xmlns:a="http://schemas.openxmlformats.org/drawingml/2006/main">
              <a:ext uri="{FF2B5EF4-FFF2-40B4-BE49-F238E27FC236}">
                <a16:creationId xmlns:a16="http://schemas.microsoft.com/office/drawing/2014/main" id="{7E2C9BC1-39AD-404B-B8EE-AC5EB1BC44B9}"/>
              </a:ext>
            </a:extLst>
          </p:cNvPr>
          <p:cNvSpPr>
            <a:spLocks xmlns:a="http://schemas.openxmlformats.org/drawingml/2006/main" noGrp="1"/>
          </p:cNvSpPr>
          <p:nvPr/>
        </p:nvSpPr>
        <p:spPr>
          <a:xfrm xmlns:a="http://schemas.openxmlformats.org/drawingml/2006/main">
            <a:off x="8572500" y="1504950"/>
            <a:ext cx="23812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E69B4E7E-56DF-4CFD-90BA-9B7A18AFCE27}"/>
              </a:ext>
            </a:extLst>
          </p:cNvPr>
          <p:cNvSpPr>
            <a:spLocks xmlns:a="http://schemas.openxmlformats.org/drawingml/2006/main" noGrp="1"/>
          </p:cNvSpPr>
          <p:nvPr/>
        </p:nvSpPr>
        <p:spPr>
          <a:xfrm xmlns:a="http://schemas.openxmlformats.org/drawingml/2006/main">
            <a:off x="8724900" y="1638300"/>
            <a:ext cx="2076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891B2"/>
                </a:solidFill>
                <a:latin typeface="Aptos Display"/>
                <a:ea typeface="Aptos Display"/>
                <a:cs typeface="Aptos Display"/>
              </a:defRPr>
            </a:pPr>
            <a:r>
              <a:rPr sz="2100" b="1">
                <a:solidFill>
                  <a:srgbClr val="0891B2"/>
                </a:solidFill>
                <a:latin typeface="Aptos Display"/>
                <a:ea typeface="Aptos Display"/>
                <a:cs typeface="Aptos Display"/>
              </a:rPr>
              <a:t>110,898 -&gt; 97,040</a:t>
            </a:r>
          </a:p>
        </p:txBody>
      </p:sp>
      <p:sp>
        <p:nvSpPr>
          <p:cNvPr id="13" name="">
            <a:extLst xmlns:a="http://schemas.openxmlformats.org/drawingml/2006/main">
              <a:ext uri="{FF2B5EF4-FFF2-40B4-BE49-F238E27FC236}">
                <a16:creationId xmlns:a16="http://schemas.microsoft.com/office/drawing/2014/main" id="{6ABCFD0E-5F17-42E8-8877-EE9CAB966D70}"/>
              </a:ext>
            </a:extLst>
          </p:cNvPr>
          <p:cNvSpPr>
            <a:spLocks xmlns:a="http://schemas.openxmlformats.org/drawingml/2006/main" noGrp="1"/>
          </p:cNvSpPr>
          <p:nvPr/>
        </p:nvSpPr>
        <p:spPr>
          <a:xfrm xmlns:a="http://schemas.openxmlformats.org/drawingml/2006/main">
            <a:off x="8724900" y="2057400"/>
            <a:ext cx="2076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unroll 16 known rounds</a:t>
            </a:r>
          </a:p>
        </p:txBody>
      </p:sp>
      <p:sp>
        <p:nvSpPr>
          <p:cNvPr id="14" name="">
            <a:extLst xmlns:a="http://schemas.openxmlformats.org/drawingml/2006/main">
              <a:ext uri="{FF2B5EF4-FFF2-40B4-BE49-F238E27FC236}">
                <a16:creationId xmlns:a16="http://schemas.microsoft.com/office/drawing/2014/main" id="{AD295920-CD02-4460-8E22-9193722C77B7}"/>
              </a:ext>
            </a:extLst>
          </p:cNvPr>
          <p:cNvSpPr>
            <a:spLocks xmlns:a="http://schemas.openxmlformats.org/drawingml/2006/main" noGrp="1"/>
          </p:cNvSpPr>
          <p:nvPr/>
        </p:nvSpPr>
        <p:spPr>
          <a:xfrm xmlns:a="http://schemas.openxmlformats.org/drawingml/2006/main">
            <a:off x="5962650" y="2876550"/>
            <a:ext cx="66675" cy="66675"/>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ln>
        </p:spPr>
      </p:sp>
      <p:sp>
        <p:nvSpPr>
          <p:cNvPr id="15" name="">
            <a:extLst xmlns:a="http://schemas.openxmlformats.org/drawingml/2006/main">
              <a:ext uri="{FF2B5EF4-FFF2-40B4-BE49-F238E27FC236}">
                <a16:creationId xmlns:a16="http://schemas.microsoft.com/office/drawing/2014/main" id="{85D1A1E1-A9AF-4251-B4C1-F107031CFA5C}"/>
              </a:ext>
            </a:extLst>
          </p:cNvPr>
          <p:cNvSpPr>
            <a:spLocks xmlns:a="http://schemas.openxmlformats.org/drawingml/2006/main" noGrp="1"/>
          </p:cNvSpPr>
          <p:nvPr/>
        </p:nvSpPr>
        <p:spPr>
          <a:xfrm xmlns:a="http://schemas.openxmlformats.org/drawingml/2006/main">
            <a:off x="6134100" y="280035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Fixed layout: stable memory pointers and dimensions become constants instead of runtime setup.</a:t>
            </a:r>
          </a:p>
        </p:txBody>
      </p:sp>
      <p:sp>
        <p:nvSpPr>
          <p:cNvPr id="16" name="">
            <a:extLst xmlns:a="http://schemas.openxmlformats.org/drawingml/2006/main">
              <a:ext uri="{FF2B5EF4-FFF2-40B4-BE49-F238E27FC236}">
                <a16:creationId xmlns:a16="http://schemas.microsoft.com/office/drawing/2014/main" id="{FB1B9DB2-1972-43F6-85BC-DF503F5FBF60}"/>
              </a:ext>
            </a:extLst>
          </p:cNvPr>
          <p:cNvSpPr>
            <a:spLocks xmlns:a="http://schemas.openxmlformats.org/drawingml/2006/main" noGrp="1"/>
          </p:cNvSpPr>
          <p:nvPr/>
        </p:nvSpPr>
        <p:spPr>
          <a:xfrm xmlns:a="http://schemas.openxmlformats.org/drawingml/2006/main">
            <a:off x="5962650" y="3429000"/>
            <a:ext cx="66675" cy="66675"/>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ln>
        </p:spPr>
      </p:sp>
      <p:sp>
        <p:nvSpPr>
          <p:cNvPr id="17" name="">
            <a:extLst xmlns:a="http://schemas.openxmlformats.org/drawingml/2006/main">
              <a:ext uri="{FF2B5EF4-FFF2-40B4-BE49-F238E27FC236}">
                <a16:creationId xmlns:a16="http://schemas.microsoft.com/office/drawing/2014/main" id="{147B543E-88C3-464D-AFE3-EB695DADB767}"/>
              </a:ext>
            </a:extLst>
          </p:cNvPr>
          <p:cNvSpPr>
            <a:spLocks xmlns:a="http://schemas.openxmlformats.org/drawingml/2006/main" noGrp="1"/>
          </p:cNvSpPr>
          <p:nvPr/>
        </p:nvSpPr>
        <p:spPr>
          <a:xfrm xmlns:a="http://schemas.openxmlformats.org/drawingml/2006/main">
            <a:off x="6134100" y="335280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Round unrolling: the depth sequence is known, so the kernel emits the exact operation stream for all 16 rounds.</a:t>
            </a:r>
          </a:p>
        </p:txBody>
      </p:sp>
      <p:sp>
        <p:nvSpPr>
          <p:cNvPr id="18" name="">
            <a:extLst xmlns:a="http://schemas.openxmlformats.org/drawingml/2006/main">
              <a:ext uri="{FF2B5EF4-FFF2-40B4-BE49-F238E27FC236}">
                <a16:creationId xmlns:a16="http://schemas.microsoft.com/office/drawing/2014/main" id="{B64C2372-0F6E-4631-BE70-9FD6E9B506B3}"/>
              </a:ext>
            </a:extLst>
          </p:cNvPr>
          <p:cNvSpPr>
            <a:spLocks xmlns:a="http://schemas.openxmlformats.org/drawingml/2006/main" noGrp="1"/>
          </p:cNvSpPr>
          <p:nvPr/>
        </p:nvSpPr>
        <p:spPr>
          <a:xfrm xmlns:a="http://schemas.openxmlformats.org/drawingml/2006/main">
            <a:off x="5962650" y="3981450"/>
            <a:ext cx="66675" cy="66675"/>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ln>
        </p:spPr>
      </p:sp>
      <p:sp>
        <p:nvSpPr>
          <p:cNvPr id="19" name="">
            <a:extLst xmlns:a="http://schemas.openxmlformats.org/drawingml/2006/main">
              <a:ext uri="{FF2B5EF4-FFF2-40B4-BE49-F238E27FC236}">
                <a16:creationId xmlns:a16="http://schemas.microsoft.com/office/drawing/2014/main" id="{7E01F92E-7041-4039-9C5B-6E67A816C0B1}"/>
              </a:ext>
            </a:extLst>
          </p:cNvPr>
          <p:cNvSpPr>
            <a:spLocks xmlns:a="http://schemas.openxmlformats.org/drawingml/2006/main" noGrp="1"/>
          </p:cNvSpPr>
          <p:nvPr/>
        </p:nvSpPr>
        <p:spPr>
          <a:xfrm xmlns:a="http://schemas.openxmlformats.org/drawingml/2006/main">
            <a:off x="6134100" y="390525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Leaf behavior is predictable: after depth 10, traversal resets to root.</a:t>
            </a:r>
          </a:p>
        </p:txBody>
      </p:sp>
      <p:sp>
        <p:nvSpPr>
          <p:cNvPr id="20" name="">
            <a:extLst xmlns:a="http://schemas.openxmlformats.org/drawingml/2006/main">
              <a:ext uri="{FF2B5EF4-FFF2-40B4-BE49-F238E27FC236}">
                <a16:creationId xmlns:a16="http://schemas.microsoft.com/office/drawing/2014/main" id="{E33D7CA2-3D34-49BE-BD74-32307C463A14}"/>
              </a:ext>
            </a:extLst>
          </p:cNvPr>
          <p:cNvSpPr>
            <a:spLocks xmlns:a="http://schemas.openxmlformats.org/drawingml/2006/main" noGrp="1"/>
          </p:cNvSpPr>
          <p:nvPr/>
        </p:nvSpPr>
        <p:spPr>
          <a:xfrm xmlns:a="http://schemas.openxmlformats.org/drawingml/2006/main">
            <a:off x="5962650" y="4533900"/>
            <a:ext cx="66675" cy="66675"/>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ln>
        </p:spPr>
      </p:sp>
      <p:sp>
        <p:nvSpPr>
          <p:cNvPr id="21" name="">
            <a:extLst xmlns:a="http://schemas.openxmlformats.org/drawingml/2006/main">
              <a:ext uri="{FF2B5EF4-FFF2-40B4-BE49-F238E27FC236}">
                <a16:creationId xmlns:a16="http://schemas.microsoft.com/office/drawing/2014/main" id="{2A977288-E046-4D74-929C-DCA771C85667}"/>
              </a:ext>
            </a:extLst>
          </p:cNvPr>
          <p:cNvSpPr>
            <a:spLocks xmlns:a="http://schemas.openxmlformats.org/drawingml/2006/main" noGrp="1"/>
          </p:cNvSpPr>
          <p:nvPr/>
        </p:nvSpPr>
        <p:spPr>
          <a:xfrm xmlns:a="http://schemas.openxmlformats.org/drawingml/2006/main">
            <a:off x="6134100" y="4457700"/>
            <a:ext cx="4705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Tradeoff: instruction file size grows, but this benchmark scores execution cycles.</a:t>
            </a:r>
          </a:p>
        </p:txBody>
      </p:sp>
      <p:sp>
        <p:nvSpPr>
          <p:cNvPr id="22" name="">
            <a:extLst xmlns:a="http://schemas.openxmlformats.org/drawingml/2006/main">
              <a:ext uri="{FF2B5EF4-FFF2-40B4-BE49-F238E27FC236}">
                <a16:creationId xmlns:a16="http://schemas.microsoft.com/office/drawing/2014/main" id="{2E1163E2-2B32-4B10-B4D5-B49B8CD2D21C}"/>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8</a:t>
            </a:r>
          </a:p>
        </p:txBody>
      </p:sp>
    </p:spTree>
    <p:extLst>
      <p:ext uri="{BB962C8B-B14F-4D97-AF65-F5344CB8AC3E}">
        <p14:creationId xmlns:p14="http://schemas.microsoft.com/office/powerpoint/2010/main" val="9577338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B81A5B-8EB6-4BA2-B0B2-862F1E22DC9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463EC9-B468-43E3-89DC-974DAF0B770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29C807D-827C-465A-82E3-01CF7B40BB2E}"/>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SIMD</a:t>
            </a:r>
          </a:p>
        </p:txBody>
      </p:sp>
      <p:sp>
        <p:nvSpPr>
          <p:cNvPr id="4" name="">
            <a:extLst xmlns:a="http://schemas.openxmlformats.org/drawingml/2006/main">
              <a:ext uri="{FF2B5EF4-FFF2-40B4-BE49-F238E27FC236}">
                <a16:creationId xmlns:a16="http://schemas.microsoft.com/office/drawing/2014/main" id="{4EF0ABBE-FE13-4449-BCBC-DA28F5C88779}"/>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Leveraging SIMD: Turn 256 Scalar Walks Into 32 Vector Groups</a:t>
            </a:r>
          </a:p>
        </p:txBody>
      </p:sp>
      <p:sp>
        <p:nvSpPr>
          <p:cNvPr id="5" name="">
            <a:extLst xmlns:a="http://schemas.openxmlformats.org/drawingml/2006/main">
              <a:ext uri="{FF2B5EF4-FFF2-40B4-BE49-F238E27FC236}">
                <a16:creationId xmlns:a16="http://schemas.microsoft.com/office/drawing/2014/main" id="{5D8D8BA3-65A7-4DFA-87C6-1E33A3FF731E}"/>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Vectorization is the first structural change that dramatically changes the cycle curve.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0d0264d273248be"/>
          <a:stretch xmlns:a="http://schemas.openxmlformats.org/drawingml/2006/main"/>
        </p:blipFill>
        <p:spPr>
          <a:xfrm xmlns:a="http://schemas.openxmlformats.org/drawingml/2006/main">
            <a:off x="400050" y="1894210"/>
            <a:ext cx="6667500" cy="297433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EE9938F-04B1-4D9F-8F90-6C2E2FDDFD55}"/>
              </a:ext>
            </a:extLst>
          </p:cNvPr>
          <p:cNvSpPr>
            <a:spLocks xmlns:a="http://schemas.openxmlformats.org/drawingml/2006/main" noGrp="1"/>
          </p:cNvSpPr>
          <p:nvPr/>
        </p:nvSpPr>
        <p:spPr>
          <a:xfrm xmlns:a="http://schemas.openxmlformats.org/drawingml/2006/main">
            <a:off x="7524750" y="1485900"/>
            <a:ext cx="32385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 name="">
            <a:extLst xmlns:a="http://schemas.openxmlformats.org/drawingml/2006/main">
              <a:ext uri="{FF2B5EF4-FFF2-40B4-BE49-F238E27FC236}">
                <a16:creationId xmlns:a16="http://schemas.microsoft.com/office/drawing/2014/main" id="{04BF63A6-A7B0-4212-8209-92EF71FA532B}"/>
              </a:ext>
            </a:extLst>
          </p:cNvPr>
          <p:cNvSpPr>
            <a:spLocks xmlns:a="http://schemas.openxmlformats.org/drawingml/2006/main" noGrp="1"/>
          </p:cNvSpPr>
          <p:nvPr/>
        </p:nvSpPr>
        <p:spPr>
          <a:xfrm xmlns:a="http://schemas.openxmlformats.org/drawingml/2006/main">
            <a:off x="7677150" y="1619250"/>
            <a:ext cx="29337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7C3AED"/>
                </a:solidFill>
                <a:latin typeface="Aptos Display"/>
                <a:ea typeface="Aptos Display"/>
                <a:cs typeface="Aptos Display"/>
              </a:defRPr>
            </a:pPr>
            <a:r>
              <a:rPr sz="2100" b="1">
                <a:solidFill>
                  <a:srgbClr val="7C3AED"/>
                </a:solidFill>
                <a:latin typeface="Aptos Display"/>
                <a:ea typeface="Aptos Display"/>
                <a:cs typeface="Aptos Display"/>
              </a:rPr>
              <a:t>97,040 -&gt; 12,285</a:t>
            </a:r>
          </a:p>
        </p:txBody>
      </p:sp>
      <p:sp>
        <p:nvSpPr>
          <p:cNvPr id="9" name="">
            <a:extLst xmlns:a="http://schemas.openxmlformats.org/drawingml/2006/main">
              <a:ext uri="{FF2B5EF4-FFF2-40B4-BE49-F238E27FC236}">
                <a16:creationId xmlns:a16="http://schemas.microsoft.com/office/drawing/2014/main" id="{6B3296F7-0B72-4B45-B7EB-647C0EC30760}"/>
              </a:ext>
            </a:extLst>
          </p:cNvPr>
          <p:cNvSpPr>
            <a:spLocks xmlns:a="http://schemas.openxmlformats.org/drawingml/2006/main" noGrp="1"/>
          </p:cNvSpPr>
          <p:nvPr/>
        </p:nvSpPr>
        <p:spPr>
          <a:xfrm xmlns:a="http://schemas.openxmlformats.org/drawingml/2006/main">
            <a:off x="7677150" y="2038350"/>
            <a:ext cx="2933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cycles after SIMD vectorization</a:t>
            </a:r>
          </a:p>
        </p:txBody>
      </p:sp>
      <p:sp>
        <p:nvSpPr>
          <p:cNvPr id="10" name="">
            <a:extLst xmlns:a="http://schemas.openxmlformats.org/drawingml/2006/main">
              <a:ext uri="{FF2B5EF4-FFF2-40B4-BE49-F238E27FC236}">
                <a16:creationId xmlns:a16="http://schemas.microsoft.com/office/drawing/2014/main" id="{2D96515F-6D34-4B03-9C05-1C76083B62D6}"/>
              </a:ext>
            </a:extLst>
          </p:cNvPr>
          <p:cNvSpPr>
            <a:spLocks xmlns:a="http://schemas.openxmlformats.org/drawingml/2006/main" noGrp="1"/>
          </p:cNvSpPr>
          <p:nvPr/>
        </p:nvSpPr>
        <p:spPr>
          <a:xfrm xmlns:a="http://schemas.openxmlformats.org/drawingml/2006/main">
            <a:off x="7524750" y="2705100"/>
            <a:ext cx="3238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BEB12DB4-EAA9-4FDC-82AD-158AF678BB7B}"/>
              </a:ext>
            </a:extLst>
          </p:cNvPr>
          <p:cNvSpPr>
            <a:spLocks xmlns:a="http://schemas.openxmlformats.org/drawingml/2006/main" noGrp="1"/>
          </p:cNvSpPr>
          <p:nvPr/>
        </p:nvSpPr>
        <p:spPr>
          <a:xfrm xmlns:a="http://schemas.openxmlformats.org/drawingml/2006/main">
            <a:off x="7734300" y="29146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Batch geometry</a:t>
            </a:r>
          </a:p>
        </p:txBody>
      </p:sp>
      <p:sp>
        <p:nvSpPr>
          <p:cNvPr id="12" name="">
            <a:extLst xmlns:a="http://schemas.openxmlformats.org/drawingml/2006/main">
              <a:ext uri="{FF2B5EF4-FFF2-40B4-BE49-F238E27FC236}">
                <a16:creationId xmlns:a16="http://schemas.microsoft.com/office/drawing/2014/main" id="{D15FFA5B-8065-45CB-9B5A-B13EC141D066}"/>
              </a:ext>
            </a:extLst>
          </p:cNvPr>
          <p:cNvSpPr>
            <a:spLocks xmlns:a="http://schemas.openxmlformats.org/drawingml/2006/main" noGrp="1"/>
          </p:cNvSpPr>
          <p:nvPr/>
        </p:nvSpPr>
        <p:spPr>
          <a:xfrm xmlns:a="http://schemas.openxmlformats.org/drawingml/2006/main">
            <a:off x="7734300" y="327660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F172A"/>
                </a:solidFill>
                <a:latin typeface="Aptos"/>
                <a:ea typeface="Aptos"/>
                <a:cs typeface="Aptos"/>
              </a:defRPr>
            </a:pPr>
            <a:r>
              <a:rPr sz="1200" b="0">
                <a:solidFill>
                  <a:srgbClr val="0F172A"/>
                </a:solidFill>
                <a:latin typeface="Aptos"/>
                <a:ea typeface="Aptos"/>
                <a:cs typeface="Aptos"/>
              </a:rPr>
              <a:t>256 inputs / 8 SIMD lanes = 32 vector groups</a:t>
            </a:r>
          </a:p>
        </p:txBody>
      </p:sp>
      <p:sp>
        <p:nvSpPr>
          <p:cNvPr id="13" name="">
            <a:extLst xmlns:a="http://schemas.openxmlformats.org/drawingml/2006/main">
              <a:ext uri="{FF2B5EF4-FFF2-40B4-BE49-F238E27FC236}">
                <a16:creationId xmlns:a16="http://schemas.microsoft.com/office/drawing/2014/main" id="{01924340-E288-43F2-B2D9-405B38ABC186}"/>
              </a:ext>
            </a:extLst>
          </p:cNvPr>
          <p:cNvSpPr>
            <a:spLocks xmlns:a="http://schemas.openxmlformats.org/drawingml/2006/main" noGrp="1"/>
          </p:cNvSpPr>
          <p:nvPr/>
        </p:nvSpPr>
        <p:spPr>
          <a:xfrm xmlns:a="http://schemas.openxmlformats.org/drawingml/2006/main">
            <a:off x="7543800" y="417195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14" name="">
            <a:extLst xmlns:a="http://schemas.openxmlformats.org/drawingml/2006/main">
              <a:ext uri="{FF2B5EF4-FFF2-40B4-BE49-F238E27FC236}">
                <a16:creationId xmlns:a16="http://schemas.microsoft.com/office/drawing/2014/main" id="{44E8C93D-BE7C-46D8-A598-10A08F314505}"/>
              </a:ext>
            </a:extLst>
          </p:cNvPr>
          <p:cNvSpPr>
            <a:spLocks xmlns:a="http://schemas.openxmlformats.org/drawingml/2006/main" noGrp="1"/>
          </p:cNvSpPr>
          <p:nvPr/>
        </p:nvSpPr>
        <p:spPr>
          <a:xfrm xmlns:a="http://schemas.openxmlformats.org/drawingml/2006/main">
            <a:off x="7715250" y="4095750"/>
            <a:ext cx="3333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The hash pipeline, value update, branch-bit calculation, and many index updates operate lane-wise.</a:t>
            </a:r>
          </a:p>
        </p:txBody>
      </p:sp>
      <p:sp>
        <p:nvSpPr>
          <p:cNvPr id="15" name="">
            <a:extLst xmlns:a="http://schemas.openxmlformats.org/drawingml/2006/main">
              <a:ext uri="{FF2B5EF4-FFF2-40B4-BE49-F238E27FC236}">
                <a16:creationId xmlns:a16="http://schemas.microsoft.com/office/drawing/2014/main" id="{80CFE75E-5F24-4CB2-A029-28CC925549C4}"/>
              </a:ext>
            </a:extLst>
          </p:cNvPr>
          <p:cNvSpPr>
            <a:spLocks xmlns:a="http://schemas.openxmlformats.org/drawingml/2006/main" noGrp="1"/>
          </p:cNvSpPr>
          <p:nvPr/>
        </p:nvSpPr>
        <p:spPr>
          <a:xfrm xmlns:a="http://schemas.openxmlformats.org/drawingml/2006/main">
            <a:off x="7543800" y="468630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16" name="">
            <a:extLst xmlns:a="http://schemas.openxmlformats.org/drawingml/2006/main">
              <a:ext uri="{FF2B5EF4-FFF2-40B4-BE49-F238E27FC236}">
                <a16:creationId xmlns:a16="http://schemas.microsoft.com/office/drawing/2014/main" id="{28A5799B-23E9-4728-B26D-5ABDCA97AC94}"/>
              </a:ext>
            </a:extLst>
          </p:cNvPr>
          <p:cNvSpPr>
            <a:spLocks xmlns:a="http://schemas.openxmlformats.org/drawingml/2006/main" noGrp="1"/>
          </p:cNvSpPr>
          <p:nvPr/>
        </p:nvSpPr>
        <p:spPr>
          <a:xfrm xmlns:a="http://schemas.openxmlformats.org/drawingml/2006/main">
            <a:off x="7715250" y="4610100"/>
            <a:ext cx="3333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The trace shifts from scalar bookkeeping toward the VALU engine as the main workhorse.</a:t>
            </a:r>
          </a:p>
        </p:txBody>
      </p:sp>
      <p:sp>
        <p:nvSpPr>
          <p:cNvPr id="17" name="">
            <a:extLst xmlns:a="http://schemas.openxmlformats.org/drawingml/2006/main">
              <a:ext uri="{FF2B5EF4-FFF2-40B4-BE49-F238E27FC236}">
                <a16:creationId xmlns:a16="http://schemas.microsoft.com/office/drawing/2014/main" id="{15D64005-7542-42B3-8195-915D04FAD717}"/>
              </a:ext>
            </a:extLst>
          </p:cNvPr>
          <p:cNvSpPr>
            <a:spLocks xmlns:a="http://schemas.openxmlformats.org/drawingml/2006/main" noGrp="1"/>
          </p:cNvSpPr>
          <p:nvPr/>
        </p:nvSpPr>
        <p:spPr>
          <a:xfrm xmlns:a="http://schemas.openxmlformats.org/drawingml/2006/main">
            <a:off x="7543800" y="5200650"/>
            <a:ext cx="66675" cy="66675"/>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18" name="">
            <a:extLst xmlns:a="http://schemas.openxmlformats.org/drawingml/2006/main">
              <a:ext uri="{FF2B5EF4-FFF2-40B4-BE49-F238E27FC236}">
                <a16:creationId xmlns:a16="http://schemas.microsoft.com/office/drawing/2014/main" id="{AF767B11-D6FC-4765-9FBC-339F6D6274F2}"/>
              </a:ext>
            </a:extLst>
          </p:cNvPr>
          <p:cNvSpPr>
            <a:spLocks xmlns:a="http://schemas.openxmlformats.org/drawingml/2006/main" noGrp="1"/>
          </p:cNvSpPr>
          <p:nvPr/>
        </p:nvSpPr>
        <p:spPr>
          <a:xfrm xmlns:a="http://schemas.openxmlformats.org/drawingml/2006/main">
            <a:off x="7715250" y="5124450"/>
            <a:ext cx="33337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Narrative role: this is where hardware parallelism becomes central.</a:t>
            </a:r>
          </a:p>
        </p:txBody>
      </p:sp>
      <p:sp>
        <p:nvSpPr>
          <p:cNvPr id="19" name="">
            <a:extLst xmlns:a="http://schemas.openxmlformats.org/drawingml/2006/main">
              <a:ext uri="{FF2B5EF4-FFF2-40B4-BE49-F238E27FC236}">
                <a16:creationId xmlns:a16="http://schemas.microsoft.com/office/drawing/2014/main" id="{78C00F3A-A4CE-41EA-BC70-E37D6227307A}"/>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9</a:t>
            </a:r>
          </a:p>
        </p:txBody>
      </p:sp>
    </p:spTree>
    <p:extLst>
      <p:ext uri="{BB962C8B-B14F-4D97-AF65-F5344CB8AC3E}">
        <p14:creationId xmlns:p14="http://schemas.microsoft.com/office/powerpoint/2010/main" val="188303979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F63B98-1010-45C6-B2F6-3A1A02DEAE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5BD84EA-6505-40C6-875D-D990A9510D1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B450418-C953-4CF2-867A-5A4CFAB3FDCF}"/>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MEMORY</a:t>
            </a:r>
          </a:p>
        </p:txBody>
      </p:sp>
      <p:sp>
        <p:nvSpPr>
          <p:cNvPr id="4" name="">
            <a:extLst xmlns:a="http://schemas.openxmlformats.org/drawingml/2006/main">
              <a:ext uri="{FF2B5EF4-FFF2-40B4-BE49-F238E27FC236}">
                <a16:creationId xmlns:a16="http://schemas.microsoft.com/office/drawing/2014/main" id="{825742A8-51E6-4D08-9926-31192BF62649}"/>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Bottleneck Analysis: Memory Pressure Moves To Hot Tree Nodes</a:t>
            </a:r>
          </a:p>
        </p:txBody>
      </p:sp>
      <p:sp>
        <p:nvSpPr>
          <p:cNvPr id="5" name="">
            <a:extLst xmlns:a="http://schemas.openxmlformats.org/drawingml/2006/main">
              <a:ext uri="{FF2B5EF4-FFF2-40B4-BE49-F238E27FC236}">
                <a16:creationId xmlns:a16="http://schemas.microsoft.com/office/drawing/2014/main" id="{E1522525-B0F6-4CBD-A81E-87810D432B7B}"/>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After SIMD, the remaining gains come from reducing repeated memory work and regularizing I/O.</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5a30d5a422a4a9a"/>
          <a:stretch xmlns:a="http://schemas.openxmlformats.org/drawingml/2006/main"/>
        </p:blipFill>
        <p:spPr>
          <a:xfrm xmlns:a="http://schemas.openxmlformats.org/drawingml/2006/main">
            <a:off x="400050" y="2137172"/>
            <a:ext cx="3619500" cy="2488406"/>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3bef0ccf4224e25"/>
          <a:stretch xmlns:a="http://schemas.openxmlformats.org/drawingml/2006/main"/>
        </p:blipFill>
        <p:spPr>
          <a:xfrm xmlns:a="http://schemas.openxmlformats.org/drawingml/2006/main">
            <a:off x="4286250" y="1616422"/>
            <a:ext cx="3429000" cy="1529655"/>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aecc28ef0cf46fe"/>
          <a:stretch xmlns:a="http://schemas.openxmlformats.org/drawingml/2006/main"/>
        </p:blipFill>
        <p:spPr>
          <a:xfrm xmlns:a="http://schemas.openxmlformats.org/drawingml/2006/main">
            <a:off x="4286250" y="3873847"/>
            <a:ext cx="3429000" cy="152965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3BCDA4D-45AB-4E84-AEA0-0178D5363324}"/>
              </a:ext>
            </a:extLst>
          </p:cNvPr>
          <p:cNvSpPr>
            <a:spLocks xmlns:a="http://schemas.openxmlformats.org/drawingml/2006/main" noGrp="1"/>
          </p:cNvSpPr>
          <p:nvPr/>
        </p:nvSpPr>
        <p:spPr>
          <a:xfrm xmlns:a="http://schemas.openxmlformats.org/drawingml/2006/main">
            <a:off x="8096250" y="1447800"/>
            <a:ext cx="2762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0B91F36C-EA85-4F8A-BF19-FE13DF4D4325}"/>
              </a:ext>
            </a:extLst>
          </p:cNvPr>
          <p:cNvSpPr>
            <a:spLocks xmlns:a="http://schemas.openxmlformats.org/drawingml/2006/main" noGrp="1"/>
          </p:cNvSpPr>
          <p:nvPr/>
        </p:nvSpPr>
        <p:spPr>
          <a:xfrm xmlns:a="http://schemas.openxmlformats.org/drawingml/2006/main">
            <a:off x="8248650" y="1581150"/>
            <a:ext cx="2457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D97706"/>
                </a:solidFill>
                <a:latin typeface="Aptos Display"/>
                <a:ea typeface="Aptos Display"/>
                <a:cs typeface="Aptos Display"/>
              </a:defRPr>
            </a:pPr>
            <a:r>
              <a:rPr sz="2100" b="1">
                <a:solidFill>
                  <a:srgbClr val="D97706"/>
                </a:solidFill>
                <a:latin typeface="Aptos Display"/>
                <a:ea typeface="Aptos Display"/>
                <a:cs typeface="Aptos Display"/>
              </a:rPr>
              <a:t>12,285 -&gt; 11,856</a:t>
            </a:r>
          </a:p>
        </p:txBody>
      </p:sp>
      <p:sp>
        <p:nvSpPr>
          <p:cNvPr id="11" name="">
            <a:extLst xmlns:a="http://schemas.openxmlformats.org/drawingml/2006/main">
              <a:ext uri="{FF2B5EF4-FFF2-40B4-BE49-F238E27FC236}">
                <a16:creationId xmlns:a16="http://schemas.microsoft.com/office/drawing/2014/main" id="{78F622DC-E1CA-49B5-90F7-A233B4A6BC61}"/>
              </a:ext>
            </a:extLst>
          </p:cNvPr>
          <p:cNvSpPr>
            <a:spLocks xmlns:a="http://schemas.openxmlformats.org/drawingml/2006/main" noGrp="1"/>
          </p:cNvSpPr>
          <p:nvPr/>
        </p:nvSpPr>
        <p:spPr>
          <a:xfrm xmlns:a="http://schemas.openxmlformats.org/drawingml/2006/main">
            <a:off x="8248650" y="2000250"/>
            <a:ext cx="2457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cache hot upper tree levels</a:t>
            </a:r>
          </a:p>
        </p:txBody>
      </p:sp>
      <p:sp>
        <p:nvSpPr>
          <p:cNvPr id="12" name="">
            <a:extLst xmlns:a="http://schemas.openxmlformats.org/drawingml/2006/main">
              <a:ext uri="{FF2B5EF4-FFF2-40B4-BE49-F238E27FC236}">
                <a16:creationId xmlns:a16="http://schemas.microsoft.com/office/drawing/2014/main" id="{2BBF83EF-EF42-4462-B5F0-7388156FAE78}"/>
              </a:ext>
            </a:extLst>
          </p:cNvPr>
          <p:cNvSpPr>
            <a:spLocks xmlns:a="http://schemas.openxmlformats.org/drawingml/2006/main" noGrp="1"/>
          </p:cNvSpPr>
          <p:nvPr/>
        </p:nvSpPr>
        <p:spPr>
          <a:xfrm xmlns:a="http://schemas.openxmlformats.org/drawingml/2006/main">
            <a:off x="8096250" y="2514600"/>
            <a:ext cx="2762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32CC424D-10A6-41EF-865A-834CDDF5DA83}"/>
              </a:ext>
            </a:extLst>
          </p:cNvPr>
          <p:cNvSpPr>
            <a:spLocks xmlns:a="http://schemas.openxmlformats.org/drawingml/2006/main" noGrp="1"/>
          </p:cNvSpPr>
          <p:nvPr/>
        </p:nvSpPr>
        <p:spPr>
          <a:xfrm xmlns:a="http://schemas.openxmlformats.org/drawingml/2006/main">
            <a:off x="8248650" y="2647950"/>
            <a:ext cx="2457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D97706"/>
                </a:solidFill>
                <a:latin typeface="Aptos Display"/>
                <a:ea typeface="Aptos Display"/>
                <a:cs typeface="Aptos Display"/>
              </a:defRPr>
            </a:pPr>
            <a:r>
              <a:rPr sz="2100" b="1">
                <a:solidFill>
                  <a:srgbClr val="D97706"/>
                </a:solidFill>
                <a:latin typeface="Aptos Display"/>
                <a:ea typeface="Aptos Display"/>
                <a:cs typeface="Aptos Display"/>
              </a:rPr>
              <a:t>11,856 -&gt; 11,825</a:t>
            </a:r>
          </a:p>
        </p:txBody>
      </p:sp>
      <p:sp>
        <p:nvSpPr>
          <p:cNvPr id="14" name="">
            <a:extLst xmlns:a="http://schemas.openxmlformats.org/drawingml/2006/main">
              <a:ext uri="{FF2B5EF4-FFF2-40B4-BE49-F238E27FC236}">
                <a16:creationId xmlns:a16="http://schemas.microsoft.com/office/drawing/2014/main" id="{92FFF025-3306-4933-810C-295F56C13EA7}"/>
              </a:ext>
            </a:extLst>
          </p:cNvPr>
          <p:cNvSpPr>
            <a:spLocks xmlns:a="http://schemas.openxmlformats.org/drawingml/2006/main" noGrp="1"/>
          </p:cNvSpPr>
          <p:nvPr/>
        </p:nvSpPr>
        <p:spPr>
          <a:xfrm xmlns:a="http://schemas.openxmlformats.org/drawingml/2006/main">
            <a:off x="8248650" y="3067050"/>
            <a:ext cx="2457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stream value address updates</a:t>
            </a:r>
          </a:p>
        </p:txBody>
      </p:sp>
      <p:sp>
        <p:nvSpPr>
          <p:cNvPr id="15" name="">
            <a:extLst xmlns:a="http://schemas.openxmlformats.org/drawingml/2006/main">
              <a:ext uri="{FF2B5EF4-FFF2-40B4-BE49-F238E27FC236}">
                <a16:creationId xmlns:a16="http://schemas.microsoft.com/office/drawing/2014/main" id="{95CC1D01-08C1-4D75-BFDB-F967A60C618E}"/>
              </a:ext>
            </a:extLst>
          </p:cNvPr>
          <p:cNvSpPr>
            <a:spLocks xmlns:a="http://schemas.openxmlformats.org/drawingml/2006/main" noGrp="1"/>
          </p:cNvSpPr>
          <p:nvPr/>
        </p:nvSpPr>
        <p:spPr>
          <a:xfrm xmlns:a="http://schemas.openxmlformats.org/drawingml/2006/main">
            <a:off x="8096250" y="3810000"/>
            <a:ext cx="66675" cy="66675"/>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ln>
        </p:spPr>
      </p:sp>
      <p:sp>
        <p:nvSpPr>
          <p:cNvPr id="16" name="">
            <a:extLst xmlns:a="http://schemas.openxmlformats.org/drawingml/2006/main">
              <a:ext uri="{FF2B5EF4-FFF2-40B4-BE49-F238E27FC236}">
                <a16:creationId xmlns:a16="http://schemas.microsoft.com/office/drawing/2014/main" id="{2ED788C1-9AC6-4969-84A1-8BD116EB4149}"/>
              </a:ext>
            </a:extLst>
          </p:cNvPr>
          <p:cNvSpPr>
            <a:spLocks xmlns:a="http://schemas.openxmlformats.org/drawingml/2006/main" noGrp="1"/>
          </p:cNvSpPr>
          <p:nvPr/>
        </p:nvSpPr>
        <p:spPr>
          <a:xfrm xmlns:a="http://schemas.openxmlformats.org/drawingml/2006/main">
            <a:off x="8267700" y="3733800"/>
            <a:ext cx="3048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Upper tree nodes are reused by many inputs. The root is touched by every input; reuse halves each depth.</a:t>
            </a:r>
          </a:p>
        </p:txBody>
      </p:sp>
      <p:sp>
        <p:nvSpPr>
          <p:cNvPr id="17" name="">
            <a:extLst xmlns:a="http://schemas.openxmlformats.org/drawingml/2006/main">
              <a:ext uri="{FF2B5EF4-FFF2-40B4-BE49-F238E27FC236}">
                <a16:creationId xmlns:a16="http://schemas.microsoft.com/office/drawing/2014/main" id="{5853D704-3379-45EC-AABA-0DDA5AF0AC3D}"/>
              </a:ext>
            </a:extLst>
          </p:cNvPr>
          <p:cNvSpPr>
            <a:spLocks xmlns:a="http://schemas.openxmlformats.org/drawingml/2006/main" noGrp="1"/>
          </p:cNvSpPr>
          <p:nvPr/>
        </p:nvSpPr>
        <p:spPr>
          <a:xfrm xmlns:a="http://schemas.openxmlformats.org/drawingml/2006/main">
            <a:off x="8096250" y="4267200"/>
            <a:ext cx="66675" cy="66675"/>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ln>
        </p:spPr>
      </p:sp>
      <p:sp>
        <p:nvSpPr>
          <p:cNvPr id="18" name="">
            <a:extLst xmlns:a="http://schemas.openxmlformats.org/drawingml/2006/main">
              <a:ext uri="{FF2B5EF4-FFF2-40B4-BE49-F238E27FC236}">
                <a16:creationId xmlns:a16="http://schemas.microsoft.com/office/drawing/2014/main" id="{397E081C-0628-491F-BCDC-6AB5532768BC}"/>
              </a:ext>
            </a:extLst>
          </p:cNvPr>
          <p:cNvSpPr>
            <a:spLocks xmlns:a="http://schemas.openxmlformats.org/drawingml/2006/main" noGrp="1"/>
          </p:cNvSpPr>
          <p:nvPr/>
        </p:nvSpPr>
        <p:spPr>
          <a:xfrm xmlns:a="http://schemas.openxmlformats.org/drawingml/2006/main">
            <a:off x="8267700" y="4191000"/>
            <a:ext cx="3048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Caching shallow nodes replaces repeated gathers with scratch/vector selects.</a:t>
            </a:r>
          </a:p>
        </p:txBody>
      </p:sp>
      <p:sp>
        <p:nvSpPr>
          <p:cNvPr id="19" name="">
            <a:extLst xmlns:a="http://schemas.openxmlformats.org/drawingml/2006/main">
              <a:ext uri="{FF2B5EF4-FFF2-40B4-BE49-F238E27FC236}">
                <a16:creationId xmlns:a16="http://schemas.microsoft.com/office/drawing/2014/main" id="{57D60AE4-C477-4511-9346-B33F59B41653}"/>
              </a:ext>
            </a:extLst>
          </p:cNvPr>
          <p:cNvSpPr>
            <a:spLocks xmlns:a="http://schemas.openxmlformats.org/drawingml/2006/main" noGrp="1"/>
          </p:cNvSpPr>
          <p:nvPr/>
        </p:nvSpPr>
        <p:spPr>
          <a:xfrm xmlns:a="http://schemas.openxmlformats.org/drawingml/2006/main">
            <a:off x="8096250" y="4724400"/>
            <a:ext cx="66675" cy="66675"/>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ln>
        </p:spPr>
      </p:sp>
      <p:sp>
        <p:nvSpPr>
          <p:cNvPr id="20" name="">
            <a:extLst xmlns:a="http://schemas.openxmlformats.org/drawingml/2006/main">
              <a:ext uri="{FF2B5EF4-FFF2-40B4-BE49-F238E27FC236}">
                <a16:creationId xmlns:a16="http://schemas.microsoft.com/office/drawing/2014/main" id="{B4FAFEC6-D65B-4BB2-A7F5-8172674158EB}"/>
              </a:ext>
            </a:extLst>
          </p:cNvPr>
          <p:cNvSpPr>
            <a:spLocks xmlns:a="http://schemas.openxmlformats.org/drawingml/2006/main" noGrp="1"/>
          </p:cNvSpPr>
          <p:nvPr/>
        </p:nvSpPr>
        <p:spPr>
          <a:xfrm xmlns:a="http://schemas.openxmlformats.org/drawingml/2006/main">
            <a:off x="8267700" y="4648200"/>
            <a:ext cx="3048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Streaming value I/O makes address generation a compact moving-pointer pattern.</a:t>
            </a:r>
          </a:p>
        </p:txBody>
      </p:sp>
      <p:sp>
        <p:nvSpPr>
          <p:cNvPr id="21" name="">
            <a:extLst xmlns:a="http://schemas.openxmlformats.org/drawingml/2006/main">
              <a:ext uri="{FF2B5EF4-FFF2-40B4-BE49-F238E27FC236}">
                <a16:creationId xmlns:a16="http://schemas.microsoft.com/office/drawing/2014/main" id="{ADEE3A84-6739-4DBC-8CD8-406C1A3A1058}"/>
              </a:ext>
            </a:extLst>
          </p:cNvPr>
          <p:cNvSpPr>
            <a:spLocks xmlns:a="http://schemas.openxmlformats.org/drawingml/2006/main" noGrp="1"/>
          </p:cNvSpPr>
          <p:nvPr/>
        </p:nvSpPr>
        <p:spPr>
          <a:xfrm xmlns:a="http://schemas.openxmlformats.org/drawingml/2006/main">
            <a:off x="8096250" y="5181600"/>
            <a:ext cx="66675" cy="66675"/>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ln>
        </p:spPr>
      </p:sp>
      <p:sp>
        <p:nvSpPr>
          <p:cNvPr id="22" name="">
            <a:extLst xmlns:a="http://schemas.openxmlformats.org/drawingml/2006/main">
              <a:ext uri="{FF2B5EF4-FFF2-40B4-BE49-F238E27FC236}">
                <a16:creationId xmlns:a16="http://schemas.microsoft.com/office/drawing/2014/main" id="{A4F569A3-95F4-4650-9637-5187FE75C3B1}"/>
              </a:ext>
            </a:extLst>
          </p:cNvPr>
          <p:cNvSpPr>
            <a:spLocks xmlns:a="http://schemas.openxmlformats.org/drawingml/2006/main" noGrp="1"/>
          </p:cNvSpPr>
          <p:nvPr/>
        </p:nvSpPr>
        <p:spPr>
          <a:xfrm xmlns:a="http://schemas.openxmlformats.org/drawingml/2006/main">
            <a:off x="8267700" y="5105400"/>
            <a:ext cx="3048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Narrative role: Perfetto shifts the question from 'can I vectorize?' to 'what resource is binding now?'</a:t>
            </a:r>
          </a:p>
        </p:txBody>
      </p:sp>
      <p:sp>
        <p:nvSpPr>
          <p:cNvPr id="23" name="">
            <a:extLst xmlns:a="http://schemas.openxmlformats.org/drawingml/2006/main">
              <a:ext uri="{FF2B5EF4-FFF2-40B4-BE49-F238E27FC236}">
                <a16:creationId xmlns:a16="http://schemas.microsoft.com/office/drawing/2014/main" id="{3DD373A1-9A8F-472B-AE6E-711B61D50B76}"/>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10</a:t>
            </a:r>
          </a:p>
        </p:txBody>
      </p:sp>
    </p:spTree>
    <p:extLst>
      <p:ext uri="{BB962C8B-B14F-4D97-AF65-F5344CB8AC3E}">
        <p14:creationId xmlns:p14="http://schemas.microsoft.com/office/powerpoint/2010/main" val="2109811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861BF3-8D4F-43DC-8380-22C74B43E3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522CAE-BC69-4192-A725-3EF48F917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4341E4E-58C9-45E5-AF0A-D62B68E0CDC0}"/>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PARALLEL WORK</a:t>
            </a:r>
          </a:p>
        </p:txBody>
      </p:sp>
      <p:sp>
        <p:nvSpPr>
          <p:cNvPr id="4" name="">
            <a:extLst xmlns:a="http://schemas.openxmlformats.org/drawingml/2006/main">
              <a:ext uri="{FF2B5EF4-FFF2-40B4-BE49-F238E27FC236}">
                <a16:creationId xmlns:a16="http://schemas.microsoft.com/office/drawing/2014/main" id="{3E4FD351-8D81-4304-B6B9-83308BB1648F}"/>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Exposing Independent Work: Temporary Banks</a:t>
            </a:r>
          </a:p>
        </p:txBody>
      </p:sp>
      <p:sp>
        <p:nvSpPr>
          <p:cNvPr id="5" name="">
            <a:extLst xmlns:a="http://schemas.openxmlformats.org/drawingml/2006/main">
              <a:ext uri="{FF2B5EF4-FFF2-40B4-BE49-F238E27FC236}">
                <a16:creationId xmlns:a16="http://schemas.microsoft.com/office/drawing/2014/main" id="{B9D7DF56-0E71-4640-AE5F-831262BEFE4F}"/>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scheduler can only pack operations that look independent in scratch/register space.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9dcd7081745407d"/>
          <a:stretch xmlns:a="http://schemas.openxmlformats.org/drawingml/2006/main"/>
        </p:blipFill>
        <p:spPr>
          <a:xfrm xmlns:a="http://schemas.openxmlformats.org/drawingml/2006/main">
            <a:off x="432578" y="1409700"/>
            <a:ext cx="4697443" cy="209550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471f5c6870140b8"/>
          <a:stretch xmlns:a="http://schemas.openxmlformats.org/drawingml/2006/main"/>
        </p:blipFill>
        <p:spPr>
          <a:xfrm xmlns:a="http://schemas.openxmlformats.org/drawingml/2006/main">
            <a:off x="432578" y="3886200"/>
            <a:ext cx="4697443" cy="2095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013C10C-28EA-4317-8295-AA353D762C02}"/>
              </a:ext>
            </a:extLst>
          </p:cNvPr>
          <p:cNvSpPr>
            <a:spLocks xmlns:a="http://schemas.openxmlformats.org/drawingml/2006/main" noGrp="1"/>
          </p:cNvSpPr>
          <p:nvPr/>
        </p:nvSpPr>
        <p:spPr>
          <a:xfrm xmlns:a="http://schemas.openxmlformats.org/drawingml/2006/main">
            <a:off x="5791200" y="1428750"/>
            <a:ext cx="3333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EBAB00B5-B2A9-4CB0-94CF-32AC5F462FB4}"/>
              </a:ext>
            </a:extLst>
          </p:cNvPr>
          <p:cNvSpPr>
            <a:spLocks xmlns:a="http://schemas.openxmlformats.org/drawingml/2006/main" noGrp="1"/>
          </p:cNvSpPr>
          <p:nvPr/>
        </p:nvSpPr>
        <p:spPr>
          <a:xfrm xmlns:a="http://schemas.openxmlformats.org/drawingml/2006/main">
            <a:off x="5943600" y="1562100"/>
            <a:ext cx="30289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E123C"/>
                </a:solidFill>
                <a:latin typeface="Aptos Display"/>
                <a:ea typeface="Aptos Display"/>
                <a:cs typeface="Aptos Display"/>
              </a:defRPr>
            </a:pPr>
            <a:r>
              <a:rPr sz="2100" b="1">
                <a:solidFill>
                  <a:srgbClr val="BE123C"/>
                </a:solidFill>
                <a:latin typeface="Aptos Display"/>
                <a:ea typeface="Aptos Display"/>
                <a:cs typeface="Aptos Display"/>
              </a:rPr>
              <a:t>11,825 -&gt; 8,884</a:t>
            </a:r>
          </a:p>
        </p:txBody>
      </p:sp>
      <p:sp>
        <p:nvSpPr>
          <p:cNvPr id="10" name="">
            <a:extLst xmlns:a="http://schemas.openxmlformats.org/drawingml/2006/main">
              <a:ext uri="{FF2B5EF4-FFF2-40B4-BE49-F238E27FC236}">
                <a16:creationId xmlns:a16="http://schemas.microsoft.com/office/drawing/2014/main" id="{07CDCC42-EEB3-4A6D-B471-01E64485BD62}"/>
              </a:ext>
            </a:extLst>
          </p:cNvPr>
          <p:cNvSpPr>
            <a:spLocks xmlns:a="http://schemas.openxmlformats.org/drawingml/2006/main" noGrp="1"/>
          </p:cNvSpPr>
          <p:nvPr/>
        </p:nvSpPr>
        <p:spPr>
          <a:xfrm xmlns:a="http://schemas.openxmlformats.org/drawingml/2006/main">
            <a:off x="5943600" y="1981200"/>
            <a:ext cx="30289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cycles after temp banks and local packing</a:t>
            </a:r>
          </a:p>
        </p:txBody>
      </p:sp>
      <p:sp>
        <p:nvSpPr>
          <p:cNvPr id="11" name="">
            <a:extLst xmlns:a="http://schemas.openxmlformats.org/drawingml/2006/main">
              <a:ext uri="{FF2B5EF4-FFF2-40B4-BE49-F238E27FC236}">
                <a16:creationId xmlns:a16="http://schemas.microsoft.com/office/drawing/2014/main" id="{ED0549B4-8DBD-4894-B475-8F9DECB572A8}"/>
              </a:ext>
            </a:extLst>
          </p:cNvPr>
          <p:cNvSpPr>
            <a:spLocks xmlns:a="http://schemas.openxmlformats.org/drawingml/2006/main" noGrp="1"/>
          </p:cNvSpPr>
          <p:nvPr/>
        </p:nvSpPr>
        <p:spPr>
          <a:xfrm xmlns:a="http://schemas.openxmlformats.org/drawingml/2006/main">
            <a:off x="5791200" y="2686050"/>
            <a:ext cx="47625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44C790B7-2124-458C-9D84-88CD0A3501C0}"/>
              </a:ext>
            </a:extLst>
          </p:cNvPr>
          <p:cNvSpPr>
            <a:spLocks xmlns:a="http://schemas.openxmlformats.org/drawingml/2006/main" noGrp="1"/>
          </p:cNvSpPr>
          <p:nvPr/>
        </p:nvSpPr>
        <p:spPr>
          <a:xfrm xmlns:a="http://schemas.openxmlformats.org/drawingml/2006/main">
            <a:off x="6019800" y="28765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Why temp banks matter</a:t>
            </a:r>
          </a:p>
        </p:txBody>
      </p:sp>
      <p:sp>
        <p:nvSpPr>
          <p:cNvPr id="13" name="">
            <a:extLst xmlns:a="http://schemas.openxmlformats.org/drawingml/2006/main">
              <a:ext uri="{FF2B5EF4-FFF2-40B4-BE49-F238E27FC236}">
                <a16:creationId xmlns:a16="http://schemas.microsoft.com/office/drawing/2014/main" id="{ACCB9ECB-C536-42BF-94FF-781D93E8ECF9}"/>
              </a:ext>
            </a:extLst>
          </p:cNvPr>
          <p:cNvSpPr>
            <a:spLocks xmlns:a="http://schemas.openxmlformats.org/drawingml/2006/main" noGrp="1"/>
          </p:cNvSpPr>
          <p:nvPr/>
        </p:nvSpPr>
        <p:spPr>
          <a:xfrm xmlns:a="http://schemas.openxmlformats.org/drawingml/2006/main">
            <a:off x="6019800" y="3219450"/>
            <a:ext cx="4095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If unrelated vector groups reuse the same scratch names, dependency analysis treats them as serialized. Multiple temp banks give independent groups separate names so more operations can be ready at the same time.</a:t>
            </a:r>
          </a:p>
        </p:txBody>
      </p:sp>
      <p:sp>
        <p:nvSpPr>
          <p:cNvPr id="14" name="">
            <a:extLst xmlns:a="http://schemas.openxmlformats.org/drawingml/2006/main">
              <a:ext uri="{FF2B5EF4-FFF2-40B4-BE49-F238E27FC236}">
                <a16:creationId xmlns:a16="http://schemas.microsoft.com/office/drawing/2014/main" id="{DE0797E2-DECB-4EB7-BCD9-56B991A944E3}"/>
              </a:ext>
            </a:extLst>
          </p:cNvPr>
          <p:cNvSpPr>
            <a:spLocks xmlns:a="http://schemas.openxmlformats.org/drawingml/2006/main" noGrp="1"/>
          </p:cNvSpPr>
          <p:nvPr/>
        </p:nvSpPr>
        <p:spPr>
          <a:xfrm xmlns:a="http://schemas.openxmlformats.org/drawingml/2006/main">
            <a:off x="5848350" y="436245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5" name="">
            <a:extLst xmlns:a="http://schemas.openxmlformats.org/drawingml/2006/main">
              <a:ext uri="{FF2B5EF4-FFF2-40B4-BE49-F238E27FC236}">
                <a16:creationId xmlns:a16="http://schemas.microsoft.com/office/drawing/2014/main" id="{20140BE2-BA89-4945-85B3-476A0552C1DE}"/>
              </a:ext>
            </a:extLst>
          </p:cNvPr>
          <p:cNvSpPr>
            <a:spLocks xmlns:a="http://schemas.openxmlformats.org/drawingml/2006/main" noGrp="1"/>
          </p:cNvSpPr>
          <p:nvPr/>
        </p:nvSpPr>
        <p:spPr>
          <a:xfrm xmlns:a="http://schemas.openxmlformats.org/drawingml/2006/main">
            <a:off x="6019800" y="4286250"/>
            <a:ext cx="42862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This is not yet the global VLIW scheduler.</a:t>
            </a:r>
          </a:p>
        </p:txBody>
      </p:sp>
      <p:sp>
        <p:nvSpPr>
          <p:cNvPr id="16" name="">
            <a:extLst xmlns:a="http://schemas.openxmlformats.org/drawingml/2006/main">
              <a:ext uri="{FF2B5EF4-FFF2-40B4-BE49-F238E27FC236}">
                <a16:creationId xmlns:a16="http://schemas.microsoft.com/office/drawing/2014/main" id="{1C6D5517-5894-4732-8D11-6D3E60CA8CD9}"/>
              </a:ext>
            </a:extLst>
          </p:cNvPr>
          <p:cNvSpPr>
            <a:spLocks xmlns:a="http://schemas.openxmlformats.org/drawingml/2006/main" noGrp="1"/>
          </p:cNvSpPr>
          <p:nvPr/>
        </p:nvSpPr>
        <p:spPr>
          <a:xfrm xmlns:a="http://schemas.openxmlformats.org/drawingml/2006/main">
            <a:off x="5848350" y="483870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7" name="">
            <a:extLst xmlns:a="http://schemas.openxmlformats.org/drawingml/2006/main">
              <a:ext uri="{FF2B5EF4-FFF2-40B4-BE49-F238E27FC236}">
                <a16:creationId xmlns:a16="http://schemas.microsoft.com/office/drawing/2014/main" id="{23420841-5E25-4C91-B888-8BCAA8668819}"/>
              </a:ext>
            </a:extLst>
          </p:cNvPr>
          <p:cNvSpPr>
            <a:spLocks xmlns:a="http://schemas.openxmlformats.org/drawingml/2006/main" noGrp="1"/>
          </p:cNvSpPr>
          <p:nvPr/>
        </p:nvSpPr>
        <p:spPr>
          <a:xfrm xmlns:a="http://schemas.openxmlformats.org/drawingml/2006/main">
            <a:off x="6019800" y="4762500"/>
            <a:ext cx="42862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It prepares the program so a real scheduler has enough independent work to choose from.</a:t>
            </a:r>
          </a:p>
        </p:txBody>
      </p:sp>
      <p:sp>
        <p:nvSpPr>
          <p:cNvPr id="18" name="">
            <a:extLst xmlns:a="http://schemas.openxmlformats.org/drawingml/2006/main">
              <a:ext uri="{FF2B5EF4-FFF2-40B4-BE49-F238E27FC236}">
                <a16:creationId xmlns:a16="http://schemas.microsoft.com/office/drawing/2014/main" id="{956BDA50-5E05-49BB-8817-B6BAC1825254}"/>
              </a:ext>
            </a:extLst>
          </p:cNvPr>
          <p:cNvSpPr>
            <a:spLocks xmlns:a="http://schemas.openxmlformats.org/drawingml/2006/main" noGrp="1"/>
          </p:cNvSpPr>
          <p:nvPr/>
        </p:nvSpPr>
        <p:spPr>
          <a:xfrm xmlns:a="http://schemas.openxmlformats.org/drawingml/2006/main">
            <a:off x="5848350" y="5314950"/>
            <a:ext cx="66675" cy="66675"/>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19" name="">
            <a:extLst xmlns:a="http://schemas.openxmlformats.org/drawingml/2006/main">
              <a:ext uri="{FF2B5EF4-FFF2-40B4-BE49-F238E27FC236}">
                <a16:creationId xmlns:a16="http://schemas.microsoft.com/office/drawing/2014/main" id="{7384877E-5C0F-4CF6-8F3D-89AF53C70F54}"/>
              </a:ext>
            </a:extLst>
          </p:cNvPr>
          <p:cNvSpPr>
            <a:spLocks xmlns:a="http://schemas.openxmlformats.org/drawingml/2006/main" noGrp="1"/>
          </p:cNvSpPr>
          <p:nvPr/>
        </p:nvSpPr>
        <p:spPr>
          <a:xfrm xmlns:a="http://schemas.openxmlformats.org/drawingml/2006/main">
            <a:off x="6019800" y="5238750"/>
            <a:ext cx="42862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Narrative role: separate algorithmic parallelism from whether the generated code exposes that parallelism.</a:t>
            </a:r>
          </a:p>
        </p:txBody>
      </p:sp>
      <p:sp>
        <p:nvSpPr>
          <p:cNvPr id="20" name="">
            <a:extLst xmlns:a="http://schemas.openxmlformats.org/drawingml/2006/main">
              <a:ext uri="{FF2B5EF4-FFF2-40B4-BE49-F238E27FC236}">
                <a16:creationId xmlns:a16="http://schemas.microsoft.com/office/drawing/2014/main" id="{EF039555-4151-470E-9088-091AA876DED3}"/>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11</a:t>
            </a:r>
          </a:p>
        </p:txBody>
      </p:sp>
    </p:spTree>
    <p:extLst>
      <p:ext uri="{BB962C8B-B14F-4D97-AF65-F5344CB8AC3E}">
        <p14:creationId xmlns:p14="http://schemas.microsoft.com/office/powerpoint/2010/main" val="9986371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C450265-5AB8-4BCD-852A-53380749D8D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E286175-8A11-412E-850F-DC20DFC3A6C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D6CECDB-C259-40C4-A94F-F69C68853E46}"/>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SCHEDULING</a:t>
            </a:r>
          </a:p>
        </p:txBody>
      </p:sp>
      <p:sp>
        <p:nvSpPr>
          <p:cNvPr id="4" name="">
            <a:extLst xmlns:a="http://schemas.openxmlformats.org/drawingml/2006/main">
              <a:ext uri="{FF2B5EF4-FFF2-40B4-BE49-F238E27FC236}">
                <a16:creationId xmlns:a16="http://schemas.microsoft.com/office/drawing/2014/main" id="{7087D4D3-2B4D-47ED-A972-B182C9DEE93E}"/>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A Better Scheduler: Pack Independent Ops Into VLIW Slots</a:t>
            </a:r>
          </a:p>
        </p:txBody>
      </p:sp>
      <p:sp>
        <p:nvSpPr>
          <p:cNvPr id="5" name="">
            <a:extLst xmlns:a="http://schemas.openxmlformats.org/drawingml/2006/main">
              <a:ext uri="{FF2B5EF4-FFF2-40B4-BE49-F238E27FC236}">
                <a16:creationId xmlns:a16="http://schemas.microsoft.com/office/drawing/2014/main" id="{912BED47-16B6-4CC3-9FB6-B5D03B096F0D}"/>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final major gain comes from dependency-aware cross-engine scheduling.</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0fd6e63912d41dd"/>
          <a:stretch xmlns:a="http://schemas.openxmlformats.org/drawingml/2006/main"/>
        </p:blipFill>
        <p:spPr>
          <a:xfrm xmlns:a="http://schemas.openxmlformats.org/drawingml/2006/main">
            <a:off x="516318" y="1381125"/>
            <a:ext cx="4910963" cy="2190750"/>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ae7907bf894e0c"/>
          <a:stretch xmlns:a="http://schemas.openxmlformats.org/drawingml/2006/main"/>
        </p:blipFill>
        <p:spPr>
          <a:xfrm xmlns:a="http://schemas.openxmlformats.org/drawingml/2006/main">
            <a:off x="516318" y="3857625"/>
            <a:ext cx="4910963" cy="2190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F95004-23F7-44E7-985F-40092D44C94B}"/>
              </a:ext>
            </a:extLst>
          </p:cNvPr>
          <p:cNvSpPr>
            <a:spLocks xmlns:a="http://schemas.openxmlformats.org/drawingml/2006/main" noGrp="1"/>
          </p:cNvSpPr>
          <p:nvPr/>
        </p:nvSpPr>
        <p:spPr>
          <a:xfrm xmlns:a="http://schemas.openxmlformats.org/drawingml/2006/main">
            <a:off x="6000750" y="1428750"/>
            <a:ext cx="2333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07B82234-8C53-4750-8666-F129BA0C8D94}"/>
              </a:ext>
            </a:extLst>
          </p:cNvPr>
          <p:cNvSpPr>
            <a:spLocks xmlns:a="http://schemas.openxmlformats.org/drawingml/2006/main" noGrp="1"/>
          </p:cNvSpPr>
          <p:nvPr/>
        </p:nvSpPr>
        <p:spPr>
          <a:xfrm xmlns:a="http://schemas.openxmlformats.org/drawingml/2006/main">
            <a:off x="6153150" y="1562100"/>
            <a:ext cx="2028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563EB"/>
                </a:solidFill>
                <a:latin typeface="Aptos Display"/>
                <a:ea typeface="Aptos Display"/>
                <a:cs typeface="Aptos Display"/>
              </a:defRPr>
            </a:pPr>
            <a:r>
              <a:rPr sz="2100" b="1">
                <a:solidFill>
                  <a:srgbClr val="2563EB"/>
                </a:solidFill>
                <a:latin typeface="Aptos Display"/>
                <a:ea typeface="Aptos Display"/>
                <a:cs typeface="Aptos Display"/>
              </a:rPr>
              <a:t>8,884 -&gt; 1,291</a:t>
            </a:r>
          </a:p>
        </p:txBody>
      </p:sp>
      <p:sp>
        <p:nvSpPr>
          <p:cNvPr id="10" name="">
            <a:extLst xmlns:a="http://schemas.openxmlformats.org/drawingml/2006/main">
              <a:ext uri="{FF2B5EF4-FFF2-40B4-BE49-F238E27FC236}">
                <a16:creationId xmlns:a16="http://schemas.microsoft.com/office/drawing/2014/main" id="{C816B37D-E106-489D-82F0-F8F1D08B6100}"/>
              </a:ext>
            </a:extLst>
          </p:cNvPr>
          <p:cNvSpPr>
            <a:spLocks xmlns:a="http://schemas.openxmlformats.org/drawingml/2006/main" noGrp="1"/>
          </p:cNvSpPr>
          <p:nvPr/>
        </p:nvSpPr>
        <p:spPr>
          <a:xfrm xmlns:a="http://schemas.openxmlformats.org/drawingml/2006/main">
            <a:off x="6153150" y="1981200"/>
            <a:ext cx="20288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global VLIW scheduling</a:t>
            </a:r>
          </a:p>
        </p:txBody>
      </p:sp>
      <p:sp>
        <p:nvSpPr>
          <p:cNvPr id="11" name="">
            <a:extLst xmlns:a="http://schemas.openxmlformats.org/drawingml/2006/main">
              <a:ext uri="{FF2B5EF4-FFF2-40B4-BE49-F238E27FC236}">
                <a16:creationId xmlns:a16="http://schemas.microsoft.com/office/drawing/2014/main" id="{388A5D4B-C5DD-459A-883C-24556B0F34C0}"/>
              </a:ext>
            </a:extLst>
          </p:cNvPr>
          <p:cNvSpPr>
            <a:spLocks xmlns:a="http://schemas.openxmlformats.org/drawingml/2006/main" noGrp="1"/>
          </p:cNvSpPr>
          <p:nvPr/>
        </p:nvSpPr>
        <p:spPr>
          <a:xfrm xmlns:a="http://schemas.openxmlformats.org/drawingml/2006/main">
            <a:off x="8524875" y="1428750"/>
            <a:ext cx="2333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3A76EBE4-ED07-4478-8E30-A8143E31BC97}"/>
              </a:ext>
            </a:extLst>
          </p:cNvPr>
          <p:cNvSpPr>
            <a:spLocks xmlns:a="http://schemas.openxmlformats.org/drawingml/2006/main" noGrp="1"/>
          </p:cNvSpPr>
          <p:nvPr/>
        </p:nvSpPr>
        <p:spPr>
          <a:xfrm xmlns:a="http://schemas.openxmlformats.org/drawingml/2006/main">
            <a:off x="8677275" y="1562100"/>
            <a:ext cx="2028825"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A34A"/>
                </a:solidFill>
                <a:latin typeface="Aptos Display"/>
                <a:ea typeface="Aptos Display"/>
                <a:cs typeface="Aptos Display"/>
              </a:defRPr>
            </a:pPr>
            <a:r>
              <a:rPr sz="2100" b="1">
                <a:solidFill>
                  <a:srgbClr val="16A34A"/>
                </a:solidFill>
                <a:latin typeface="Aptos Display"/>
                <a:ea typeface="Aptos Display"/>
                <a:cs typeface="Aptos Display"/>
              </a:rPr>
              <a:t>1,291 -&gt; 1,184</a:t>
            </a:r>
          </a:p>
        </p:txBody>
      </p:sp>
      <p:sp>
        <p:nvSpPr>
          <p:cNvPr id="13" name="">
            <a:extLst xmlns:a="http://schemas.openxmlformats.org/drawingml/2006/main">
              <a:ext uri="{FF2B5EF4-FFF2-40B4-BE49-F238E27FC236}">
                <a16:creationId xmlns:a16="http://schemas.microsoft.com/office/drawing/2014/main" id="{B84C218A-CB08-4896-9979-249755F5E949}"/>
              </a:ext>
            </a:extLst>
          </p:cNvPr>
          <p:cNvSpPr>
            <a:spLocks xmlns:a="http://schemas.openxmlformats.org/drawingml/2006/main" noGrp="1"/>
          </p:cNvSpPr>
          <p:nvPr/>
        </p:nvSpPr>
        <p:spPr>
          <a:xfrm xmlns:a="http://schemas.openxmlformats.org/drawingml/2006/main">
            <a:off x="8677275" y="1981200"/>
            <a:ext cx="202882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final scheduler refinements</a:t>
            </a:r>
          </a:p>
        </p:txBody>
      </p:sp>
      <p:sp>
        <p:nvSpPr>
          <p:cNvPr id="14" name="">
            <a:extLst xmlns:a="http://schemas.openxmlformats.org/drawingml/2006/main">
              <a:ext uri="{FF2B5EF4-FFF2-40B4-BE49-F238E27FC236}">
                <a16:creationId xmlns:a16="http://schemas.microsoft.com/office/drawing/2014/main" id="{22112E02-91F6-49A6-994C-D69B2084F22B}"/>
              </a:ext>
            </a:extLst>
          </p:cNvPr>
          <p:cNvSpPr>
            <a:spLocks xmlns:a="http://schemas.openxmlformats.org/drawingml/2006/main" noGrp="1"/>
          </p:cNvSpPr>
          <p:nvPr/>
        </p:nvSpPr>
        <p:spPr>
          <a:xfrm xmlns:a="http://schemas.openxmlformats.org/drawingml/2006/main">
            <a:off x="6000750" y="2647950"/>
            <a:ext cx="4857750" cy="12763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CBC2D8E9-93C4-4F5B-B0C0-8207A3E8601A}"/>
              </a:ext>
            </a:extLst>
          </p:cNvPr>
          <p:cNvSpPr>
            <a:spLocks xmlns:a="http://schemas.openxmlformats.org/drawingml/2006/main" noGrp="1"/>
          </p:cNvSpPr>
          <p:nvPr/>
        </p:nvSpPr>
        <p:spPr>
          <a:xfrm xmlns:a="http://schemas.openxmlformats.org/drawingml/2006/main">
            <a:off x="6229350" y="2857500"/>
            <a:ext cx="3238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Dependency hazards modeled by the scheduler</a:t>
            </a:r>
          </a:p>
        </p:txBody>
      </p:sp>
      <p:sp>
        <p:nvSpPr>
          <p:cNvPr id="16" name="">
            <a:extLst xmlns:a="http://schemas.openxmlformats.org/drawingml/2006/main">
              <a:ext uri="{FF2B5EF4-FFF2-40B4-BE49-F238E27FC236}">
                <a16:creationId xmlns:a16="http://schemas.microsoft.com/office/drawing/2014/main" id="{DD75309B-EAE9-41D5-AD64-C301EE288292}"/>
              </a:ext>
            </a:extLst>
          </p:cNvPr>
          <p:cNvSpPr>
            <a:spLocks xmlns:a="http://schemas.openxmlformats.org/drawingml/2006/main" noGrp="1"/>
          </p:cNvSpPr>
          <p:nvPr/>
        </p:nvSpPr>
        <p:spPr>
          <a:xfrm xmlns:a="http://schemas.openxmlformats.org/drawingml/2006/main">
            <a:off x="6229350" y="3219450"/>
            <a:ext cx="4095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Mono"/>
                <a:ea typeface="Aptos Mono"/>
                <a:cs typeface="Aptos Mono"/>
              </a:defRPr>
            </a:pPr>
            <a:r>
              <a:rPr sz="1013" b="0">
                <a:solidFill>
                  <a:srgbClr val="0F172A"/>
                </a:solidFill>
                <a:latin typeface="Aptos Mono"/>
                <a:ea typeface="Aptos Mono"/>
                <a:cs typeface="Aptos Mono"/>
              </a:rPr>
              <a:t>RAW: consumer reads a value after producer writes it</a:t>
            </a:r>
          </a:p>
          <a:p xmlns:a="http://schemas.openxmlformats.org/drawingml/2006/main">
            <a:pPr algn="l">
              <a:defRPr sz="1013" b="0">
                <a:solidFill>
                  <a:srgbClr val="0F172A"/>
                </a:solidFill>
                <a:latin typeface="Aptos Mono"/>
                <a:ea typeface="Aptos Mono"/>
                <a:cs typeface="Aptos Mono"/>
              </a:defRPr>
            </a:pPr>
            <a:r>
              <a:rPr sz="1013" b="0">
                <a:solidFill>
                  <a:srgbClr val="0F172A"/>
                </a:solidFill>
                <a:latin typeface="Aptos Mono"/>
                <a:ea typeface="Aptos Mono"/>
                <a:cs typeface="Aptos Mono"/>
              </a:rPr>
              <a:t>WAW: two writes to the same target must stay ordered</a:t>
            </a:r>
          </a:p>
          <a:p xmlns:a="http://schemas.openxmlformats.org/drawingml/2006/main">
            <a:pPr algn="l">
              <a:defRPr sz="1013" b="0">
                <a:solidFill>
                  <a:srgbClr val="0F172A"/>
                </a:solidFill>
                <a:latin typeface="Aptos Mono"/>
                <a:ea typeface="Aptos Mono"/>
                <a:cs typeface="Aptos Mono"/>
              </a:defRPr>
            </a:pPr>
            <a:r>
              <a:rPr sz="1013" b="0">
                <a:solidFill>
                  <a:srgbClr val="0F172A"/>
                </a:solidFill>
                <a:latin typeface="Aptos Mono"/>
                <a:ea typeface="Aptos Mono"/>
                <a:cs typeface="Aptos Mono"/>
              </a:rPr>
              <a:t>WAR: later write must not clobber an earlier read</a:t>
            </a:r>
          </a:p>
        </p:txBody>
      </p:sp>
      <p:sp>
        <p:nvSpPr>
          <p:cNvPr id="17" name="">
            <a:extLst xmlns:a="http://schemas.openxmlformats.org/drawingml/2006/main">
              <a:ext uri="{FF2B5EF4-FFF2-40B4-BE49-F238E27FC236}">
                <a16:creationId xmlns:a16="http://schemas.microsoft.com/office/drawing/2014/main" id="{8D96F406-658C-4F72-B054-BB926EECDC9E}"/>
              </a:ext>
            </a:extLst>
          </p:cNvPr>
          <p:cNvSpPr>
            <a:spLocks xmlns:a="http://schemas.openxmlformats.org/drawingml/2006/main" noGrp="1"/>
          </p:cNvSpPr>
          <p:nvPr/>
        </p:nvSpPr>
        <p:spPr>
          <a:xfrm xmlns:a="http://schemas.openxmlformats.org/drawingml/2006/main">
            <a:off x="6076950" y="436245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18" name="">
            <a:extLst xmlns:a="http://schemas.openxmlformats.org/drawingml/2006/main">
              <a:ext uri="{FF2B5EF4-FFF2-40B4-BE49-F238E27FC236}">
                <a16:creationId xmlns:a16="http://schemas.microsoft.com/office/drawing/2014/main" id="{A6B101A3-5438-4C66-BCE1-7A09FEA5BA41}"/>
              </a:ext>
            </a:extLst>
          </p:cNvPr>
          <p:cNvSpPr>
            <a:spLocks xmlns:a="http://schemas.openxmlformats.org/drawingml/2006/main" noGrp="1"/>
          </p:cNvSpPr>
          <p:nvPr/>
        </p:nvSpPr>
        <p:spPr>
          <a:xfrm xmlns:a="http://schemas.openxmlformats.org/drawingml/2006/main">
            <a:off x="6248400" y="4286250"/>
            <a:ext cx="4381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Each operation gets read/write sets and an engine type.</a:t>
            </a:r>
          </a:p>
        </p:txBody>
      </p:sp>
      <p:sp>
        <p:nvSpPr>
          <p:cNvPr id="19" name="">
            <a:extLst xmlns:a="http://schemas.openxmlformats.org/drawingml/2006/main">
              <a:ext uri="{FF2B5EF4-FFF2-40B4-BE49-F238E27FC236}">
                <a16:creationId xmlns:a16="http://schemas.microsoft.com/office/drawing/2014/main" id="{53D2DE6D-B8AA-455D-B697-0834B8F4F284}"/>
              </a:ext>
            </a:extLst>
          </p:cNvPr>
          <p:cNvSpPr>
            <a:spLocks xmlns:a="http://schemas.openxmlformats.org/drawingml/2006/main" noGrp="1"/>
          </p:cNvSpPr>
          <p:nvPr/>
        </p:nvSpPr>
        <p:spPr>
          <a:xfrm xmlns:a="http://schemas.openxmlformats.org/drawingml/2006/main">
            <a:off x="6076950" y="483870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20" name="">
            <a:extLst xmlns:a="http://schemas.openxmlformats.org/drawingml/2006/main">
              <a:ext uri="{FF2B5EF4-FFF2-40B4-BE49-F238E27FC236}">
                <a16:creationId xmlns:a16="http://schemas.microsoft.com/office/drawing/2014/main" id="{F54D23CD-9EC4-4EBF-B110-EF33151247F5}"/>
              </a:ext>
            </a:extLst>
          </p:cNvPr>
          <p:cNvSpPr>
            <a:spLocks xmlns:a="http://schemas.openxmlformats.org/drawingml/2006/main" noGrp="1"/>
          </p:cNvSpPr>
          <p:nvPr/>
        </p:nvSpPr>
        <p:spPr>
          <a:xfrm xmlns:a="http://schemas.openxmlformats.org/drawingml/2006/main">
            <a:off x="6248400" y="4762500"/>
            <a:ext cx="4381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Ready operations are prioritized by critical path and packed under engine slot limits.</a:t>
            </a:r>
          </a:p>
        </p:txBody>
      </p:sp>
      <p:sp>
        <p:nvSpPr>
          <p:cNvPr id="21" name="">
            <a:extLst xmlns:a="http://schemas.openxmlformats.org/drawingml/2006/main">
              <a:ext uri="{FF2B5EF4-FFF2-40B4-BE49-F238E27FC236}">
                <a16:creationId xmlns:a16="http://schemas.microsoft.com/office/drawing/2014/main" id="{9B099D92-94A8-4DD8-99ED-A0F559285D6A}"/>
              </a:ext>
            </a:extLst>
          </p:cNvPr>
          <p:cNvSpPr>
            <a:spLocks xmlns:a="http://schemas.openxmlformats.org/drawingml/2006/main" noGrp="1"/>
          </p:cNvSpPr>
          <p:nvPr/>
        </p:nvSpPr>
        <p:spPr>
          <a:xfrm xmlns:a="http://schemas.openxmlformats.org/drawingml/2006/main">
            <a:off x="6076950" y="5314950"/>
            <a:ext cx="66675" cy="66675"/>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22" name="">
            <a:extLst xmlns:a="http://schemas.openxmlformats.org/drawingml/2006/main">
              <a:ext uri="{FF2B5EF4-FFF2-40B4-BE49-F238E27FC236}">
                <a16:creationId xmlns:a16="http://schemas.microsoft.com/office/drawing/2014/main" id="{C5C77B78-AD50-400C-B9B2-ADB39A1D21B0}"/>
              </a:ext>
            </a:extLst>
          </p:cNvPr>
          <p:cNvSpPr>
            <a:spLocks xmlns:a="http://schemas.openxmlformats.org/drawingml/2006/main" noGrp="1"/>
          </p:cNvSpPr>
          <p:nvPr/>
        </p:nvSpPr>
        <p:spPr>
          <a:xfrm xmlns:a="http://schemas.openxmlformats.org/drawingml/2006/main">
            <a:off x="6248400" y="5238750"/>
            <a:ext cx="4381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0F172A"/>
                </a:solidFill>
                <a:latin typeface="Aptos"/>
                <a:ea typeface="Aptos"/>
                <a:cs typeface="Aptos"/>
              </a:defRPr>
            </a:pPr>
            <a:r>
              <a:rPr sz="1050" b="0">
                <a:solidFill>
                  <a:srgbClr val="0F172A"/>
                </a:solidFill>
                <a:latin typeface="Aptos"/>
                <a:ea typeface="Aptos"/>
                <a:cs typeface="Aptos"/>
              </a:rPr>
              <a:t>Final refinements relax safe WAR hazards and use VALU-to-ALU fallback when vector lanes are saturated.</a:t>
            </a:r>
          </a:p>
        </p:txBody>
      </p:sp>
      <p:sp>
        <p:nvSpPr>
          <p:cNvPr id="23" name="">
            <a:extLst xmlns:a="http://schemas.openxmlformats.org/drawingml/2006/main">
              <a:ext uri="{FF2B5EF4-FFF2-40B4-BE49-F238E27FC236}">
                <a16:creationId xmlns:a16="http://schemas.microsoft.com/office/drawing/2014/main" id="{B5447795-A7BF-4E33-8E76-37780A3278B9}"/>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12</a:t>
            </a:r>
          </a:p>
        </p:txBody>
      </p:sp>
    </p:spTree>
    <p:extLst>
      <p:ext uri="{BB962C8B-B14F-4D97-AF65-F5344CB8AC3E}">
        <p14:creationId xmlns:p14="http://schemas.microsoft.com/office/powerpoint/2010/main" val="208009354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B6D8C9-89CB-4DAD-8EA4-29225979AC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0AD6FD3-62BC-4669-8780-739156A3411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8335552-4937-4647-A13E-3E6A00BDD97A}"/>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RESULTS</a:t>
            </a:r>
          </a:p>
        </p:txBody>
      </p:sp>
      <p:sp>
        <p:nvSpPr>
          <p:cNvPr id="4" name="">
            <a:extLst xmlns:a="http://schemas.openxmlformats.org/drawingml/2006/main">
              <a:ext uri="{FF2B5EF4-FFF2-40B4-BE49-F238E27FC236}">
                <a16:creationId xmlns:a16="http://schemas.microsoft.com/office/drawing/2014/main" id="{04C59211-31D0-4E76-98E9-AEA57B1BF738}"/>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Results: The Binding Constraint Moved Over Time</a:t>
            </a:r>
          </a:p>
        </p:txBody>
      </p:sp>
      <p:sp>
        <p:nvSpPr>
          <p:cNvPr id="5" name="">
            <a:extLst xmlns:a="http://schemas.openxmlformats.org/drawingml/2006/main">
              <a:ext uri="{FF2B5EF4-FFF2-40B4-BE49-F238E27FC236}">
                <a16:creationId xmlns:a16="http://schemas.microsoft.com/office/drawing/2014/main" id="{86E6A4B5-6A43-4C00-BE6D-D69D32F0EEBC}"/>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strongest story is not one trick; it is a sequence of bottlenecks found and removed.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a31f0757b0e4bde"/>
          <a:stretch xmlns:a="http://schemas.openxmlformats.org/drawingml/2006/main"/>
        </p:blipFill>
        <p:spPr>
          <a:xfrm xmlns:a="http://schemas.openxmlformats.org/drawingml/2006/main">
            <a:off x="400050" y="1523405"/>
            <a:ext cx="5048250" cy="2839641"/>
          </a:xfrm>
          <a:prstGeom xmlns:a="http://schemas.openxmlformats.org/drawingml/2006/main" prst="rect">
            <a:avLst/>
          </a:prstGeom>
        </p:spPr>
      </p:pic>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fb0ffc9a0d4bb0"/>
          <a:stretch xmlns:a="http://schemas.openxmlformats.org/drawingml/2006/main"/>
        </p:blipFill>
        <p:spPr>
          <a:xfrm xmlns:a="http://schemas.openxmlformats.org/drawingml/2006/main">
            <a:off x="5734050" y="1523405"/>
            <a:ext cx="5048250" cy="283964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EE1E7BC-FE73-4A0A-95E7-4B31E3E91A84}"/>
              </a:ext>
            </a:extLst>
          </p:cNvPr>
          <p:cNvSpPr>
            <a:spLocks xmlns:a="http://schemas.openxmlformats.org/drawingml/2006/main" noGrp="1"/>
          </p:cNvSpPr>
          <p:nvPr/>
        </p:nvSpPr>
        <p:spPr>
          <a:xfrm xmlns:a="http://schemas.openxmlformats.org/drawingml/2006/main">
            <a:off x="514350" y="4838700"/>
            <a:ext cx="20002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18F25FE7-DEFA-4610-9ED7-18C9EB4AF954}"/>
              </a:ext>
            </a:extLst>
          </p:cNvPr>
          <p:cNvSpPr>
            <a:spLocks xmlns:a="http://schemas.openxmlformats.org/drawingml/2006/main" noGrp="1"/>
          </p:cNvSpPr>
          <p:nvPr/>
        </p:nvSpPr>
        <p:spPr>
          <a:xfrm xmlns:a="http://schemas.openxmlformats.org/drawingml/2006/main">
            <a:off x="666750" y="4972050"/>
            <a:ext cx="169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6A34A"/>
                </a:solidFill>
                <a:latin typeface="Aptos Display"/>
                <a:ea typeface="Aptos Display"/>
                <a:cs typeface="Aptos Display"/>
              </a:defRPr>
            </a:pPr>
            <a:r>
              <a:rPr sz="2100" b="1">
                <a:solidFill>
                  <a:srgbClr val="16A34A"/>
                </a:solidFill>
                <a:latin typeface="Aptos Display"/>
                <a:ea typeface="Aptos Display"/>
                <a:cs typeface="Aptos Display"/>
              </a:rPr>
              <a:t>124.8x</a:t>
            </a:r>
          </a:p>
        </p:txBody>
      </p:sp>
      <p:sp>
        <p:nvSpPr>
          <p:cNvPr id="10" name="">
            <a:extLst xmlns:a="http://schemas.openxmlformats.org/drawingml/2006/main">
              <a:ext uri="{FF2B5EF4-FFF2-40B4-BE49-F238E27FC236}">
                <a16:creationId xmlns:a16="http://schemas.microsoft.com/office/drawing/2014/main" id="{1FE090D1-C4E7-4DA9-86D8-3A6BB32170DA}"/>
              </a:ext>
            </a:extLst>
          </p:cNvPr>
          <p:cNvSpPr>
            <a:spLocks xmlns:a="http://schemas.openxmlformats.org/drawingml/2006/main" noGrp="1"/>
          </p:cNvSpPr>
          <p:nvPr/>
        </p:nvSpPr>
        <p:spPr>
          <a:xfrm xmlns:a="http://schemas.openxmlformats.org/drawingml/2006/main">
            <a:off x="666750" y="5391150"/>
            <a:ext cx="1695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final speedup over baseline</a:t>
            </a:r>
          </a:p>
        </p:txBody>
      </p:sp>
      <p:sp>
        <p:nvSpPr>
          <p:cNvPr id="11" name="">
            <a:extLst xmlns:a="http://schemas.openxmlformats.org/drawingml/2006/main">
              <a:ext uri="{FF2B5EF4-FFF2-40B4-BE49-F238E27FC236}">
                <a16:creationId xmlns:a16="http://schemas.microsoft.com/office/drawing/2014/main" id="{5364C7E9-D82B-40DA-9050-6A022DB62E06}"/>
              </a:ext>
            </a:extLst>
          </p:cNvPr>
          <p:cNvSpPr>
            <a:spLocks xmlns:a="http://schemas.openxmlformats.org/drawingml/2006/main" noGrp="1"/>
          </p:cNvSpPr>
          <p:nvPr/>
        </p:nvSpPr>
        <p:spPr>
          <a:xfrm xmlns:a="http://schemas.openxmlformats.org/drawingml/2006/main">
            <a:off x="2705100" y="4838700"/>
            <a:ext cx="2000250"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2" name="">
            <a:extLst xmlns:a="http://schemas.openxmlformats.org/drawingml/2006/main">
              <a:ext uri="{FF2B5EF4-FFF2-40B4-BE49-F238E27FC236}">
                <a16:creationId xmlns:a16="http://schemas.microsoft.com/office/drawing/2014/main" id="{2BE8468F-B5A2-44BA-8E35-9705B28304F3}"/>
              </a:ext>
            </a:extLst>
          </p:cNvPr>
          <p:cNvSpPr>
            <a:spLocks xmlns:a="http://schemas.openxmlformats.org/drawingml/2006/main" noGrp="1"/>
          </p:cNvSpPr>
          <p:nvPr/>
        </p:nvSpPr>
        <p:spPr>
          <a:xfrm xmlns:a="http://schemas.openxmlformats.org/drawingml/2006/main">
            <a:off x="2857500" y="4972050"/>
            <a:ext cx="16954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2563EB"/>
                </a:solidFill>
                <a:latin typeface="Aptos Display"/>
                <a:ea typeface="Aptos Display"/>
                <a:cs typeface="Aptos Display"/>
              </a:defRPr>
            </a:pPr>
            <a:r>
              <a:rPr sz="2100" b="1">
                <a:solidFill>
                  <a:srgbClr val="2563EB"/>
                </a:solidFill>
                <a:latin typeface="Aptos Display"/>
                <a:ea typeface="Aptos Display"/>
                <a:cs typeface="Aptos Display"/>
              </a:rPr>
              <a:t>1,184</a:t>
            </a:r>
          </a:p>
        </p:txBody>
      </p:sp>
      <p:sp>
        <p:nvSpPr>
          <p:cNvPr id="13" name="">
            <a:extLst xmlns:a="http://schemas.openxmlformats.org/drawingml/2006/main">
              <a:ext uri="{FF2B5EF4-FFF2-40B4-BE49-F238E27FC236}">
                <a16:creationId xmlns:a16="http://schemas.microsoft.com/office/drawing/2014/main" id="{0DFA224E-AC9D-4B66-BE16-A2C1E8B821EA}"/>
              </a:ext>
            </a:extLst>
          </p:cNvPr>
          <p:cNvSpPr>
            <a:spLocks xmlns:a="http://schemas.openxmlformats.org/drawingml/2006/main" noGrp="1"/>
          </p:cNvSpPr>
          <p:nvPr/>
        </p:nvSpPr>
        <p:spPr>
          <a:xfrm xmlns:a="http://schemas.openxmlformats.org/drawingml/2006/main">
            <a:off x="2857500" y="5391150"/>
            <a:ext cx="16954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final cycle count</a:t>
            </a:r>
          </a:p>
        </p:txBody>
      </p:sp>
      <p:sp>
        <p:nvSpPr>
          <p:cNvPr id="14" name="">
            <a:extLst xmlns:a="http://schemas.openxmlformats.org/drawingml/2006/main">
              <a:ext uri="{FF2B5EF4-FFF2-40B4-BE49-F238E27FC236}">
                <a16:creationId xmlns:a16="http://schemas.microsoft.com/office/drawing/2014/main" id="{4B0FC98D-BCDD-4424-9452-4D80F9E38E5F}"/>
              </a:ext>
            </a:extLst>
          </p:cNvPr>
          <p:cNvSpPr>
            <a:spLocks xmlns:a="http://schemas.openxmlformats.org/drawingml/2006/main" noGrp="1"/>
          </p:cNvSpPr>
          <p:nvPr/>
        </p:nvSpPr>
        <p:spPr>
          <a:xfrm xmlns:a="http://schemas.openxmlformats.org/drawingml/2006/main">
            <a:off x="5810250" y="49339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5" name="">
            <a:extLst xmlns:a="http://schemas.openxmlformats.org/drawingml/2006/main">
              <a:ext uri="{FF2B5EF4-FFF2-40B4-BE49-F238E27FC236}">
                <a16:creationId xmlns:a16="http://schemas.microsoft.com/office/drawing/2014/main" id="{B7684746-F9D7-4941-B0B2-96EB7D5B5DEB}"/>
              </a:ext>
            </a:extLst>
          </p:cNvPr>
          <p:cNvSpPr>
            <a:spLocks xmlns:a="http://schemas.openxmlformats.org/drawingml/2006/main" noGrp="1"/>
          </p:cNvSpPr>
          <p:nvPr/>
        </p:nvSpPr>
        <p:spPr>
          <a:xfrm xmlns:a="http://schemas.openxmlformats.org/drawingml/2006/main">
            <a:off x="5981700" y="4857750"/>
            <a:ext cx="4572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Early: remove bookkeeping and memory traffic.</a:t>
            </a:r>
          </a:p>
        </p:txBody>
      </p:sp>
      <p:sp>
        <p:nvSpPr>
          <p:cNvPr id="16" name="">
            <a:extLst xmlns:a="http://schemas.openxmlformats.org/drawingml/2006/main">
              <a:ext uri="{FF2B5EF4-FFF2-40B4-BE49-F238E27FC236}">
                <a16:creationId xmlns:a16="http://schemas.microsoft.com/office/drawing/2014/main" id="{3D8C0098-A971-4E97-8A4A-38FFA8A996D9}"/>
              </a:ext>
            </a:extLst>
          </p:cNvPr>
          <p:cNvSpPr>
            <a:spLocks xmlns:a="http://schemas.openxmlformats.org/drawingml/2006/main" noGrp="1"/>
          </p:cNvSpPr>
          <p:nvPr/>
        </p:nvSpPr>
        <p:spPr>
          <a:xfrm xmlns:a="http://schemas.openxmlformats.org/drawingml/2006/main">
            <a:off x="5810250" y="533400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7" name="">
            <a:extLst xmlns:a="http://schemas.openxmlformats.org/drawingml/2006/main">
              <a:ext uri="{FF2B5EF4-FFF2-40B4-BE49-F238E27FC236}">
                <a16:creationId xmlns:a16="http://schemas.microsoft.com/office/drawing/2014/main" id="{F5C3A440-F603-4121-8CC2-7002EFABFAB3}"/>
              </a:ext>
            </a:extLst>
          </p:cNvPr>
          <p:cNvSpPr>
            <a:spLocks xmlns:a="http://schemas.openxmlformats.org/drawingml/2006/main" noGrp="1"/>
          </p:cNvSpPr>
          <p:nvPr/>
        </p:nvSpPr>
        <p:spPr>
          <a:xfrm xmlns:a="http://schemas.openxmlformats.org/drawingml/2006/main">
            <a:off x="5981700" y="5257800"/>
            <a:ext cx="4572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Middle: specialize the fixed workload and vectorize across the batch.</a:t>
            </a:r>
          </a:p>
        </p:txBody>
      </p:sp>
      <p:sp>
        <p:nvSpPr>
          <p:cNvPr id="18" name="">
            <a:extLst xmlns:a="http://schemas.openxmlformats.org/drawingml/2006/main">
              <a:ext uri="{FF2B5EF4-FFF2-40B4-BE49-F238E27FC236}">
                <a16:creationId xmlns:a16="http://schemas.microsoft.com/office/drawing/2014/main" id="{27C797F4-7572-417A-B9DC-4462A46008B3}"/>
              </a:ext>
            </a:extLst>
          </p:cNvPr>
          <p:cNvSpPr>
            <a:spLocks xmlns:a="http://schemas.openxmlformats.org/drawingml/2006/main" noGrp="1"/>
          </p:cNvSpPr>
          <p:nvPr/>
        </p:nvSpPr>
        <p:spPr>
          <a:xfrm xmlns:a="http://schemas.openxmlformats.org/drawingml/2006/main">
            <a:off x="5810250" y="5734050"/>
            <a:ext cx="66675" cy="66675"/>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9" name="">
            <a:extLst xmlns:a="http://schemas.openxmlformats.org/drawingml/2006/main">
              <a:ext uri="{FF2B5EF4-FFF2-40B4-BE49-F238E27FC236}">
                <a16:creationId xmlns:a16="http://schemas.microsoft.com/office/drawing/2014/main" id="{4FFD4010-01AD-4A1B-9A91-85B13031E8C3}"/>
              </a:ext>
            </a:extLst>
          </p:cNvPr>
          <p:cNvSpPr>
            <a:spLocks xmlns:a="http://schemas.openxmlformats.org/drawingml/2006/main" noGrp="1"/>
          </p:cNvSpPr>
          <p:nvPr/>
        </p:nvSpPr>
        <p:spPr>
          <a:xfrm xmlns:a="http://schemas.openxmlformats.org/drawingml/2006/main">
            <a:off x="5981700" y="5657850"/>
            <a:ext cx="4572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0F172A"/>
                </a:solidFill>
                <a:latin typeface="Aptos"/>
                <a:ea typeface="Aptos"/>
                <a:cs typeface="Aptos"/>
              </a:defRPr>
            </a:pPr>
            <a:r>
              <a:rPr sz="1088" b="0">
                <a:solidFill>
                  <a:srgbClr val="0F172A"/>
                </a:solidFill>
                <a:latin typeface="Aptos"/>
                <a:ea typeface="Aptos"/>
                <a:cs typeface="Aptos"/>
              </a:rPr>
              <a:t>Late: expose enough independent work for a VLIW scheduler to fill the machine.</a:t>
            </a:r>
          </a:p>
        </p:txBody>
      </p:sp>
      <p:sp>
        <p:nvSpPr>
          <p:cNvPr id="20" name="">
            <a:extLst xmlns:a="http://schemas.openxmlformats.org/drawingml/2006/main">
              <a:ext uri="{FF2B5EF4-FFF2-40B4-BE49-F238E27FC236}">
                <a16:creationId xmlns:a16="http://schemas.microsoft.com/office/drawing/2014/main" id="{1DD4843C-5057-4123-BBAE-308E9AD4827C}"/>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13</a:t>
            </a:r>
          </a:p>
        </p:txBody>
      </p:sp>
    </p:spTree>
    <p:extLst>
      <p:ext uri="{BB962C8B-B14F-4D97-AF65-F5344CB8AC3E}">
        <p14:creationId xmlns:p14="http://schemas.microsoft.com/office/powerpoint/2010/main" val="189160625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41A9FC1-DFCC-4D69-8901-B5608B55F7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99232B3-373E-44A7-AEE7-637969B6D2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CB0AADD-87F2-4A2B-BD36-B0177F0C77A4}"/>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LIMITATIONS</a:t>
            </a:r>
          </a:p>
        </p:txBody>
      </p:sp>
      <p:sp>
        <p:nvSpPr>
          <p:cNvPr id="4" name="">
            <a:extLst xmlns:a="http://schemas.openxmlformats.org/drawingml/2006/main">
              <a:ext uri="{FF2B5EF4-FFF2-40B4-BE49-F238E27FC236}">
                <a16:creationId xmlns:a16="http://schemas.microsoft.com/office/drawing/2014/main" id="{975EF134-357D-496C-9F5B-F38C3C3BA469}"/>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Limitations</a:t>
            </a:r>
          </a:p>
        </p:txBody>
      </p:sp>
      <p:sp>
        <p:nvSpPr>
          <p:cNvPr id="5" name="">
            <a:extLst xmlns:a="http://schemas.openxmlformats.org/drawingml/2006/main">
              <a:ext uri="{FF2B5EF4-FFF2-40B4-BE49-F238E27FC236}">
                <a16:creationId xmlns:a16="http://schemas.microsoft.com/office/drawing/2014/main" id="{FA094A45-3569-419A-9F3E-117FA48DD3AE}"/>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The final kernel is fast because it is intentionally specialized; that creates real engineering tradeoffs.</a:t>
            </a:r>
          </a:p>
        </p:txBody>
      </p:sp>
      <p:sp>
        <p:nvSpPr>
          <p:cNvPr id="6" name="">
            <a:extLst xmlns:a="http://schemas.openxmlformats.org/drawingml/2006/main">
              <a:ext uri="{FF2B5EF4-FFF2-40B4-BE49-F238E27FC236}">
                <a16:creationId xmlns:a16="http://schemas.microsoft.com/office/drawing/2014/main" id="{6A2FC49A-9595-44AA-BF1A-550B699A77DE}"/>
              </a:ext>
            </a:extLst>
          </p:cNvPr>
          <p:cNvSpPr>
            <a:spLocks xmlns:a="http://schemas.openxmlformats.org/drawingml/2006/main" noGrp="1"/>
          </p:cNvSpPr>
          <p:nvPr/>
        </p:nvSpPr>
        <p:spPr>
          <a:xfrm xmlns:a="http://schemas.openxmlformats.org/drawingml/2006/main">
            <a:off x="571500" y="142875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02045AEF-C930-4DE9-9878-8DFC2C34A437}"/>
              </a:ext>
            </a:extLst>
          </p:cNvPr>
          <p:cNvSpPr>
            <a:spLocks xmlns:a="http://schemas.openxmlformats.org/drawingml/2006/main" noGrp="1"/>
          </p:cNvSpPr>
          <p:nvPr/>
        </p:nvSpPr>
        <p:spPr>
          <a:xfrm xmlns:a="http://schemas.openxmlformats.org/drawingml/2006/main">
            <a:off x="742950" y="15811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563EB"/>
                </a:solidFill>
                <a:latin typeface="Aptos"/>
                <a:ea typeface="Aptos"/>
                <a:cs typeface="Aptos"/>
              </a:defRPr>
            </a:pPr>
            <a:r>
              <a:rPr sz="1350" b="1">
                <a:solidFill>
                  <a:srgbClr val="2563EB"/>
                </a:solidFill>
                <a:latin typeface="Aptos"/>
                <a:ea typeface="Aptos"/>
                <a:cs typeface="Aptos"/>
              </a:rPr>
              <a:t>Highly specialized workload</a:t>
            </a:r>
          </a:p>
        </p:txBody>
      </p:sp>
      <p:sp>
        <p:nvSpPr>
          <p:cNvPr id="8" name="">
            <a:extLst xmlns:a="http://schemas.openxmlformats.org/drawingml/2006/main">
              <a:ext uri="{FF2B5EF4-FFF2-40B4-BE49-F238E27FC236}">
                <a16:creationId xmlns:a16="http://schemas.microsoft.com/office/drawing/2014/main" id="{B1BD28E0-58C0-43F7-B0F4-CC3E13AD5D55}"/>
              </a:ext>
            </a:extLst>
          </p:cNvPr>
          <p:cNvSpPr>
            <a:spLocks xmlns:a="http://schemas.openxmlformats.org/drawingml/2006/main" noGrp="1"/>
          </p:cNvSpPr>
          <p:nvPr/>
        </p:nvSpPr>
        <p:spPr>
          <a:xfrm xmlns:a="http://schemas.openxmlformats.org/drawingml/2006/main">
            <a:off x="742950" y="1905000"/>
            <a:ext cx="45529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0F172A"/>
                </a:solidFill>
                <a:latin typeface="Aptos"/>
                <a:ea typeface="Aptos"/>
                <a:cs typeface="Aptos"/>
              </a:defRPr>
            </a:pPr>
            <a:r>
              <a:rPr sz="990" b="0">
                <a:solidFill>
                  <a:srgbClr val="0F172A"/>
                </a:solidFill>
                <a:latin typeface="Aptos"/>
                <a:ea typeface="Aptos"/>
                <a:cs typeface="Aptos"/>
              </a:rPr>
              <a:t>The generated kernel assumes forest_height=10, rounds=16, batch_size=256, and a stable memory layout. Generalizing it would require a broader code generator.</a:t>
            </a:r>
          </a:p>
        </p:txBody>
      </p:sp>
      <p:sp>
        <p:nvSpPr>
          <p:cNvPr id="9" name="">
            <a:extLst xmlns:a="http://schemas.openxmlformats.org/drawingml/2006/main">
              <a:ext uri="{FF2B5EF4-FFF2-40B4-BE49-F238E27FC236}">
                <a16:creationId xmlns:a16="http://schemas.microsoft.com/office/drawing/2014/main" id="{F14F3647-AD7C-430F-84A3-8D813C1974F3}"/>
              </a:ext>
            </a:extLst>
          </p:cNvPr>
          <p:cNvSpPr>
            <a:spLocks xmlns:a="http://schemas.openxmlformats.org/drawingml/2006/main" noGrp="1"/>
          </p:cNvSpPr>
          <p:nvPr/>
        </p:nvSpPr>
        <p:spPr>
          <a:xfrm xmlns:a="http://schemas.openxmlformats.org/drawingml/2006/main">
            <a:off x="6191250" y="142875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2EA968E1-C366-4816-BF96-E960B97E8238}"/>
              </a:ext>
            </a:extLst>
          </p:cNvPr>
          <p:cNvSpPr>
            <a:spLocks xmlns:a="http://schemas.openxmlformats.org/drawingml/2006/main" noGrp="1"/>
          </p:cNvSpPr>
          <p:nvPr/>
        </p:nvSpPr>
        <p:spPr>
          <a:xfrm xmlns:a="http://schemas.openxmlformats.org/drawingml/2006/main">
            <a:off x="6362700" y="158115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E123C"/>
                </a:solidFill>
                <a:latin typeface="Aptos"/>
                <a:ea typeface="Aptos"/>
                <a:cs typeface="Aptos"/>
              </a:defRPr>
            </a:pPr>
            <a:r>
              <a:rPr sz="1350" b="1">
                <a:solidFill>
                  <a:srgbClr val="BE123C"/>
                </a:solidFill>
                <a:latin typeface="Aptos"/>
                <a:ea typeface="Aptos"/>
                <a:cs typeface="Aptos"/>
              </a:rPr>
              <a:t>Generated code size increases</a:t>
            </a:r>
          </a:p>
        </p:txBody>
      </p:sp>
      <p:sp>
        <p:nvSpPr>
          <p:cNvPr id="11" name="">
            <a:extLst xmlns:a="http://schemas.openxmlformats.org/drawingml/2006/main">
              <a:ext uri="{FF2B5EF4-FFF2-40B4-BE49-F238E27FC236}">
                <a16:creationId xmlns:a16="http://schemas.microsoft.com/office/drawing/2014/main" id="{2C60446D-4E3A-4351-9EBC-C80D4514D1CB}"/>
              </a:ext>
            </a:extLst>
          </p:cNvPr>
          <p:cNvSpPr>
            <a:spLocks xmlns:a="http://schemas.openxmlformats.org/drawingml/2006/main" noGrp="1"/>
          </p:cNvSpPr>
          <p:nvPr/>
        </p:nvSpPr>
        <p:spPr>
          <a:xfrm xmlns:a="http://schemas.openxmlformats.org/drawingml/2006/main">
            <a:off x="6362700" y="1905000"/>
            <a:ext cx="45529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0F172A"/>
                </a:solidFill>
                <a:latin typeface="Aptos"/>
                <a:ea typeface="Aptos"/>
                <a:cs typeface="Aptos"/>
              </a:defRPr>
            </a:pPr>
            <a:r>
              <a:rPr sz="990" b="0">
                <a:solidFill>
                  <a:srgbClr val="0F172A"/>
                </a:solidFill>
                <a:latin typeface="Aptos"/>
                <a:ea typeface="Aptos"/>
                <a:cs typeface="Aptos"/>
              </a:rPr>
              <a:t>Unrolling and specialization remove runtime overhead but produce a larger instruction stream. That is acceptable for this simulator, but real instruction cache behavior could matter.</a:t>
            </a:r>
          </a:p>
        </p:txBody>
      </p:sp>
      <p:sp>
        <p:nvSpPr>
          <p:cNvPr id="12" name="">
            <a:extLst xmlns:a="http://schemas.openxmlformats.org/drawingml/2006/main">
              <a:ext uri="{FF2B5EF4-FFF2-40B4-BE49-F238E27FC236}">
                <a16:creationId xmlns:a16="http://schemas.microsoft.com/office/drawing/2014/main" id="{FC58719C-BDFD-44CC-9A0C-544F45A86E86}"/>
              </a:ext>
            </a:extLst>
          </p:cNvPr>
          <p:cNvSpPr>
            <a:spLocks xmlns:a="http://schemas.openxmlformats.org/drawingml/2006/main" noGrp="1"/>
          </p:cNvSpPr>
          <p:nvPr/>
        </p:nvSpPr>
        <p:spPr>
          <a:xfrm xmlns:a="http://schemas.openxmlformats.org/drawingml/2006/main">
            <a:off x="571500" y="293370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AEF28284-1EAB-46A0-B203-CAF3A9BE69AD}"/>
              </a:ext>
            </a:extLst>
          </p:cNvPr>
          <p:cNvSpPr>
            <a:spLocks xmlns:a="http://schemas.openxmlformats.org/drawingml/2006/main" noGrp="1"/>
          </p:cNvSpPr>
          <p:nvPr/>
        </p:nvSpPr>
        <p:spPr>
          <a:xfrm xmlns:a="http://schemas.openxmlformats.org/drawingml/2006/main">
            <a:off x="742950" y="308610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563EB"/>
                </a:solidFill>
                <a:latin typeface="Aptos"/>
                <a:ea typeface="Aptos"/>
                <a:cs typeface="Aptos"/>
              </a:defRPr>
            </a:pPr>
            <a:r>
              <a:rPr sz="1350" b="1">
                <a:solidFill>
                  <a:srgbClr val="2563EB"/>
                </a:solidFill>
                <a:latin typeface="Aptos"/>
                <a:ea typeface="Aptos"/>
                <a:cs typeface="Aptos"/>
              </a:rPr>
              <a:t>Scheduler is heuristic</a:t>
            </a:r>
          </a:p>
        </p:txBody>
      </p:sp>
      <p:sp>
        <p:nvSpPr>
          <p:cNvPr id="14" name="">
            <a:extLst xmlns:a="http://schemas.openxmlformats.org/drawingml/2006/main">
              <a:ext uri="{FF2B5EF4-FFF2-40B4-BE49-F238E27FC236}">
                <a16:creationId xmlns:a16="http://schemas.microsoft.com/office/drawing/2014/main" id="{07FBE209-9AB5-41C4-8735-2206D8DAAB35}"/>
              </a:ext>
            </a:extLst>
          </p:cNvPr>
          <p:cNvSpPr>
            <a:spLocks xmlns:a="http://schemas.openxmlformats.org/drawingml/2006/main" noGrp="1"/>
          </p:cNvSpPr>
          <p:nvPr/>
        </p:nvSpPr>
        <p:spPr>
          <a:xfrm xmlns:a="http://schemas.openxmlformats.org/drawingml/2006/main">
            <a:off x="742950" y="3409950"/>
            <a:ext cx="45529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0F172A"/>
                </a:solidFill>
                <a:latin typeface="Aptos"/>
                <a:ea typeface="Aptos"/>
                <a:cs typeface="Aptos"/>
              </a:defRPr>
            </a:pPr>
            <a:r>
              <a:rPr sz="990" b="0">
                <a:solidFill>
                  <a:srgbClr val="0F172A"/>
                </a:solidFill>
                <a:latin typeface="Aptos"/>
                <a:ea typeface="Aptos"/>
                <a:cs typeface="Aptos"/>
              </a:rPr>
              <a:t>The VLIW scheduler uses dependency analysis and priority rules, but it is not an optimal solver and does not prove the best possible packing.</a:t>
            </a:r>
          </a:p>
        </p:txBody>
      </p:sp>
      <p:sp>
        <p:nvSpPr>
          <p:cNvPr id="15" name="">
            <a:extLst xmlns:a="http://schemas.openxmlformats.org/drawingml/2006/main">
              <a:ext uri="{FF2B5EF4-FFF2-40B4-BE49-F238E27FC236}">
                <a16:creationId xmlns:a16="http://schemas.microsoft.com/office/drawing/2014/main" id="{63DB3461-3EA4-4376-B0EC-0EFA64466BD2}"/>
              </a:ext>
            </a:extLst>
          </p:cNvPr>
          <p:cNvSpPr>
            <a:spLocks xmlns:a="http://schemas.openxmlformats.org/drawingml/2006/main" noGrp="1"/>
          </p:cNvSpPr>
          <p:nvPr/>
        </p:nvSpPr>
        <p:spPr>
          <a:xfrm xmlns:a="http://schemas.openxmlformats.org/drawingml/2006/main">
            <a:off x="6191250" y="2933700"/>
            <a:ext cx="49530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18954000-D544-43CB-BD92-5F4983B712F7}"/>
              </a:ext>
            </a:extLst>
          </p:cNvPr>
          <p:cNvSpPr>
            <a:spLocks xmlns:a="http://schemas.openxmlformats.org/drawingml/2006/main" noGrp="1"/>
          </p:cNvSpPr>
          <p:nvPr/>
        </p:nvSpPr>
        <p:spPr>
          <a:xfrm xmlns:a="http://schemas.openxmlformats.org/drawingml/2006/main">
            <a:off x="6362700" y="3086100"/>
            <a:ext cx="4610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E123C"/>
                </a:solidFill>
                <a:latin typeface="Aptos"/>
                <a:ea typeface="Aptos"/>
                <a:cs typeface="Aptos"/>
              </a:defRPr>
            </a:pPr>
            <a:r>
              <a:rPr sz="1350" b="1">
                <a:solidFill>
                  <a:srgbClr val="BE123C"/>
                </a:solidFill>
                <a:latin typeface="Aptos"/>
                <a:ea typeface="Aptos"/>
                <a:cs typeface="Aptos"/>
              </a:rPr>
              <a:t>Scratch allocation is manually tuned</a:t>
            </a:r>
          </a:p>
        </p:txBody>
      </p:sp>
      <p:sp>
        <p:nvSpPr>
          <p:cNvPr id="17" name="">
            <a:extLst xmlns:a="http://schemas.openxmlformats.org/drawingml/2006/main">
              <a:ext uri="{FF2B5EF4-FFF2-40B4-BE49-F238E27FC236}">
                <a16:creationId xmlns:a16="http://schemas.microsoft.com/office/drawing/2014/main" id="{0FFE36EC-830B-4EC0-94DC-F8B62FADA14A}"/>
              </a:ext>
            </a:extLst>
          </p:cNvPr>
          <p:cNvSpPr>
            <a:spLocks xmlns:a="http://schemas.openxmlformats.org/drawingml/2006/main" noGrp="1"/>
          </p:cNvSpPr>
          <p:nvPr/>
        </p:nvSpPr>
        <p:spPr>
          <a:xfrm xmlns:a="http://schemas.openxmlformats.org/drawingml/2006/main">
            <a:off x="6362700" y="3409950"/>
            <a:ext cx="45529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0F172A"/>
                </a:solidFill>
                <a:latin typeface="Aptos"/>
                <a:ea typeface="Aptos"/>
                <a:cs typeface="Aptos"/>
              </a:defRPr>
            </a:pPr>
            <a:r>
              <a:rPr sz="990" b="0">
                <a:solidFill>
                  <a:srgbClr val="0F172A"/>
                </a:solidFill>
                <a:latin typeface="Aptos"/>
                <a:ea typeface="Aptos"/>
                <a:cs typeface="Aptos"/>
              </a:rPr>
              <a:t>Temporary banks expose parallelism, but the current allocator is not a full liveness-aware register coloring pass.</a:t>
            </a:r>
          </a:p>
        </p:txBody>
      </p:sp>
      <p:sp>
        <p:nvSpPr>
          <p:cNvPr id="18" name="">
            <a:extLst xmlns:a="http://schemas.openxmlformats.org/drawingml/2006/main">
              <a:ext uri="{FF2B5EF4-FFF2-40B4-BE49-F238E27FC236}">
                <a16:creationId xmlns:a16="http://schemas.microsoft.com/office/drawing/2014/main" id="{FAF1CD0A-8AE3-4560-A17B-C9F9D665FA6A}"/>
              </a:ext>
            </a:extLst>
          </p:cNvPr>
          <p:cNvSpPr>
            <a:spLocks xmlns:a="http://schemas.openxmlformats.org/drawingml/2006/main" noGrp="1"/>
          </p:cNvSpPr>
          <p:nvPr/>
        </p:nvSpPr>
        <p:spPr>
          <a:xfrm xmlns:a="http://schemas.openxmlformats.org/drawingml/2006/main">
            <a:off x="571500" y="4438650"/>
            <a:ext cx="103822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AD56BA5F-0762-4BC2-98C5-57E43CDD33D6}"/>
              </a:ext>
            </a:extLst>
          </p:cNvPr>
          <p:cNvSpPr>
            <a:spLocks xmlns:a="http://schemas.openxmlformats.org/drawingml/2006/main" noGrp="1"/>
          </p:cNvSpPr>
          <p:nvPr/>
        </p:nvSpPr>
        <p:spPr>
          <a:xfrm xmlns:a="http://schemas.openxmlformats.org/drawingml/2006/main">
            <a:off x="742950" y="4591050"/>
            <a:ext cx="100393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563EB"/>
                </a:solidFill>
                <a:latin typeface="Aptos"/>
                <a:ea typeface="Aptos"/>
                <a:cs typeface="Aptos"/>
              </a:defRPr>
            </a:pPr>
            <a:r>
              <a:rPr sz="1350" b="1">
                <a:solidFill>
                  <a:srgbClr val="2563EB"/>
                </a:solidFill>
                <a:latin typeface="Aptos"/>
                <a:ea typeface="Aptos"/>
                <a:cs typeface="Aptos"/>
              </a:rPr>
              <a:t>Profiler interpretation is still manual</a:t>
            </a:r>
          </a:p>
        </p:txBody>
      </p:sp>
      <p:sp>
        <p:nvSpPr>
          <p:cNvPr id="20" name="">
            <a:extLst xmlns:a="http://schemas.openxmlformats.org/drawingml/2006/main">
              <a:ext uri="{FF2B5EF4-FFF2-40B4-BE49-F238E27FC236}">
                <a16:creationId xmlns:a16="http://schemas.microsoft.com/office/drawing/2014/main" id="{502708F4-FB91-40B9-B154-342CA8DCC348}"/>
              </a:ext>
            </a:extLst>
          </p:cNvPr>
          <p:cNvSpPr>
            <a:spLocks xmlns:a="http://schemas.openxmlformats.org/drawingml/2006/main" noGrp="1"/>
          </p:cNvSpPr>
          <p:nvPr/>
        </p:nvSpPr>
        <p:spPr>
          <a:xfrm xmlns:a="http://schemas.openxmlformats.org/drawingml/2006/main">
            <a:off x="742950" y="4914900"/>
            <a:ext cx="9982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90" b="0">
                <a:solidFill>
                  <a:srgbClr val="0F172A"/>
                </a:solidFill>
                <a:latin typeface="Aptos"/>
                <a:ea typeface="Aptos"/>
                <a:cs typeface="Aptos"/>
              </a:defRPr>
            </a:pPr>
            <a:r>
              <a:rPr sz="990" b="0">
                <a:solidFill>
                  <a:srgbClr val="0F172A"/>
                </a:solidFill>
                <a:latin typeface="Aptos"/>
                <a:ea typeface="Aptos"/>
                <a:cs typeface="Aptos"/>
              </a:rPr>
              <a:t>Perfetto traces guided the optimization path, but bottleneck classification and goodput metrics are not yet fully automated.</a:t>
            </a:r>
          </a:p>
        </p:txBody>
      </p:sp>
      <p:sp>
        <p:nvSpPr>
          <p:cNvPr id="21" name="">
            <a:extLst xmlns:a="http://schemas.openxmlformats.org/drawingml/2006/main">
              <a:ext uri="{FF2B5EF4-FFF2-40B4-BE49-F238E27FC236}">
                <a16:creationId xmlns:a16="http://schemas.microsoft.com/office/drawing/2014/main" id="{DC979FE9-3DA2-42F7-92F8-053229ABDAE4}"/>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14</a:t>
            </a:r>
          </a:p>
        </p:txBody>
      </p:sp>
    </p:spTree>
    <p:extLst>
      <p:ext uri="{BB962C8B-B14F-4D97-AF65-F5344CB8AC3E}">
        <p14:creationId xmlns:p14="http://schemas.microsoft.com/office/powerpoint/2010/main" val="67954555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48312A5-724B-410A-B51B-E33D5F6CB7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D5CCB25-2E28-4A7D-A3ED-9794186F3F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55DB593-F2BD-425C-B8FE-D9B26050DE48}"/>
              </a:ext>
            </a:extLst>
          </p:cNvPr>
          <p:cNvSpPr>
            <a:spLocks xmlns:a="http://schemas.openxmlformats.org/drawingml/2006/main" noGrp="1"/>
          </p:cNvSpPr>
          <p:nvPr/>
        </p:nvSpPr>
        <p:spPr>
          <a:xfrm xmlns:a="http://schemas.openxmlformats.org/drawingml/2006/main">
            <a:off x="400050" y="2667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2563EB"/>
                </a:solidFill>
                <a:latin typeface="Aptos"/>
                <a:ea typeface="Aptos"/>
                <a:cs typeface="Aptos"/>
              </a:defRPr>
            </a:pPr>
            <a:r>
              <a:rPr sz="900" b="1">
                <a:solidFill>
                  <a:srgbClr val="2563EB"/>
                </a:solidFill>
                <a:latin typeface="Aptos"/>
                <a:ea typeface="Aptos"/>
                <a:cs typeface="Aptos"/>
              </a:rPr>
              <a:t>NEXT STEPS</a:t>
            </a:r>
          </a:p>
        </p:txBody>
      </p:sp>
      <p:sp>
        <p:nvSpPr>
          <p:cNvPr id="4" name="">
            <a:extLst xmlns:a="http://schemas.openxmlformats.org/drawingml/2006/main">
              <a:ext uri="{FF2B5EF4-FFF2-40B4-BE49-F238E27FC236}">
                <a16:creationId xmlns:a16="http://schemas.microsoft.com/office/drawing/2014/main" id="{44C22968-B4E0-4655-B35C-81EEEE177FCF}"/>
              </a:ext>
            </a:extLst>
          </p:cNvPr>
          <p:cNvSpPr>
            <a:spLocks xmlns:a="http://schemas.openxmlformats.org/drawingml/2006/main" noGrp="1"/>
          </p:cNvSpPr>
          <p:nvPr/>
        </p:nvSpPr>
        <p:spPr>
          <a:xfrm xmlns:a="http://schemas.openxmlformats.org/drawingml/2006/main">
            <a:off x="400050" y="495300"/>
            <a:ext cx="8572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F172A"/>
                </a:solidFill>
                <a:latin typeface="Aptos Display"/>
                <a:ea typeface="Aptos Display"/>
                <a:cs typeface="Aptos Display"/>
              </a:defRPr>
            </a:pPr>
            <a:r>
              <a:rPr sz="2250" b="1">
                <a:solidFill>
                  <a:srgbClr val="0F172A"/>
                </a:solidFill>
                <a:latin typeface="Aptos Display"/>
                <a:ea typeface="Aptos Display"/>
                <a:cs typeface="Aptos Display"/>
              </a:rPr>
              <a:t>Next Steps</a:t>
            </a:r>
          </a:p>
        </p:txBody>
      </p:sp>
      <p:sp>
        <p:nvSpPr>
          <p:cNvPr id="5" name="">
            <a:extLst xmlns:a="http://schemas.openxmlformats.org/drawingml/2006/main">
              <a:ext uri="{FF2B5EF4-FFF2-40B4-BE49-F238E27FC236}">
                <a16:creationId xmlns:a16="http://schemas.microsoft.com/office/drawing/2014/main" id="{B93F97AB-9146-4FBD-B874-2AC1DE5CC0E3}"/>
              </a:ext>
            </a:extLst>
          </p:cNvPr>
          <p:cNvSpPr>
            <a:spLocks xmlns:a="http://schemas.openxmlformats.org/drawingml/2006/main" noGrp="1"/>
          </p:cNvSpPr>
          <p:nvPr/>
        </p:nvSpPr>
        <p:spPr>
          <a:xfrm xmlns:a="http://schemas.openxmlformats.org/drawingml/2006/main">
            <a:off x="419100" y="1123950"/>
            <a:ext cx="9525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475569"/>
                </a:solidFill>
                <a:latin typeface="Aptos"/>
                <a:ea typeface="Aptos"/>
                <a:cs typeface="Aptos"/>
              </a:defRPr>
            </a:pPr>
            <a:r>
              <a:rPr sz="1200" b="0">
                <a:solidFill>
                  <a:srgbClr val="475569"/>
                </a:solidFill>
                <a:latin typeface="Aptos"/>
                <a:ea typeface="Aptos"/>
                <a:cs typeface="Aptos"/>
              </a:rPr>
              <a:t>Turn the one-kernel optimization into a more systematic compiler pipeline.</a:t>
            </a:r>
          </a:p>
        </p:txBody>
      </p:sp>
      <p:sp>
        <p:nvSpPr>
          <p:cNvPr id="6" name="">
            <a:extLst xmlns:a="http://schemas.openxmlformats.org/drawingml/2006/main">
              <a:ext uri="{FF2B5EF4-FFF2-40B4-BE49-F238E27FC236}">
                <a16:creationId xmlns:a16="http://schemas.microsoft.com/office/drawing/2014/main" id="{026B5105-CC4F-4CA5-97B4-7E18D4D52054}"/>
              </a:ext>
            </a:extLst>
          </p:cNvPr>
          <p:cNvSpPr>
            <a:spLocks xmlns:a="http://schemas.openxmlformats.org/drawingml/2006/main" noGrp="1"/>
          </p:cNvSpPr>
          <p:nvPr/>
        </p:nvSpPr>
        <p:spPr>
          <a:xfrm xmlns:a="http://schemas.openxmlformats.org/drawingml/2006/main">
            <a:off x="647700" y="1352550"/>
            <a:ext cx="1000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 name="">
            <a:extLst xmlns:a="http://schemas.openxmlformats.org/drawingml/2006/main">
              <a:ext uri="{FF2B5EF4-FFF2-40B4-BE49-F238E27FC236}">
                <a16:creationId xmlns:a16="http://schemas.microsoft.com/office/drawing/2014/main" id="{4B8C60D9-3141-4CC5-91EE-1E4F74BCFAAC}"/>
              </a:ext>
            </a:extLst>
          </p:cNvPr>
          <p:cNvSpPr>
            <a:spLocks xmlns:a="http://schemas.openxmlformats.org/drawingml/2006/main" noGrp="1"/>
          </p:cNvSpPr>
          <p:nvPr/>
        </p:nvSpPr>
        <p:spPr>
          <a:xfrm xmlns:a="http://schemas.openxmlformats.org/drawingml/2006/main">
            <a:off x="647700" y="1352550"/>
            <a:ext cx="76200" cy="7429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8" name="">
            <a:extLst xmlns:a="http://schemas.openxmlformats.org/drawingml/2006/main">
              <a:ext uri="{FF2B5EF4-FFF2-40B4-BE49-F238E27FC236}">
                <a16:creationId xmlns:a16="http://schemas.microsoft.com/office/drawing/2014/main" id="{D8B9F472-C04A-49A7-A641-84AA77A5B296}"/>
              </a:ext>
            </a:extLst>
          </p:cNvPr>
          <p:cNvSpPr>
            <a:spLocks xmlns:a="http://schemas.openxmlformats.org/drawingml/2006/main" noGrp="1"/>
          </p:cNvSpPr>
          <p:nvPr/>
        </p:nvSpPr>
        <p:spPr>
          <a:xfrm xmlns:a="http://schemas.openxmlformats.org/drawingml/2006/main">
            <a:off x="914400" y="1504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563EB"/>
                </a:solidFill>
                <a:latin typeface="Aptos"/>
                <a:ea typeface="Aptos"/>
                <a:cs typeface="Aptos"/>
              </a:defRPr>
            </a:pPr>
            <a:r>
              <a:rPr sz="1350" b="1">
                <a:solidFill>
                  <a:srgbClr val="2563EB"/>
                </a:solidFill>
                <a:latin typeface="Aptos"/>
                <a:ea typeface="Aptos"/>
                <a:cs typeface="Aptos"/>
              </a:rPr>
              <a:t>Register coloring</a:t>
            </a:r>
          </a:p>
        </p:txBody>
      </p:sp>
      <p:sp>
        <p:nvSpPr>
          <p:cNvPr id="9" name="">
            <a:extLst xmlns:a="http://schemas.openxmlformats.org/drawingml/2006/main">
              <a:ext uri="{FF2B5EF4-FFF2-40B4-BE49-F238E27FC236}">
                <a16:creationId xmlns:a16="http://schemas.microsoft.com/office/drawing/2014/main" id="{B0331048-ADC3-455B-B3BB-5D1195DE2E3E}"/>
              </a:ext>
            </a:extLst>
          </p:cNvPr>
          <p:cNvSpPr>
            <a:spLocks xmlns:a="http://schemas.openxmlformats.org/drawingml/2006/main" noGrp="1"/>
          </p:cNvSpPr>
          <p:nvPr/>
        </p:nvSpPr>
        <p:spPr>
          <a:xfrm xmlns:a="http://schemas.openxmlformats.org/drawingml/2006/main">
            <a:off x="3581400" y="1495425"/>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Use liveness analysis to assign scratch locations systematically, reducing false dependencies without hand-tuned temp-bank counts.</a:t>
            </a:r>
          </a:p>
        </p:txBody>
      </p:sp>
      <p:sp>
        <p:nvSpPr>
          <p:cNvPr id="10" name="">
            <a:extLst xmlns:a="http://schemas.openxmlformats.org/drawingml/2006/main">
              <a:ext uri="{FF2B5EF4-FFF2-40B4-BE49-F238E27FC236}">
                <a16:creationId xmlns:a16="http://schemas.microsoft.com/office/drawing/2014/main" id="{A3AAFDC8-521C-4641-9A57-A902BF644913}"/>
              </a:ext>
            </a:extLst>
          </p:cNvPr>
          <p:cNvSpPr>
            <a:spLocks xmlns:a="http://schemas.openxmlformats.org/drawingml/2006/main" noGrp="1"/>
          </p:cNvSpPr>
          <p:nvPr/>
        </p:nvSpPr>
        <p:spPr>
          <a:xfrm xmlns:a="http://schemas.openxmlformats.org/drawingml/2006/main">
            <a:off x="647700" y="2305050"/>
            <a:ext cx="1000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CBA36300-77C1-46DB-8AB8-FE7456961A1B}"/>
              </a:ext>
            </a:extLst>
          </p:cNvPr>
          <p:cNvSpPr>
            <a:spLocks xmlns:a="http://schemas.openxmlformats.org/drawingml/2006/main" noGrp="1"/>
          </p:cNvSpPr>
          <p:nvPr/>
        </p:nvSpPr>
        <p:spPr>
          <a:xfrm xmlns:a="http://schemas.openxmlformats.org/drawingml/2006/main">
            <a:off x="647700" y="2305050"/>
            <a:ext cx="76200" cy="742950"/>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12" name="">
            <a:extLst xmlns:a="http://schemas.openxmlformats.org/drawingml/2006/main">
              <a:ext uri="{FF2B5EF4-FFF2-40B4-BE49-F238E27FC236}">
                <a16:creationId xmlns:a16="http://schemas.microsoft.com/office/drawing/2014/main" id="{EE97F59E-06E0-4D18-A9EE-F92B0565120F}"/>
              </a:ext>
            </a:extLst>
          </p:cNvPr>
          <p:cNvSpPr>
            <a:spLocks xmlns:a="http://schemas.openxmlformats.org/drawingml/2006/main" noGrp="1"/>
          </p:cNvSpPr>
          <p:nvPr/>
        </p:nvSpPr>
        <p:spPr>
          <a:xfrm xmlns:a="http://schemas.openxmlformats.org/drawingml/2006/main">
            <a:off x="914400" y="24574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A34A"/>
                </a:solidFill>
                <a:latin typeface="Aptos"/>
                <a:ea typeface="Aptos"/>
                <a:cs typeface="Aptos"/>
              </a:defRPr>
            </a:pPr>
            <a:r>
              <a:rPr sz="1350" b="1">
                <a:solidFill>
                  <a:srgbClr val="16A34A"/>
                </a:solidFill>
                <a:latin typeface="Aptos"/>
                <a:ea typeface="Aptos"/>
                <a:cs typeface="Aptos"/>
              </a:rPr>
              <a:t>Goodput calculator</a:t>
            </a:r>
          </a:p>
        </p:txBody>
      </p:sp>
      <p:sp>
        <p:nvSpPr>
          <p:cNvPr id="13" name="">
            <a:extLst xmlns:a="http://schemas.openxmlformats.org/drawingml/2006/main">
              <a:ext uri="{FF2B5EF4-FFF2-40B4-BE49-F238E27FC236}">
                <a16:creationId xmlns:a16="http://schemas.microsoft.com/office/drawing/2014/main" id="{A94D9DFD-753E-41DE-952D-90AC6F8B3124}"/>
              </a:ext>
            </a:extLst>
          </p:cNvPr>
          <p:cNvSpPr>
            <a:spLocks xmlns:a="http://schemas.openxmlformats.org/drawingml/2006/main" noGrp="1"/>
          </p:cNvSpPr>
          <p:nvPr/>
        </p:nvSpPr>
        <p:spPr>
          <a:xfrm xmlns:a="http://schemas.openxmlformats.org/drawingml/2006/main">
            <a:off x="3581400" y="2447925"/>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Compute useful work per cycle, engine utilization, idle slots, memory pressure, and stall categories directly from traces.</a:t>
            </a:r>
          </a:p>
        </p:txBody>
      </p:sp>
      <p:sp>
        <p:nvSpPr>
          <p:cNvPr id="14" name="">
            <a:extLst xmlns:a="http://schemas.openxmlformats.org/drawingml/2006/main">
              <a:ext uri="{FF2B5EF4-FFF2-40B4-BE49-F238E27FC236}">
                <a16:creationId xmlns:a16="http://schemas.microsoft.com/office/drawing/2014/main" id="{F021C11B-32E6-4DCF-8694-EECC81DE2170}"/>
              </a:ext>
            </a:extLst>
          </p:cNvPr>
          <p:cNvSpPr>
            <a:spLocks xmlns:a="http://schemas.openxmlformats.org/drawingml/2006/main" noGrp="1"/>
          </p:cNvSpPr>
          <p:nvPr/>
        </p:nvSpPr>
        <p:spPr>
          <a:xfrm xmlns:a="http://schemas.openxmlformats.org/drawingml/2006/main">
            <a:off x="647700" y="3257550"/>
            <a:ext cx="1000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3BEE1E68-D8FF-479B-B3D3-F5C05911675A}"/>
              </a:ext>
            </a:extLst>
          </p:cNvPr>
          <p:cNvSpPr>
            <a:spLocks xmlns:a="http://schemas.openxmlformats.org/drawingml/2006/main" noGrp="1"/>
          </p:cNvSpPr>
          <p:nvPr/>
        </p:nvSpPr>
        <p:spPr>
          <a:xfrm xmlns:a="http://schemas.openxmlformats.org/drawingml/2006/main">
            <a:off x="647700" y="3257550"/>
            <a:ext cx="76200" cy="7429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ln>
        </p:spPr>
      </p:sp>
      <p:sp>
        <p:nvSpPr>
          <p:cNvPr id="16" name="">
            <a:extLst xmlns:a="http://schemas.openxmlformats.org/drawingml/2006/main">
              <a:ext uri="{FF2B5EF4-FFF2-40B4-BE49-F238E27FC236}">
                <a16:creationId xmlns:a16="http://schemas.microsoft.com/office/drawing/2014/main" id="{DCE4228B-FD68-4F8B-838E-C8A1C0BFF0AF}"/>
              </a:ext>
            </a:extLst>
          </p:cNvPr>
          <p:cNvSpPr>
            <a:spLocks xmlns:a="http://schemas.openxmlformats.org/drawingml/2006/main" noGrp="1"/>
          </p:cNvSpPr>
          <p:nvPr/>
        </p:nvSpPr>
        <p:spPr>
          <a:xfrm xmlns:a="http://schemas.openxmlformats.org/drawingml/2006/main">
            <a:off x="914400" y="3409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D97706"/>
                </a:solidFill>
                <a:latin typeface="Aptos"/>
                <a:ea typeface="Aptos"/>
                <a:cs typeface="Aptos"/>
              </a:defRPr>
            </a:pPr>
            <a:r>
              <a:rPr sz="1350" b="1">
                <a:solidFill>
                  <a:srgbClr val="D97706"/>
                </a:solidFill>
                <a:latin typeface="Aptos"/>
                <a:ea typeface="Aptos"/>
                <a:cs typeface="Aptos"/>
              </a:rPr>
              <a:t>Profiler/tooling automation</a:t>
            </a:r>
          </a:p>
        </p:txBody>
      </p:sp>
      <p:sp>
        <p:nvSpPr>
          <p:cNvPr id="17" name="">
            <a:extLst xmlns:a="http://schemas.openxmlformats.org/drawingml/2006/main">
              <a:ext uri="{FF2B5EF4-FFF2-40B4-BE49-F238E27FC236}">
                <a16:creationId xmlns:a16="http://schemas.microsoft.com/office/drawing/2014/main" id="{0BFCD0F7-8240-4921-8F6F-79C798D5B37D}"/>
              </a:ext>
            </a:extLst>
          </p:cNvPr>
          <p:cNvSpPr>
            <a:spLocks xmlns:a="http://schemas.openxmlformats.org/drawingml/2006/main" noGrp="1"/>
          </p:cNvSpPr>
          <p:nvPr/>
        </p:nvSpPr>
        <p:spPr>
          <a:xfrm xmlns:a="http://schemas.openxmlformats.org/drawingml/2006/main">
            <a:off x="3581400" y="3400425"/>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Automatically identify bubbles, saturated engines, load/store bottlenecks, and before/after deltas instead of relying on visual inspection alone.</a:t>
            </a:r>
          </a:p>
        </p:txBody>
      </p:sp>
      <p:sp>
        <p:nvSpPr>
          <p:cNvPr id="18" name="">
            <a:extLst xmlns:a="http://schemas.openxmlformats.org/drawingml/2006/main">
              <a:ext uri="{FF2B5EF4-FFF2-40B4-BE49-F238E27FC236}">
                <a16:creationId xmlns:a16="http://schemas.microsoft.com/office/drawing/2014/main" id="{25028D98-0DD7-43A7-B25B-FC51E46C7607}"/>
              </a:ext>
            </a:extLst>
          </p:cNvPr>
          <p:cNvSpPr>
            <a:spLocks xmlns:a="http://schemas.openxmlformats.org/drawingml/2006/main" noGrp="1"/>
          </p:cNvSpPr>
          <p:nvPr/>
        </p:nvSpPr>
        <p:spPr>
          <a:xfrm xmlns:a="http://schemas.openxmlformats.org/drawingml/2006/main">
            <a:off x="647700" y="4210050"/>
            <a:ext cx="1000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02950D16-97F2-4D04-B828-091ACE481AD5}"/>
              </a:ext>
            </a:extLst>
          </p:cNvPr>
          <p:cNvSpPr>
            <a:spLocks xmlns:a="http://schemas.openxmlformats.org/drawingml/2006/main" noGrp="1"/>
          </p:cNvSpPr>
          <p:nvPr/>
        </p:nvSpPr>
        <p:spPr>
          <a:xfrm xmlns:a="http://schemas.openxmlformats.org/drawingml/2006/main">
            <a:off x="647700" y="4210050"/>
            <a:ext cx="76200" cy="7429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ln>
        </p:spPr>
      </p:sp>
      <p:sp>
        <p:nvSpPr>
          <p:cNvPr id="20" name="">
            <a:extLst xmlns:a="http://schemas.openxmlformats.org/drawingml/2006/main">
              <a:ext uri="{FF2B5EF4-FFF2-40B4-BE49-F238E27FC236}">
                <a16:creationId xmlns:a16="http://schemas.microsoft.com/office/drawing/2014/main" id="{26F63B28-87F6-42AF-A7AF-792D5F06FE0A}"/>
              </a:ext>
            </a:extLst>
          </p:cNvPr>
          <p:cNvSpPr>
            <a:spLocks xmlns:a="http://schemas.openxmlformats.org/drawingml/2006/main" noGrp="1"/>
          </p:cNvSpPr>
          <p:nvPr/>
        </p:nvSpPr>
        <p:spPr>
          <a:xfrm xmlns:a="http://schemas.openxmlformats.org/drawingml/2006/main">
            <a:off x="914400" y="43624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7C3AED"/>
                </a:solidFill>
                <a:latin typeface="Aptos"/>
                <a:ea typeface="Aptos"/>
                <a:cs typeface="Aptos"/>
              </a:defRPr>
            </a:pPr>
            <a:r>
              <a:rPr sz="1350" b="1">
                <a:solidFill>
                  <a:srgbClr val="7C3AED"/>
                </a:solidFill>
                <a:latin typeface="Aptos"/>
                <a:ea typeface="Aptos"/>
                <a:cs typeface="Aptos"/>
              </a:rPr>
              <a:t>Automated schedule search</a:t>
            </a:r>
          </a:p>
        </p:txBody>
      </p:sp>
      <p:sp>
        <p:nvSpPr>
          <p:cNvPr id="21" name="">
            <a:extLst xmlns:a="http://schemas.openxmlformats.org/drawingml/2006/main">
              <a:ext uri="{FF2B5EF4-FFF2-40B4-BE49-F238E27FC236}">
                <a16:creationId xmlns:a16="http://schemas.microsoft.com/office/drawing/2014/main" id="{F1671ECF-145F-43BB-8B58-7D5FBE8E3622}"/>
              </a:ext>
            </a:extLst>
          </p:cNvPr>
          <p:cNvSpPr>
            <a:spLocks xmlns:a="http://schemas.openxmlformats.org/drawingml/2006/main" noGrp="1"/>
          </p:cNvSpPr>
          <p:nvPr/>
        </p:nvSpPr>
        <p:spPr>
          <a:xfrm xmlns:a="http://schemas.openxmlformats.org/drawingml/2006/main">
            <a:off x="3581400" y="4352925"/>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Explore scheduler priorities, tie-breaks, and packing choices programmatically rather than hand-tuning heuristics.</a:t>
            </a:r>
          </a:p>
        </p:txBody>
      </p:sp>
      <p:sp>
        <p:nvSpPr>
          <p:cNvPr id="22" name="">
            <a:extLst xmlns:a="http://schemas.openxmlformats.org/drawingml/2006/main">
              <a:ext uri="{FF2B5EF4-FFF2-40B4-BE49-F238E27FC236}">
                <a16:creationId xmlns:a16="http://schemas.microsoft.com/office/drawing/2014/main" id="{40B3E8D7-B795-4B0E-B76E-87F5643510AF}"/>
              </a:ext>
            </a:extLst>
          </p:cNvPr>
          <p:cNvSpPr>
            <a:spLocks xmlns:a="http://schemas.openxmlformats.org/drawingml/2006/main" noGrp="1"/>
          </p:cNvSpPr>
          <p:nvPr/>
        </p:nvSpPr>
        <p:spPr>
          <a:xfrm xmlns:a="http://schemas.openxmlformats.org/drawingml/2006/main">
            <a:off x="647700" y="5162550"/>
            <a:ext cx="1000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CAEB0575-FD09-4926-9F83-1D01646327EB}"/>
              </a:ext>
            </a:extLst>
          </p:cNvPr>
          <p:cNvSpPr>
            <a:spLocks xmlns:a="http://schemas.openxmlformats.org/drawingml/2006/main" noGrp="1"/>
          </p:cNvSpPr>
          <p:nvPr/>
        </p:nvSpPr>
        <p:spPr>
          <a:xfrm xmlns:a="http://schemas.openxmlformats.org/drawingml/2006/main">
            <a:off x="647700" y="5162550"/>
            <a:ext cx="76200" cy="742950"/>
          </a:xfrm>
          <a:prstGeom xmlns:a="http://schemas.openxmlformats.org/drawingml/2006/main" prst="rect">
            <a:avLst/>
          </a:prstGeom>
          <a:solidFill xmlns:a="http://schemas.openxmlformats.org/drawingml/2006/main">
            <a:srgbClr val="BE123C"/>
          </a:solidFill>
          <a:ln xmlns:a="http://schemas.openxmlformats.org/drawingml/2006/main" w="0">
            <a:solidFill>
              <a:srgbClr val="BE123C"/>
            </a:solidFill>
          </a:ln>
        </p:spPr>
      </p:sp>
      <p:sp>
        <p:nvSpPr>
          <p:cNvPr id="24" name="">
            <a:extLst xmlns:a="http://schemas.openxmlformats.org/drawingml/2006/main">
              <a:ext uri="{FF2B5EF4-FFF2-40B4-BE49-F238E27FC236}">
                <a16:creationId xmlns:a16="http://schemas.microsoft.com/office/drawing/2014/main" id="{61586AF6-DDC3-43D2-9BC8-F8ADF22604E4}"/>
              </a:ext>
            </a:extLst>
          </p:cNvPr>
          <p:cNvSpPr>
            <a:spLocks xmlns:a="http://schemas.openxmlformats.org/drawingml/2006/main" noGrp="1"/>
          </p:cNvSpPr>
          <p:nvPr/>
        </p:nvSpPr>
        <p:spPr>
          <a:xfrm xmlns:a="http://schemas.openxmlformats.org/drawingml/2006/main">
            <a:off x="914400" y="5314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BE123C"/>
                </a:solidFill>
                <a:latin typeface="Aptos"/>
                <a:ea typeface="Aptos"/>
                <a:cs typeface="Aptos"/>
              </a:defRPr>
            </a:pPr>
            <a:r>
              <a:rPr sz="1350" b="1">
                <a:solidFill>
                  <a:srgbClr val="BE123C"/>
                </a:solidFill>
                <a:latin typeface="Aptos"/>
                <a:ea typeface="Aptos"/>
                <a:cs typeface="Aptos"/>
              </a:rPr>
              <a:t>Formalized dependency model</a:t>
            </a:r>
          </a:p>
        </p:txBody>
      </p:sp>
      <p:sp>
        <p:nvSpPr>
          <p:cNvPr id="25" name="">
            <a:extLst xmlns:a="http://schemas.openxmlformats.org/drawingml/2006/main">
              <a:ext uri="{FF2B5EF4-FFF2-40B4-BE49-F238E27FC236}">
                <a16:creationId xmlns:a16="http://schemas.microsoft.com/office/drawing/2014/main" id="{2C64D978-13D4-43B6-BADF-BB57D3632804}"/>
              </a:ext>
            </a:extLst>
          </p:cNvPr>
          <p:cNvSpPr>
            <a:spLocks xmlns:a="http://schemas.openxmlformats.org/drawingml/2006/main" noGrp="1"/>
          </p:cNvSpPr>
          <p:nvPr/>
        </p:nvSpPr>
        <p:spPr>
          <a:xfrm xmlns:a="http://schemas.openxmlformats.org/drawingml/2006/main">
            <a:off x="3581400" y="5305425"/>
            <a:ext cx="666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0F172A"/>
                </a:solidFill>
                <a:latin typeface="Aptos"/>
                <a:ea typeface="Aptos"/>
                <a:cs typeface="Aptos"/>
              </a:defRPr>
            </a:pPr>
            <a:r>
              <a:rPr sz="1013" b="0">
                <a:solidFill>
                  <a:srgbClr val="0F172A"/>
                </a:solidFill>
                <a:latin typeface="Aptos"/>
                <a:ea typeface="Aptos"/>
                <a:cs typeface="Aptos"/>
              </a:rPr>
              <a:t>Represent every instruction as a graph node with explicit reads, writes, engine constraints, and RAW/WAR/WAW edges. Use the graph to prove schedule correctness and search for better VLIW packing.</a:t>
            </a:r>
          </a:p>
        </p:txBody>
      </p:sp>
      <p:sp>
        <p:nvSpPr>
          <p:cNvPr id="26" name="">
            <a:extLst xmlns:a="http://schemas.openxmlformats.org/drawingml/2006/main">
              <a:ext uri="{FF2B5EF4-FFF2-40B4-BE49-F238E27FC236}">
                <a16:creationId xmlns:a16="http://schemas.microsoft.com/office/drawing/2014/main" id="{CAFEFB70-4DB5-4519-A540-808530F8F4F5}"/>
              </a:ext>
            </a:extLst>
          </p:cNvPr>
          <p:cNvSpPr>
            <a:spLocks xmlns:a="http://schemas.openxmlformats.org/drawingml/2006/main" noGrp="1"/>
          </p:cNvSpPr>
          <p:nvPr/>
        </p:nvSpPr>
        <p:spPr>
          <a:xfrm xmlns:a="http://schemas.openxmlformats.org/drawingml/2006/main">
            <a:off x="11572875" y="6496050"/>
            <a:ext cx="342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94A3B8"/>
                </a:solidFill>
                <a:latin typeface="Aptos"/>
                <a:ea typeface="Aptos"/>
                <a:cs typeface="Aptos"/>
              </a:defRPr>
            </a:pPr>
            <a:r>
              <a:rPr sz="825" b="0">
                <a:solidFill>
                  <a:srgbClr val="94A3B8"/>
                </a:solidFill>
                <a:latin typeface="Aptos"/>
                <a:ea typeface="Aptos"/>
                <a:cs typeface="Aptos"/>
              </a:rPr>
              <a:t>15</a:t>
            </a:r>
          </a:p>
        </p:txBody>
      </p:sp>
    </p:spTree>
    <p:extLst>
      <p:ext uri="{BB962C8B-B14F-4D97-AF65-F5344CB8AC3E}">
        <p14:creationId xmlns:p14="http://schemas.microsoft.com/office/powerpoint/2010/main" val="115087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2026-06-11T22:36:56.0510000Z</dcterms:created>
  <dcterms:modified xsi:type="dcterms:W3CDTF">2026-06-11T22:36:56.0510000Z</dcterms:modified>
</coreProperties>
</file>