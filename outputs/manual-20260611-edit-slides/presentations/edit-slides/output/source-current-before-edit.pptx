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7879cc26f7468c" /><Relationship Type="http://schemas.openxmlformats.org/officeDocument/2006/relationships/extended-properties" Target="/docProps/app.xml" Id="Rb3bf9aec0f614b2a" /><Relationship Type="http://schemas.openxmlformats.org/officeDocument/2006/relationships/officeDocument" Target="/ppt/presentation.xml" Id="Rfba58c174b6842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4cd92eff4f4475"/>
  </p:sldMasterIdLst>
  <p:notesMasterIdLst>
    <p:notesMasterId xmlns:r="http://schemas.openxmlformats.org/officeDocument/2006/relationships" r:id="R956c0d1183874e3e"/>
  </p:notesMasterIdLst>
  <p:sldIdLst>
    <p:sldId xmlns:r="http://schemas.openxmlformats.org/officeDocument/2006/relationships" id="256" r:id="Rfc03a66f17df465d"/>
    <p:sldId xmlns:r="http://schemas.openxmlformats.org/officeDocument/2006/relationships" id="257" r:id="Rcc7876f67c2a4db7"/>
    <p:sldId xmlns:r="http://schemas.openxmlformats.org/officeDocument/2006/relationships" id="258" r:id="R2c21fd4218e54e93"/>
    <p:sldId xmlns:r="http://schemas.openxmlformats.org/officeDocument/2006/relationships" id="259" r:id="Re45011b11be542fc"/>
    <p:sldId xmlns:r="http://schemas.openxmlformats.org/officeDocument/2006/relationships" id="260" r:id="R8dafbbc57ae04ae6"/>
    <p:sldId xmlns:r="http://schemas.openxmlformats.org/officeDocument/2006/relationships" id="261" r:id="Ra47713d3d19c4ed7"/>
    <p:sldId xmlns:r="http://schemas.openxmlformats.org/officeDocument/2006/relationships" id="262" r:id="Rf28c7ccf5aa44078"/>
    <p:sldId xmlns:r="http://schemas.openxmlformats.org/officeDocument/2006/relationships" id="263" r:id="Ree109dd3d6a14700"/>
    <p:sldId xmlns:r="http://schemas.openxmlformats.org/officeDocument/2006/relationships" id="264" r:id="R587c69fe0ded4bc7"/>
    <p:sldId xmlns:r="http://schemas.openxmlformats.org/officeDocument/2006/relationships" id="265" r:id="R4a3418b65aba4264"/>
    <p:sldId xmlns:r="http://schemas.openxmlformats.org/officeDocument/2006/relationships" id="266" r:id="R84cba6bf3f43433e"/>
    <p:sldId xmlns:r="http://schemas.openxmlformats.org/officeDocument/2006/relationships" id="267" r:id="Ra1fb95958bdc4c68"/>
    <p:sldId xmlns:r="http://schemas.openxmlformats.org/officeDocument/2006/relationships" id="268" r:id="Rf05f4230a21844da"/>
    <p:sldId xmlns:r="http://schemas.openxmlformats.org/officeDocument/2006/relationships" id="269" r:id="Rd04da96e025a48a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7806c7333442b9" /><Relationship Type="http://schemas.openxmlformats.org/officeDocument/2006/relationships/slideMaster" Target="/ppt/slideMasters/slideMaster1.xml" Id="R294cd92eff4f4475" /><Relationship Type="http://schemas.openxmlformats.org/officeDocument/2006/relationships/notesMaster" Target="/ppt/notesMasters/notesMaster1.xml" Id="R956c0d1183874e3e" /><Relationship Type="http://schemas.openxmlformats.org/officeDocument/2006/relationships/presProps" Target="/ppt/presProps.xml" Id="Rface23c964354fc1" /><Relationship Type="http://schemas.openxmlformats.org/officeDocument/2006/relationships/viewProps" Target="/ppt/viewProps.xml" Id="Rddedbbb9d13b44b0" /><Relationship Type="http://schemas.openxmlformats.org/officeDocument/2006/relationships/tableStyles" Target="/ppt/tableStyles.xml" Id="Rb3a24204301740b7" /><Relationship Type="http://schemas.openxmlformats.org/officeDocument/2006/relationships/slide" Target="/ppt/slides/slide1.xml" Id="Rfc03a66f17df465d" /><Relationship Type="http://schemas.openxmlformats.org/officeDocument/2006/relationships/slide" Target="/ppt/slides/slide2.xml" Id="Rcc7876f67c2a4db7" /><Relationship Type="http://schemas.openxmlformats.org/officeDocument/2006/relationships/slide" Target="/ppt/slides/slide3.xml" Id="R2c21fd4218e54e93" /><Relationship Type="http://schemas.openxmlformats.org/officeDocument/2006/relationships/slide" Target="/ppt/slides/slide4.xml" Id="Re45011b11be542fc" /><Relationship Type="http://schemas.openxmlformats.org/officeDocument/2006/relationships/slide" Target="/ppt/slides/slide5.xml" Id="R8dafbbc57ae04ae6" /><Relationship Type="http://schemas.openxmlformats.org/officeDocument/2006/relationships/slide" Target="/ppt/slides/slide6.xml" Id="Ra47713d3d19c4ed7" /><Relationship Type="http://schemas.openxmlformats.org/officeDocument/2006/relationships/slide" Target="/ppt/slides/slide7.xml" Id="Rf28c7ccf5aa44078" /><Relationship Type="http://schemas.openxmlformats.org/officeDocument/2006/relationships/slide" Target="/ppt/slides/slide8.xml" Id="Ree109dd3d6a14700" /><Relationship Type="http://schemas.openxmlformats.org/officeDocument/2006/relationships/slide" Target="/ppt/slides/slide9.xml" Id="R587c69fe0ded4bc7" /><Relationship Type="http://schemas.openxmlformats.org/officeDocument/2006/relationships/slide" Target="/ppt/slides/slide10.xml" Id="R4a3418b65aba4264" /><Relationship Type="http://schemas.openxmlformats.org/officeDocument/2006/relationships/slide" Target="/ppt/slides/slide11.xml" Id="R84cba6bf3f43433e" /><Relationship Type="http://schemas.openxmlformats.org/officeDocument/2006/relationships/slide" Target="/ppt/slides/slide12.xml" Id="Ra1fb95958bdc4c68" /><Relationship Type="http://schemas.openxmlformats.org/officeDocument/2006/relationships/slide" Target="/ppt/slides/slide13.xml" Id="Rf05f4230a21844da" /><Relationship Type="http://schemas.openxmlformats.org/officeDocument/2006/relationships/slide" Target="/ppt/slides/slide14.xml" Id="Rd04da96e025a48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5bc56062c247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0659018f054b7c" /><Relationship Type="http://schemas.openxmlformats.org/officeDocument/2006/relationships/notesMaster" Target="/ppt/notesMasters/notesMaster1.xml" Id="R54e6391f9a784f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97501508284411" /><Relationship Type="http://schemas.openxmlformats.org/officeDocument/2006/relationships/notesMaster" Target="/ppt/notesMasters/notesMaster1.xml" Id="R1dc3421f5ab945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268c0b74d84be8" /><Relationship Type="http://schemas.openxmlformats.org/officeDocument/2006/relationships/notesMaster" Target="/ppt/notesMasters/notesMaster1.xml" Id="Rb655e7208d4b4a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edeb79869b4574" /><Relationship Type="http://schemas.openxmlformats.org/officeDocument/2006/relationships/notesMaster" Target="/ppt/notesMasters/notesMaster1.xml" Id="R1624e322cdc44f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c3f595dfd349b0" /><Relationship Type="http://schemas.openxmlformats.org/officeDocument/2006/relationships/notesMaster" Target="/ppt/notesMasters/notesMaster1.xml" Id="Rcc3241a9ea4848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aa6970f31b47da" /><Relationship Type="http://schemas.openxmlformats.org/officeDocument/2006/relationships/notesMaster" Target="/ppt/notesMasters/notesMaster1.xml" Id="R99f6f9ca90db46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2f49cc2d77498f" /><Relationship Type="http://schemas.openxmlformats.org/officeDocument/2006/relationships/notesMaster" Target="/ppt/notesMasters/notesMaster1.xml" Id="R1930a7a8f95547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b78dd7276b4761" /><Relationship Type="http://schemas.openxmlformats.org/officeDocument/2006/relationships/notesMaster" Target="/ppt/notesMasters/notesMaster1.xml" Id="Re6f352c581444c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0d5ca879ae4286" /><Relationship Type="http://schemas.openxmlformats.org/officeDocument/2006/relationships/notesMaster" Target="/ppt/notesMasters/notesMaster1.xml" Id="Rf8cdf81b176f44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40cc132fe04eb2" /><Relationship Type="http://schemas.openxmlformats.org/officeDocument/2006/relationships/notesMaster" Target="/ppt/notesMasters/notesMaster1.xml" Id="R6351c59949e840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dff701d6134a3a" /><Relationship Type="http://schemas.openxmlformats.org/officeDocument/2006/relationships/notesMaster" Target="/ppt/notesMasters/notesMaster1.xml" Id="R6d21297e291843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303c7e9a364adb" /><Relationship Type="http://schemas.openxmlformats.org/officeDocument/2006/relationships/notesMaster" Target="/ppt/notesMasters/notesMaster1.xml" Id="R21f9e5302e6d44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760a09d5b64fc3" /><Relationship Type="http://schemas.openxmlformats.org/officeDocument/2006/relationships/notesMaster" Target="/ppt/notesMasters/notesMaster1.xml" Id="Ra475ffb076364e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8fa6afa78084479" /><Relationship Type="http://schemas.openxmlformats.org/officeDocument/2006/relationships/notesMaster" Target="/ppt/notesMasters/notesMaster1.xml" Id="Ra2bdf29055a341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19e8dc4334a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b53191465e4cf2" /><Relationship Type="http://schemas.openxmlformats.org/officeDocument/2006/relationships/slideLayout" Target="/ppt/slideLayouts/slideLayout1.xml" Id="R0e9d81a8a8b644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9d81a8a8b644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70e4c56b94114" /><Relationship Type="http://schemas.openxmlformats.org/officeDocument/2006/relationships/notesSlide" Target="/ppt/notesSlides/notesSlide1.xml" Id="R2bac92b9e7aa45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8e61a294344f3" /><Relationship Type="http://schemas.openxmlformats.org/officeDocument/2006/relationships/notesSlide" Target="/ppt/notesSlides/notesSlide2.xml" Id="R49f9d5b8443e4b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80c707f4c419c" /><Relationship Type="http://schemas.openxmlformats.org/officeDocument/2006/relationships/notesSlide" Target="/ppt/notesSlides/notesSlide3.xml" Id="Rdd00cdc9b7094a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ac8620302450e" /><Relationship Type="http://schemas.openxmlformats.org/officeDocument/2006/relationships/image" Target="/ppt/media/image.png" Id="Rc0688047c45b4e34" /><Relationship Type="http://schemas.openxmlformats.org/officeDocument/2006/relationships/notesSlide" Target="/ppt/notesSlides/notesSlide4.xml" Id="R7f1f4f7f653f42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30356789745f5" /><Relationship Type="http://schemas.openxmlformats.org/officeDocument/2006/relationships/image" Target="/ppt/media/image2.png" Id="Rec4e8de5f1bb46a8" /><Relationship Type="http://schemas.openxmlformats.org/officeDocument/2006/relationships/notesSlide" Target="/ppt/notesSlides/notesSlide5.xml" Id="R822466e410f642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fcec6fe3e476b" /><Relationship Type="http://schemas.openxmlformats.org/officeDocument/2006/relationships/notesSlide" Target="/ppt/notesSlides/notesSlide6.xml" Id="R205a71043fbf41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24d46c8ce44f1" /><Relationship Type="http://schemas.openxmlformats.org/officeDocument/2006/relationships/notesSlide" Target="/ppt/notesSlides/notesSlide7.xml" Id="R42387c1aac6344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7ae4328fc46f2" /><Relationship Type="http://schemas.openxmlformats.org/officeDocument/2006/relationships/notesSlide" Target="/ppt/notesSlides/notesSlide8.xml" Id="Rf35a3948c47c49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142639a6e49b0" /><Relationship Type="http://schemas.openxmlformats.org/officeDocument/2006/relationships/image" Target="/ppt/media/image3.png" Id="Rc4490a714f184c85" /><Relationship Type="http://schemas.openxmlformats.org/officeDocument/2006/relationships/notesSlide" Target="/ppt/notesSlides/notesSlide9.xml" Id="R0477a76f7bcc47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7638896ee4b29" /><Relationship Type="http://schemas.openxmlformats.org/officeDocument/2006/relationships/notesSlide" Target="/ppt/notesSlides/notesSlide10.xml" Id="Rb152cc99423042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4fb48bae54ca5" /><Relationship Type="http://schemas.openxmlformats.org/officeDocument/2006/relationships/image" Target="/ppt/media/image4.png" Id="R7350c875247a48f6" /><Relationship Type="http://schemas.openxmlformats.org/officeDocument/2006/relationships/notesSlide" Target="/ppt/notesSlides/notesSlide11.xml" Id="Rd8e01faee20c4f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fa4ebcae6488d" /><Relationship Type="http://schemas.openxmlformats.org/officeDocument/2006/relationships/image" Target="/ppt/media/image5.png" Id="R7a25475967714ee5" /><Relationship Type="http://schemas.openxmlformats.org/officeDocument/2006/relationships/image" Target="/ppt/media/image6.png" Id="Rf28a8b44ae834398" /><Relationship Type="http://schemas.openxmlformats.org/officeDocument/2006/relationships/notesSlide" Target="/ppt/notesSlides/notesSlide12.xml" Id="R9108100b3b9847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e399f45df438c" /><Relationship Type="http://schemas.openxmlformats.org/officeDocument/2006/relationships/notesSlide" Target="/ppt/notesSlides/notesSlide13.xml" Id="R4b5383e31af54a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aeb45540d4d5d" /><Relationship Type="http://schemas.openxmlformats.org/officeDocument/2006/relationships/notesSlide" Target="/ppt/notesSlides/notesSlide14.xml" Id="Rf06edb21c84b47f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B8027A-E236-4414-8B57-825EF7DF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37526-4A72-485E-94F1-7EE96BBE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50D6A-90C4-4DEA-9D0A-009FBF5A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HERO METRIC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1C91E-C4E1-4C88-A9D1-E101045E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Profiler-guided optimization turns 147,734 cycles into 1,184.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D7A1D-C8E2-4D1C-91B5-39BA13B0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win is a systematic ladder: remove work, specialize, vectorize, expose independence, then schedule the machine.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AC4BB-8587-4D09-9D59-C77CE310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0CB1F-0D2B-47E2-9FFA-4953C15A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524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147,734 cycles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6AC68-5FFC-42F5-957D-2BCFC8DF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43138"/>
            <a:ext cx="43243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5CEB3-5D71-4D06-A566-FEF6EBE6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36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50CB3-321E-4B3D-8036-60A85CE0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1,184 cycles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6D397-B1EB-4478-B263-5B0DA581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85900"/>
            <a:ext cx="428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124.8x faster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B75B0-D249-4A24-ACEA-C28E6DEC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fixed grader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C8E6E-386D-4D1A-9A91-A96D12D9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76650"/>
            <a:ext cx="9048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14662-2FA5-41A3-B99B-41398BEA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9064">
            <a:off x="1475858" y="4007981"/>
            <a:ext cx="763035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8E841-886B-470B-862D-2ACCB050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052">
            <a:off x="2238365" y="4030621"/>
            <a:ext cx="762020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8721E-46D5-43CC-9AE0-5976ACF8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5054">
            <a:off x="3000229" y="4043935"/>
            <a:ext cx="762291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63441-194D-4574-A614-345AB495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90855">
            <a:off x="3728914" y="4217619"/>
            <a:ext cx="828922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979B9-1F75-4A11-8C93-09CE1554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317">
            <a:off x="4524365" y="4383571"/>
            <a:ext cx="762021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0C7250-B024-40BB-B703-6F953EDD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5">
            <a:off x="5286375" y="4386584"/>
            <a:ext cx="762000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92AA1-B254-4054-B59F-0F8F6256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3444">
            <a:off x="6047707" y="4409364"/>
            <a:ext cx="763336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AC4BA-136A-47D5-832E-A66A09A0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06997">
            <a:off x="6781077" y="4584198"/>
            <a:ext cx="820595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B9CB2-6DBC-4C7E-94FE-4F58A3C4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1617">
            <a:off x="7572314" y="4743288"/>
            <a:ext cx="762122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D2D643-4136-489B-9382-369D2C79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FE71BC-5FB9-4CC4-93BB-50643817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D471EB-51CB-48F2-94C0-4951B382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9260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AC8C91-D5EA-4C2F-9407-2831AE6F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A44090-790B-4450-8922-DCD7594B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9815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33D1AB-C3C8-4CAD-9166-113E184C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299B2-C6E2-49A8-A7CB-9A9CAC92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192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E9C28F-F9FA-40DC-86AF-F6851F7A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44548A-1F7C-4E74-A089-1AD3A48A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4552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ED4D4B-2DCB-4400-B9E9-9CFFA46A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E96CC7-18AC-4E47-8910-F330852B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5113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C43AAC-499E-4B4D-A1C7-41F6988B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FEF2D5-AF03-4830-AB9B-806B12DB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5154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1393F4-9C4F-441D-84F8-F0BBFCED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EDE95C-0A6D-4DF5-ACEA-1A23A7C2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9669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82B9EB-F628-4A57-B2AC-B873AE86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0A7AD1-69AF-4314-92BE-D40C2EDB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0121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6FE338-BD87-40F0-AF3F-58BF1C2A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C05DBE-5CD9-4658-8FF3-235127C2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DC6E74-81D7-4486-9522-888B78D0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41AE5D-69BD-4F76-A337-876FA444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95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73EEA6-09CC-470B-AA04-71A9C4D1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530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largest drop: stage 4 vectorization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139066-A2CF-4185-952D-A740899D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9132A4-4F5B-42D5-9355-C0791841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953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stage 8 VLIW scheduling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8FC642-CD38-4E8A-8608-C311146E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0"/>
            <a:ext cx="123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CDAAA5-34A1-4AFD-AA89-EBCB6996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838575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EF0BE2-AD35-4F31-8B03-3D77D3E9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19575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cumulative presentation stages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BA7830-5A14-4826-8FFE-5DBD5B36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2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5477BD-3DA1-4EEE-8CC2-CFE35CB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05450"/>
            <a:ext cx="849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Every checkpoint is cumulative and correctness-preserving.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F788E7-FFB6-4522-8CED-569816C0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76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A4835A-6D8C-409D-9C49-0DF1FCC8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10250"/>
            <a:ext cx="849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Trace interpretation drives the next optimization, not a one-off trick.</a:t>
            </a:r>
          </a:p>
        </p:txBody>
      </p:sp>
    </p:spTree>
    <p:extLst>
      <p:ext uri="{BB962C8B-B14F-4D97-AF65-F5344CB8AC3E}">
        <p14:creationId xmlns:p14="http://schemas.microsoft.com/office/powerpoint/2010/main" val="15914616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A2809C-0A10-476F-9A41-2D35BC6C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9162E-A5B8-4B5F-8699-2A9AE0D5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04848-8EB5-4B23-8E83-BC84F633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9F5B2-7814-4067-B017-3463B30D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Batched binary tree traversal is a repeated value/index update.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366C8-504F-488A-8138-E31AD672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Each of 256 inputs walks a perfect tree for 16 rounds and must match the reference final values.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AE57C-CADA-4509-AC44-5502A778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C2F35-1C13-40BF-B024-66518D45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4762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C0DC2-C189-441C-ACE7-86C9AC75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Perfect binary tree: depth 0 through depth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F2FDC-4760-4BEE-BD60-3D3393B6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88595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CB659-7BF1-48E8-BF22-A5BF1FE8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962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259E9-1B03-4068-8447-7EEC4BFD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384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622FD-9FDE-4350-9869-418A1E38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14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D2CAE-D0AE-45B0-B9E0-43D153B2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384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6C23E-0437-4D37-B082-11AFFA61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BC0E8-8828-4622-911A-F5D87BEF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99085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3053E-4004-4F20-995F-AA3C56D1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67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D3E31-265B-4F40-B59D-E56F2809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99085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7C371-80FE-44C8-BD0B-E01BA0AD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67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4789A-A48F-477C-8CBC-168F8959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99085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08B207-32EE-4270-8AAE-57B3D57D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67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07C02B-F804-46CA-B9E6-23CF63F2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99085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39272-B80B-4D2C-AC28-265C8372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067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9D972B-4DEA-42B1-9E0F-FF835CC5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050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7BF9EE-2B49-43BE-B6CA-C4F9B81A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621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48BDF3-68CB-4345-B36B-0C83D8BA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05050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D2246A-F71F-4350-85A8-E91B2565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621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DB6D7F-37FC-45CC-866B-D4F07A65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E46250-3340-4A56-80E2-16FA3F4F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7146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F051C7-233E-4D64-A3CD-704283AA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65C95B-54DE-47C9-8147-9938F4A8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7146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B43C5E-D64E-44A3-B096-3B302775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0F2D6E-8DB8-493C-B3E1-7146AA0E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146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FFAFCB-6FE7-4C8A-B402-ACAFEF7D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54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3D0405-6705-41E7-BF90-D7C955B9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7146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E98BF9-D6D2-4B12-AF0D-0AEE0199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EB0E51-17B4-4819-A9EF-24DA35B1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43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collapsed lower tree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EBF4A5-ABD3-46DF-BBA1-D21B8A15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91000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depths 3...10 contain the remaining nodes; the slide shows concept, not all 2,047 nodes.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9B72D1-DF09-4D92-B960-D95B083B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383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highlighted path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356551-A4CF-40BC-A5F4-243309EA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00263"/>
            <a:ext cx="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62D7FC-94FA-4EB0-B5C0-E5B005D8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621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A20C34-B573-4497-87FF-9A0C76A9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5619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40E43B-BD81-4F80-80B8-6B0C4175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002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One round dataflow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DA033C-55D3-4F80-9A5C-13C6565B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1028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4D1C2C-DFD5-4102-9247-02682DCA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value + index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112739-FFE9-41B4-B277-A44C7984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09838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FB98D0-8751-4ACC-8029-D1ED24A0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717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0055F0-1898-4DC6-9629-30417E2B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1028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26D7E0-E3E0-42B8-9A42-7A71192C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03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node lookup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555928-4BB4-4458-913D-63FE8A80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09838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43DE96-DEE1-4853-ACC3-1D75919D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717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270778-757E-48DE-A6FA-FE5043F4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9800"/>
            <a:ext cx="914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65B223-9086-4376-B102-C3E8CBCD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hash/mix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C0154D-49DB-4F47-B3B8-F99D8F56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09838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22B802-B2DA-425D-8EFF-00C44E81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717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3FC62B-2623-488A-BE61-F86AC6EF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09800"/>
            <a:ext cx="819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741D53-BD5B-42DB-B20D-CBE1C72C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4003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branch bit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ABE414-C9CC-4772-AB13-46F9DB9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113" y="291465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EE2001-3B95-474E-8CDA-171FE3D9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333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3823C3-1246-42E5-9A0D-CC0AAC60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5FA6ED5-5D0F-4084-9F93-79410516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290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next index + next value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5CC31E-50B0-41F7-8F7E-4ED8DDCC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900488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1509E3-7E05-4161-9738-3D8EA0AB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623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4B50A3-EBBD-46B7-8722-F1E076B2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F4DC44C-F648-44D9-8A93-9416B005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74345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batch_size = 256 independent inputs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24223D-772D-4337-A6B8-C5973F00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00625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depth sequence: 0,1,2,3,4,5,6,7,8,9,10,0,1,2,3,4</a:t>
            </a:r>
          </a:p>
        </p:txBody>
      </p:sp>
    </p:spTree>
    <p:extLst>
      <p:ext uri="{BB962C8B-B14F-4D97-AF65-F5344CB8AC3E}">
        <p14:creationId xmlns:p14="http://schemas.microsoft.com/office/powerpoint/2010/main" val="7769048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EFB6FC-134B-4027-81FE-576E33D8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9AD4D-AA0D-4C0E-9A17-23C12071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62D87-0762-436F-91D8-189C7D05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MACHINE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CD260-EF9E-490D-B0EB-1B397750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One cycle issues a bounded VLIW packet across five engines.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D3A36-5748-44EC-8BB5-96B80340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Perfetto traces show which engine slots are busy over time; blank regions are idle capacity or dependency bubbles.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64192-E0C2-450C-8E95-AE0C1FA1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FAEA3-2B07-45CF-B6A0-6CD1CA52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11239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63F4D-FEA6-469E-AC82-6D47E9BB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Per-cycle issue packet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8B789-5394-466C-B79D-F73B4346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51B8B-B3CE-40D1-B283-7F73B7FB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935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443D4-D016-4A3D-9ABC-C5962890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969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8D94F-D888-4021-BA51-AC419B94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004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B0948-AC76-4E09-B94F-556996CB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038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61C1E-A20E-45D6-98ED-A44E1D24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073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47263-A889-457F-B4D3-02183689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107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018C7-2336-46CF-9914-0EF00BDF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141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B4B30F-DA7E-44D4-8D68-E3D62ADA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2176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12433-E258-4593-B3CA-06CCB243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211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F1B38-4A77-4656-BECE-D7E4B9E2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245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C3F9E-972F-4A75-859E-25C1805F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280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C42882-5D26-4845-920B-F53F29E9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6886"/>
            <a:ext cx="327641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ALU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73D4EC-B2F5-4EA3-90FC-9E18CB9A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331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D60E4-5655-46FB-8B41-2884B3E0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365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B28E04-BFF0-4E95-8EC1-FDE68BA1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400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469CD0-A0C5-4E45-A8B6-3B33B23D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434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4C23ED-143D-4A08-A2F6-7D68BBA0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469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FE0E8D-2944-49F9-A7C5-C21CC187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503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834272-05ED-4564-818F-D10B0048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331" y="2516886"/>
            <a:ext cx="162020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VALU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6874F7-EF98-40B6-B29B-5676F2F9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554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08C351-80B2-466D-9D7C-1B8C7F70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589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41EB7D-A7C1-40FE-9F71-961C07BB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554" y="2516886"/>
            <a:ext cx="51606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8696D3-FC20-4B7B-A893-90D5F209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0640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FBBA5E-6FCB-481B-A869-FFD9B2C8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674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4BEB54-30B9-410B-AA7D-D9E4A62F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0640" y="2516886"/>
            <a:ext cx="51606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STORE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2C94FE-27E1-4752-ABF3-B8008C17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F1F29B-0581-4502-84E1-A9FCAC91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16886"/>
            <a:ext cx="24003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2EF5E3-528C-4CBE-9AE3-3AA2D099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86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98BBE0-F6F1-4EE6-9510-27360658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575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ALU: scalar arithmetic, comparisons, address math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8DCF68-2C8B-4086-8F8E-B6B3AA01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86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D8C188-9614-43AE-B094-7B4EB6C1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575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VALU: vector arithmetic across 8 lanes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1CCFEC-8830-4474-ADB8-34EDBC95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86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FD609E-A0C4-4CB2-A42C-0CFDBECC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575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LOAD: memory reads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EB07B5-14FC-49C1-99D0-BE453E3F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86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33FF7E-4F5A-4B31-808E-D08AB828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0575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STORE: memory writes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6A22A5-45EC-45BC-970C-62CC050A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86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3BA1B8-CF03-42B4-99D2-2FB5F3D8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575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FLOW: control operations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080CBC-AD4C-42AC-A937-2F737140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1009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7075DB-61FB-439C-8B31-ABD22584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Trace strip: slot filled = issued operation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F2FC02-7C13-4EEE-91ED-1D6F4D6B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ALU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091FBE-0321-4FEF-A21A-8EC8E7FC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038763-01D3-46F0-ADFE-2ACC4A1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338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A00266-C11D-4112-8169-C7AF04EE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338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D85D09-376A-4892-9F28-FF423EAC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3338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7287FB-7CD1-4871-B0C1-7F0BEDFC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338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72EEC5-C466-4DBD-9375-03340111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338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74EF9F-9E90-423B-8E05-DF36894E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3338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015D2ED-998A-49F8-BC54-3A588CC9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338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05D98C-9721-413A-80CC-094B60F5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3338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9EB94F-46AE-4458-B8F1-7796A75F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3338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5D83CA-4EB8-4A2D-8059-BE792147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338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DE03E02-5C12-40E5-B2A8-C191D7C5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3338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4F76F8-C22F-4885-BD6D-4717120D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338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0CA5EBD-FBDD-4808-940D-C07D8A39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338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FC5D01-B215-4447-B42C-4F3E0A2B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3338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A8EBC6-CB2A-4338-BA43-0DBA3958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338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42438D6-086E-4B80-A264-C9A743EC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3338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E5403F7-8967-4815-8CF9-1E549CCD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3338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B1A440B-2D4D-4F84-9C46-B1D3FBEC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338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9BF6164-9281-4CAF-93BB-4B11D19E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338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7C1ADD3-85E6-4BDD-A03E-CFBC58D5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338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50C1384-FF70-4DD5-915B-059DE06F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338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6A92FF4-29E3-4009-B022-7BFF6C9D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3338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4C5EC99-E9E9-4F2E-ADF7-AF70FF23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VALU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8468076-4997-4605-924F-B5F56051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27D1F59-6098-4D35-8F51-0BC4BF7B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04121E1-73D0-4D39-9E30-C7BFAA0E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5815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B0E9C92-7292-4793-8FFE-B37C8635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815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ED159AE-11AF-4271-9F02-66FF12FD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5815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308BB54-CF5A-428D-ADB5-2F700541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5815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0AE1640-92DA-4A64-8447-4CE7C71E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815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66B535F-10C3-418F-964E-9F3497CE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815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E34FB53-F317-4B64-8C69-1182898F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815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D8BBE94-3AA1-4C8A-B9C4-CC687BFF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815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CD07A08-6085-4BBF-B04A-5BF2777B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5815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C9E9AD7-5438-4DCB-991A-DBC00B9A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5815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23E0768-3F61-4989-BDF4-76AF04C5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5815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7402C8F-FC8A-4ABC-AD4B-87299FC7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815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9CF8CAF-4BD7-4749-9952-2DF8960E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815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1A3EF01-3945-41A1-827F-512BE645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815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96BEEFF-7EA2-4FFA-A9F1-887E2C4A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815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83CCA62-9831-402C-998E-BB47AFD3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815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F248565-06C0-4C2D-8BEA-D67D318B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5815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1A67ED4-D079-49CD-A46C-900E29E4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815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769CDE9-6A17-4E7E-B07D-CDF20994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5815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0A727EB-6E7B-4264-B608-F61D958F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815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6ACFE63-92EF-4365-98EA-20795944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815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BA35DC1-1AE4-4DE4-B05E-AC6593DC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5815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06E2F09-CB5D-4375-B281-B6A4C5ED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1733026-EA2C-4C5D-A8CE-AA6C411B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7C0BCCD-098B-4C7A-AB11-13991BB4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291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D554D42-82C5-4C33-9BE8-CA7E53DF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8291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42FBCE0-6654-4395-87F7-57E7657A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291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E7C1DF5-6EA8-4412-9927-9635F0D1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291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179AC24-8359-405A-8B15-40186BD0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291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D520D3D-4951-409F-B888-03324392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291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E1B4CC9-EE86-440C-B4D3-E9C27134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291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C2C69CB-E5F8-4533-A33C-3C3A8628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291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485146B-1350-490D-BC75-6DE279A5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291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7B0F323-9EAB-4258-937E-CD38B51F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8291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5E77676-CEF9-4F52-8DDE-19B18D01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8291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275BFF2-6E20-4196-B3F9-59C634ED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291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0148ADB-4350-429B-AC9A-34D3D458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291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ACF029A-299C-43A6-B6B0-1A1FD8D5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291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03C77E6-99D4-4B13-BE7C-C973E759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8291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D3FBCC2-457E-4DC3-BABC-FEF4057F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634992A-CEC4-4431-89EF-DEA3CD71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291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9DD25F4-01D6-4208-896C-129774AB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8291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560B604-1A2B-4888-BDB4-542537CF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291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065A2C5-263A-4B41-8C00-159EA093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291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0C4A267-688C-4B78-B40F-DF2935BB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291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5D6D776-2A24-4C08-8D6B-CD4E2278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291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E22BD29-F882-4CE0-A1FC-4417C1A9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8291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E231B3B-8F37-4B93-BDD5-1902A21C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STORE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AE8DFEE-F876-462D-B1F7-F7ECAB32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244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4FB1620-24CC-4D6E-A512-FEEEB27E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76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68C3010-E56F-45B2-96BE-2A67E522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0768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A5AE62C-C0C7-421E-BFDB-6710CF25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076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C3A6C35-CD36-4582-8C74-80B61CB4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768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B2BD8D7-1FD2-4640-B5CD-12A18368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768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D07B114-156D-4C90-887B-F0DE4AD2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76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EF51D7C-EECA-4667-AF76-75BC010A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768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E04CF2F-B813-4345-B678-BDF9D8BE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076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3095213-1F81-443B-9193-88318856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768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567B1F2-B3CE-498B-92B1-C8E0CE9B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0768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D99ACA2-3875-4BCD-99B6-E8AD67A0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0768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1E19762-6D00-4651-8767-C9EC0D75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768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CE632DE-F867-4AFF-80CF-02F70042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76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F123759-B350-4296-B2C7-C7B35E43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768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E8B87ED-05B8-4D0C-8681-42B7D561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76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65303E6-5246-4DDC-82DD-ECC0D63D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0768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2FC27FF-2E4B-4A25-882E-C18EEBCE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768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EEB42D3-90DE-4566-A9A2-1B8A5EE8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076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FE32B80-46F6-4B00-864C-9BB020AC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0768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A642CB8-B3DB-4AA0-A726-1C99CFCD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76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527BE8E-EF7F-45B3-8FD0-914C43D9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0768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EC121CE-0A99-4C32-94CA-A08F3778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768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00ED9D8-F6AF-4E8F-8954-7B9BBB4C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495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137CA11-41CC-48B1-A797-6065D431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29250"/>
            <a:ext cx="3543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Dense bars mean useful issue bandwidth.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E3F768D-C77F-41C6-A60A-C546BB79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781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941157C-3DB4-43EB-A152-637BED36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15000"/>
            <a:ext cx="3543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Blank gaps mean idle engine slots or dependency stalls.</a:t>
            </a:r>
          </a:p>
        </p:txBody>
      </p:sp>
    </p:spTree>
    <p:extLst>
      <p:ext uri="{BB962C8B-B14F-4D97-AF65-F5344CB8AC3E}">
        <p14:creationId xmlns:p14="http://schemas.microsoft.com/office/powerpoint/2010/main" val="13644786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D30230-73DD-4C2C-846C-2178DE95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98DB3-F808-4AF9-9C57-B82C3F4C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C3C06-5160-47DA-BAEC-086121B8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D4746-349A-414E-A40E-E64DAF4C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roadmap is cumulative progress, not independent ablations.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B4A3B-B353-453C-B50B-646E406A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story moves from removing waste to changing program shape, then scheduling the exposed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7A5B9-5C6E-483E-9FAD-0E39B03E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88047c45b4e34"/>
          <a:stretch xmlns:a="http://schemas.openxmlformats.org/drawingml/2006/main"/>
        </p:blipFill>
        <p:spPr>
          <a:xfrm xmlns:a="http://schemas.openxmlformats.org/drawingml/2006/main">
            <a:off x="836083" y="1381125"/>
            <a:ext cx="7281333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AA963-06F4-4162-9600-89124A61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101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59EE8-30B7-4114-AB56-9CAD30B0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remove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203BA-D2A4-49AD-903E-8732902F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2B3F6-9DED-488E-8BD6-6CD0D3D3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0673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specialize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F0803-C4BA-4C09-80A3-55099B8A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101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6933A-9E4F-4E3B-ADCB-76095639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06730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vectorize +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8F69B-2161-41DB-BFA3-0E6B567D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1015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37E0D-3175-49C8-B846-AB5881A5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067300"/>
            <a:ext cx="1057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expose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74615-D33D-4B64-8FD0-299D585F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101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07FE3-1D27-40F3-BFB7-B841F691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067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schedule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77CE69-E2C2-4545-9043-10C659D4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383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AA8D4-E4BE-4DE2-A590-FC5A39F2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62125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97,040 -&gt; 12,285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5575B-7447-41F7-875A-22BA99D1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43125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stage 4 vectorization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5140E0-4373-4248-9797-70D6CDAE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051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B4F8B0-1A64-4A4D-B479-00A0C883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28925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8,884 -&gt; 1,291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36FE3-DADB-42E2-953A-00B98009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09925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stage 8 VLIW scheduling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6D69E5-CF7C-4B66-A15B-5431F651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67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3797FF-2088-4C0A-BC24-8099AA11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00500"/>
            <a:ext cx="2305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First remove work that the grader does not require.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BB539F-2475-40E0-9FD5-11385011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29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5DBFB6-6D1E-43D2-9F43-284A070E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62450"/>
            <a:ext cx="2305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Then exploit fixed workload shape and SIMD batching.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DF1CA-EB45-4402-A7CF-91501766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91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06884A-F87E-4A9F-BD10-A979F712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24400"/>
            <a:ext cx="2305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Finally pack ready operations under engine slot limits.</a:t>
            </a:r>
          </a:p>
        </p:txBody>
      </p:sp>
    </p:spTree>
    <p:extLst>
      <p:ext uri="{BB962C8B-B14F-4D97-AF65-F5344CB8AC3E}">
        <p14:creationId xmlns:p14="http://schemas.microsoft.com/office/powerpoint/2010/main" val="6341712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0B7AE0-C039-45DC-9EAC-8816FFDC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C7174-F04B-4A20-A4B1-202C004F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73400-EEB5-43CB-8D2A-D26DB722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4854C-C746-4B90-8B84-3A0CEF0F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baseline trace shows serialization and unused machine capacity.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D0CEF-F75A-48AC-97C1-3652009E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first trace-reading goal is to separate useful work from bookkeeping, memory traffic, and bubbles.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8DA30-A202-436C-A11F-9F45566B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e8de5f1bb46a8"/>
          <a:stretch xmlns:a="http://schemas.openxmlformats.org/drawingml/2006/main"/>
        </p:blipFill>
        <p:spPr>
          <a:xfrm xmlns:a="http://schemas.openxmlformats.org/drawingml/2006/main">
            <a:off x="571500" y="1819498"/>
            <a:ext cx="7429500" cy="33142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BE0AC-CC2C-444D-A110-7BFD58D2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772B4-251C-440B-972E-9658758D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52575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147,734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26446-32AA-44DD-B29F-B2E1536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3357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baseline cycles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B950A-2147-41E9-9F08-C0DD394D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F87DC-CE99-4FAB-8513-D529A32C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527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scalar lane activity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6A31B-FA73-47BF-BA9E-D8EC3797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14613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D236D-67CE-480E-81C0-673E67BC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6F053-6C80-49F6-95B4-F354B4E7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43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CE5BF-DAEC-4A5D-9C55-013A2ED5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2004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idle VALU capacity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71E16-E021-40E3-8C90-A328D0F0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62313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D82E4-6B07-46FD-BFED-73015B97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1D8DF-A81E-4E9B-A5E0-A43AE016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3E6C0-2F8E-4706-A84D-26D3ACE7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8481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index memory traffic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DE3C3-FCD4-4EA8-BD4D-6E5F3709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10013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689E7-BAD2-4499-9A56-F7031730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719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6E8594-6084-4109-9E5F-436FF594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38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5C160D-53F8-4B2A-A092-2F0F6F39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958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dependency/control bubbles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51A210-4125-4124-A223-134B1AC9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57713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ECD617-8A6E-4D8A-A5D0-3A726ECA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196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54CACE-B655-40D1-8CB3-EA656E79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340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first goal is to remove bookkeeping and memory traffic before deep scheduling.</a:t>
            </a:r>
          </a:p>
        </p:txBody>
      </p:sp>
    </p:spTree>
    <p:extLst>
      <p:ext uri="{BB962C8B-B14F-4D97-AF65-F5344CB8AC3E}">
        <p14:creationId xmlns:p14="http://schemas.microsoft.com/office/powerpoint/2010/main" val="3042519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509867-77DB-44BA-A883-9E49E5A1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AE9CE-245F-4661-A89F-382A96B5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6CE62-32C5-4E90-B472-9A867F6E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REMOVE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81E72-3E97-4D50-AB36-B3D5B840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Index bookkeeping can stay close to compute instead of round-tripping memory.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AF735-6194-4248-A45D-4294DA62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Stage 1 combines test-contract cleanup with scratch-resident live traversal indices.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7934B-FDC3-4A09-9A30-B41DB0A7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803A1-D1A4-44E5-AED4-1DD9289F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3525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524EC-3F5A-4155-8F43-F06EE74A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287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147,734 -&gt; 114,868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5ED62-7D96-4210-A325-FCAD3289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1925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remove ungraded work + scratch index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9CF77-8E88-4F92-A836-0FC4D05B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43372-404A-4B61-8429-60589871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526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Before: memory index traffic every round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AC6B6-42C6-4BBB-8882-E4BBE22E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288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B8D34-909A-4349-9AD6-47ECB1DE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622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load index from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8F93B-EFB7-480E-85A0-FFDD97F9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2781300"/>
            <a:ext cx="28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B6D6A-B574-438F-8870-34B28A08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57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A56E3-52DB-4AC9-A9E1-124FF151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71F0D-0046-4AA8-8AB1-D659C00D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385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compute next index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0F5D2-29B4-4ED9-B8CF-46D679EA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3657600"/>
            <a:ext cx="28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799C2-327B-41EA-9062-87834959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33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277BD3-6E26-498C-8252-B6689EC9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814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8356D-49E5-445B-9DB4-C345812A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148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store index to 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E97D4-46A2-4E35-AA4E-10152E3D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00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final index write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D42DF1-734F-41F7-A425-5761192C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244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8DBF99-FBB3-4D5C-9AF0-61A05BDB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0333B-C281-44B7-9140-A32F5582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5262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After: live scratch index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DB3BDA-8E94-466D-9C41-B7A9410D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CE41F4-1F13-4E51-A3D3-0E3A1213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622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scratch index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1F1089-49A2-4620-89BF-C5FE59FE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2781300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39BF1E-B8E5-492D-A583-558C83F1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F520F6-17B3-4C40-8F26-CA6B643C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164E83-49A6-4FD2-8596-BAB08559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290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compute next index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C80EB1-970B-40C7-9B28-1F8FF941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3848100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BDED29-6CEE-42AB-9118-DEA12CA2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257AA6-BDBD-4093-B695-3DB8008B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624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BCC7D0-9470-4469-B60A-090F473B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958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scratch index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253B6A-314A-408F-A472-F64E41A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final index write removed</a:t>
            </a:r>
          </a:p>
        </p:txBody>
      </p:sp>
    </p:spTree>
    <p:extLst>
      <p:ext uri="{BB962C8B-B14F-4D97-AF65-F5344CB8AC3E}">
        <p14:creationId xmlns:p14="http://schemas.microsoft.com/office/powerpoint/2010/main" val="3923421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D78EA2-0DAB-4D6B-9AB8-70122CE7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EF427-B5D2-40B2-8BF0-70554259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4A4DF-03C8-48C2-92C1-E4B72615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SPECIALIZE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FF2F3-6CEF-48C1-BF4C-0CBCC3DA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Fixed benchmark knowledge turns runtime control into a known 16-step strip.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3D5C5-9829-44AF-B4A9-81B4076E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Specialization and unrolling simplify the kernel while it is still mostly scalar.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A59C8-78A2-46FB-9E6B-B05FCDE5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85284-C4DB-4191-848C-ED0CC9D0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144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35189-01AA-4DEF-AA19-490B10B6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90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114,868 -&gt; 110,898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EE3F4-5DD0-43B3-9A40-1BA89D9A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811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fixed layout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119AB-5F54-4B3C-BF48-83681BA9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144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3C230D-CE7A-40F1-B767-07DDFB1D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90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110,898 -&gt; 97,040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FAE78-0A10-4B2C-9F9E-0D8413A3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811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round unrolling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E9E3A-E8FD-4029-8A1D-296656BB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B769B-BE98-4801-8541-0C47E66A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Generic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A1EE4-3357-4CC8-924F-0CDA3615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765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AA93E-6266-47C0-97F0-2C9229BA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098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read layout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88EE7-6730-4EEB-A3B0-74CDB678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469" y="2990850"/>
            <a:ext cx="23813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AADDA-6CF8-4AC3-8608-C27D2B03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33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16169-06D7-4216-9221-1DC88389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670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35338D-01B7-416B-B45B-362B5002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004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check depth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BB65DB-3C98-4895-9A37-A3B17091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469" y="3581400"/>
            <a:ext cx="23813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B6E982-70ED-47B8-9E55-BC7CF0D9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524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65D331-996F-403E-9CC4-189A2EAF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57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9A8409-8841-494B-ADB7-EAE5FAEC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loop branch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8A1E4B-0C90-40C1-815E-32899D86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469" y="4171950"/>
            <a:ext cx="23813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5EF68D-DD37-4379-BB8C-5B6EA1A3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DD1DBA-1AA1-4ECE-A82E-7572664E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481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1ED827-3868-4237-A8FA-0747F97F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815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compute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3160C1-F7B2-403B-BC80-8C2B0183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09750"/>
            <a:ext cx="5810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E6FEC4-9345-45A3-A1E4-2941E927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19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Specialized emitted strip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50488E-9953-4664-B18D-A53087B8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38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AE5245-4FAB-4659-B56A-2FB5282B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baked-in pointers / layout constants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40F2E3-7556-4DA9-85E8-AFF07511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432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C33AD8-AA22-406E-A718-5B450AFA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838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BC9E90-2EA0-400C-A7AC-8BA3284B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7B7753-92AF-4938-8C53-23C30141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908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C5F0C9-09F2-4DB2-9936-110EE8C3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8F47B5-1553-4BB0-AEDD-8DF1A479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B933FC-5FED-4DF6-99FB-31FD804B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337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04F608-1E09-4D04-9EEC-8F7431F1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908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8876FF-0FEE-4AF7-886F-1D4DBFD0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28B456-F7A2-4A1E-AFF6-702DA18C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38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DEFFB0-F8CF-472A-9825-EDA6CC72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337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596730-DE1A-4C8F-A9A9-2B69D2C7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908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A950B4-C9B5-4B49-93CA-A93FAC1C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432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7F0765-B221-452E-AB56-93C977F8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38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023D56-CFFA-41C5-AD70-30C83BA0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337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C9CA19-6E9C-4A0F-BC63-F4A1E584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7908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1C8541-17DB-4E4C-9F24-40203042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432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9A5F69-4A5A-4EA7-BA0F-555A328D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38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CAD58F-82F8-4777-8492-2500C63B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337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426262-2FE2-4868-9998-5ADDFE13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908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D92394-C43C-497A-8562-2769B419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432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3E197C-6F25-4D29-80CF-5F396DC9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A189D2-A908-4BCB-BCA2-6563E6D4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9337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80F50B-282E-4E86-B029-6D6031E8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7908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672EFB-CDC7-475D-90DE-F42DED2B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432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9BC61A-2A2B-4475-8F58-285ABDAC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838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EA6AC1-BCBD-4882-9049-A7ADDE19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337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99C1A50-B885-4A63-8D78-00FFD000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908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956470-BDE9-4E76-B978-C58EC53E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432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37B1E6-2F35-427F-9C86-D95B8EEB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38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2D25D47-4A7F-47A3-929F-4193AE35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62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A94C9B-EC03-49F1-AC2A-B054C5E4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657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F58B2AF-E252-495C-8369-E6992112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528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9A552A-13A3-415F-A553-CFDBCC19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099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0A0DCF4-D777-4B33-9B3D-B2A9D039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A784028-4A2C-4ACF-9917-17FDF1AC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57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A6AB46-2A19-48E2-9AAA-A7765438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528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9E58EA9-712A-43AB-BD4D-9B6643A3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099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4C03815-BD67-4CC3-A3AD-FDEAB2B4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62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B627969-6986-493B-AA64-AC60E7D2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57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462EC7F-7983-46C0-B0E4-F81E78BE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528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70805D-B391-433E-8F01-0360A345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099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28BB08D-A285-4FAA-808B-0FB84509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62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E16DB5-84EF-4EB7-B5FC-EA02683F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57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5AA957B-3BC7-401A-976A-9F898495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7528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052F6CB-70B4-4681-9E5E-B9561A2B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6099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CB0D31B-47FE-489D-AE0B-7D930BAF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62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92ED4D3-031A-4C7D-B551-8A617394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657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7F70BDF-A582-49CC-9B7F-0996DDB9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528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8061B31-162B-4501-923F-7A33614A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99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16587B2-01FF-4BAC-BF27-8BC69A81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0C3F7CE-3E32-48C9-8B84-717D988F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57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712E935-AA4E-4EB9-B451-7A67F0F2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7528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75991DB-6973-4D8A-BC1E-F7B6CF63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6099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876C49E-67F6-4BF4-AB38-D2F8833F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62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A22C85A-2053-4904-91C1-6AC0F4F3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657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0D41FA7-0D5E-417E-928C-6F336801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528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19E0DAD-AF2F-47B6-B9B3-33A6C0FE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099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36B70F5-7BBC-4128-8FAF-4B8D3B4F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62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5828AD7-C3A1-4935-A8E2-B81EBB3E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57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3E1FF52-C058-4866-9E88-FCFF12CE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339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Tradeoff: instruction file grows, but the score is simulator cycles.</a:t>
            </a:r>
          </a:p>
        </p:txBody>
      </p:sp>
    </p:spTree>
    <p:extLst>
      <p:ext uri="{BB962C8B-B14F-4D97-AF65-F5344CB8AC3E}">
        <p14:creationId xmlns:p14="http://schemas.microsoft.com/office/powerpoint/2010/main" val="17520036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7FF35B-D403-49C4-883D-54F7AA7A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1180C-799C-4458-A8F1-84AC6D8E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E0DDE-D718-4222-A813-5EAE6020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SIMD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C6CAB-D820-450F-B513-1219F9B1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SIMD batching changes 256 scalar walks into 32 vector groups.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C2B3D-67A6-459A-86DB-EC30BBF0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hash pipeline, value update, branch bit, and many index updates become lane-wise vector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4AE52-2E4F-49ED-B5A7-3BDADA5B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BD686-1A6A-4560-A85D-39D168A3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525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A3E64-CE53-4A6A-BCE7-8C9E9E8B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97,040 -&gt; 12,285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5D81D-BDA1-4F35-BB78-E3240C3C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192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stage 4 vectorization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8FEE6-1EBE-4D7B-826E-91F6ECD9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A00A2-3E04-4F45-A890-A1603857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3084E-6764-4A9C-8E90-B86BB076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14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0A82D-D0BD-412D-946D-B1F0272A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098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F61788-7F53-492B-BBE2-6F965D17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43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53677-59FE-44CD-87E9-8BD98697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3837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B49BC-215F-47E5-9BFC-84CA111C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14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D9968-6073-4220-8494-D046E190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098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5B6ED-3ED4-475C-BB89-EECF346A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43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53E748-07B9-4FA2-A377-2EE765E5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F31A57-7F72-47C2-9ABD-4F6F0786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14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5126F-320A-49A4-8197-586F271E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98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81804C-9B1A-423A-BCBD-0313B3CA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43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0E484-F933-4CFC-A516-8638F552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3837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A066B1-E34E-4977-9740-2B9D28F2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14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576D1-290C-4654-A7B9-47FBD1C5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98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4553BD-017B-4CCB-A213-6D97D32E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81263"/>
            <a:ext cx="971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E6C07D-436F-4C3A-B062-4B40CB2F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526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FCC75A-FBCE-4DF0-B645-D5606283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714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854E0E-2850-4044-89D9-DC1AADEA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716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one 8-lane vector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425DFD-7F49-42E2-A424-1CC4E0D4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62200"/>
            <a:ext cx="20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9A5ACE-EEFA-4F51-9168-22F1C4A5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552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7C461E-B174-44FB-9394-28BAB0FC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62200"/>
            <a:ext cx="20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44F63A-63C9-4A65-9FC8-53512F17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52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9D9967-6DBB-4827-B79B-9B4947E7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62200"/>
            <a:ext cx="20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D56A07-C712-458D-B20B-A89279FE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552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193A20-E99B-4073-9E51-88E9D9BC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20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B4B66A-47B4-466B-BED2-55292186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52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0DC6B5-CBB7-4092-957A-53402DEC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362200"/>
            <a:ext cx="20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AA4DAC-67D8-4B02-8A79-AF2BC77C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52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0DF1FC-D539-4D3F-9FFF-8FD429CF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20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499455-7E70-49FA-B72A-79D5F96C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52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CB03E0-B6FD-41BF-82E9-F87A0348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362200"/>
            <a:ext cx="20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9DE756-DCFC-4CBE-AB29-0ED92D86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552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2EB86F-3F04-4EBA-9552-3906631A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20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D464FE-DB2C-4771-9047-AA32242D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AC09FD-E71C-48CC-9BB6-D1C4E454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33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lane 0 ... lane 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46E354-B759-4AD2-8856-6694E951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400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8BAC0B-D506-4F05-818D-D51C5849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256 inputs / 8 lanes = 32 vector groups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2BA0E8-35F2-4926-BCCD-D39885B9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C18B46-4584-4CF0-A3CD-AFB9A647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4820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2326B2-67F4-4AB9-8E02-76856CF0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4820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D23810-9212-4DD9-A3A4-CF5F2DB8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4820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FA71F9-1F11-4B2B-8E12-6CE52BDA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4820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C328C1-1C67-4EC7-ACF2-87B51760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4820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CAF691-A6A8-4793-900D-22429257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4820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8A5D8D-17CE-49CE-8B7D-58E166CA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4820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0265501-A77F-4AF5-AC48-C60D1E36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7202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D6572A-EE4C-4484-A233-585CDD7A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7202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777170E-9E8F-4DCE-9A1E-6F1B7378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7202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D06200-A4D8-4114-9A7A-57EB9B94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7202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ED4632-6C0F-42F4-9FEF-B0DB7B35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7202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16764E7-3C7E-4E93-8564-5E1A8AB5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7202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341C68-6BE7-4DF0-B923-00C95476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7202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90B5838-0DE0-4B75-91DB-D9D189DB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7202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AF9047E-404D-4525-9A17-24C6F8DA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C0461D-D7EC-4FA9-BEE4-220D924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958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2CA5916-5D7F-4D12-A3F1-1DF5BCA4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958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429BCB8-96B6-4CE8-8DD5-93D4BA43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958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7366CA7-A0A2-4E7E-BAB3-E021A77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958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B606146-1BF2-47A5-BA7A-FC46C605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958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E974A98-2F55-49AA-AECE-E2B86BEC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958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935B98C-F299-42A9-9F0A-1CF2C127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958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1385A04-6435-4356-8FDC-73F9D7C2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1967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72F9D2F-AE70-4A4C-ADC9-9BCE8393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1967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22F1530-8D52-462C-A8F6-FB71ECED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1967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648B470-786E-4679-AD60-06A5DD41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967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C7E194F-055A-43A5-A133-D17062C7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1967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8CDE4A8-2215-459F-9D0F-7148A3CB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1967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658FB79-D081-410B-9634-2CDA0B5C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1967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1B31643-6F42-48BD-ACBD-74EE3A80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1967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D2C0A61-A575-4A23-9E76-747248C4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4095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C3AED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FDEC9AB-68B4-473E-B309-C202920D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vector operation block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3AF8363-6CCC-47F3-9666-224DA8CB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476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288556D-8746-4E88-A013-8A499042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339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hash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B541265-3DFE-48BB-B307-A7118DA2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76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EC2215C-7FD1-4B90-804F-1FC8BA1C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39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value update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CA0F1FA-D780-4025-9DDA-5852BE58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8387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4EDE54C-CCEC-4390-95BF-BAD99A8E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branch bit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901B0DF-6428-4B7E-974B-84D1EEEC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8387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55FF60D-4C4E-4DB3-A245-B665B7F8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958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index update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F55D6FB-3A95-47B5-BC9F-AA0FDCC4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48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Trace shifts toward VALU as the main engine.</a:t>
            </a:r>
          </a:p>
        </p:txBody>
      </p:sp>
    </p:spTree>
    <p:extLst>
      <p:ext uri="{BB962C8B-B14F-4D97-AF65-F5344CB8AC3E}">
        <p14:creationId xmlns:p14="http://schemas.microsoft.com/office/powerpoint/2010/main" val="17665752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C426A7-0609-436C-B984-A0A57EE0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61FF9-3489-4377-9074-BC2AF29B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F0463-34EE-4B24-952D-09596BA3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D29D8-B21E-4DCC-8028-1D43513E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After SIMD, memory pressure moves to hot upper tree nodes.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14217-5BEC-4DA3-BA23-7D7FE1DD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Caching the shallow nodes and streaming value I/O produce modest but important bottleneck transitions.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685E5-68FA-4D0C-A40D-8C965840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90a714f184c85"/>
          <a:stretch xmlns:a="http://schemas.openxmlformats.org/drawingml/2006/main"/>
        </p:blipFill>
        <p:spPr>
          <a:xfrm xmlns:a="http://schemas.openxmlformats.org/drawingml/2006/main">
            <a:off x="457200" y="1398240"/>
            <a:ext cx="6191250" cy="396627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363E9-3E35-429A-B259-F9C1E3D9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3144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42937-3D0A-435A-8F11-67D37465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38275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12,285 -&gt; 11,856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38D80-2E7E-41BB-9035-A169E935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1927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tree caching: 7 hottest nodes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57BB6-586E-4546-9C2A-D979400D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1445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5D326-7595-404E-8712-C4EF06B1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38275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11,856 -&gt; 11,825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9E3FB-2C78-4B9A-8F8C-F65F0D34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1927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streaming value I/O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36BAF-D89A-459C-83B0-EA9F7C72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179E3-34E6-46E2-81CD-BBC7E106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289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Hot upper nodes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4A09B-28A0-49EE-9169-61237ABE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257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9BC82D-73AA-40C0-AECF-750154C8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6230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LOAD each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C51314-4555-4568-9C8D-30031E6B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6707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24B6CB-1462-4374-B205-1F822959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337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B6E16-1B2F-4B1C-BFBA-32C3E4A6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71800"/>
            <a:ext cx="1162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8E987D-A09A-437B-81D5-B59B4A35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scratch cache</a:t>
            </a:r>
          </a:p>
          <a:p xmlns:a="http://schemas.openxmlformats.org/drawingml/2006/main">
            <a:pPr algn="ctr">
              <a:defRPr sz="863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vector select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4CB132-561F-4D51-8A4B-8774BD28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38600"/>
            <a:ext cx="4095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85DE35-C3A1-442C-B1CF-64B8F4C4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100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Streaming value I/O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0A136B-314C-48ED-B8E6-441CF82C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14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E123C"/>
                </a:solidFill>
                <a:latin typeface="Aptos"/>
                <a:ea typeface="Aptos"/>
                <a:cs typeface="Aptos"/>
              </a:rPr>
              <a:t>before: scattered address recomputation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27F748-CE47-4A4B-A8E6-D5FEA3AF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05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after: base pointer + stride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CED626-C59C-468A-BB53-9E2223AC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43438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7818F2-7ACA-4939-BB67-75034A10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053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859173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0FB526-99E6-44BF-BCF0-0EE06DAA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4CA29-2AEE-4459-A72B-7E7D3B3F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EBD69-3830-4623-A3BC-FCD66692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PARALLEL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85916-EE08-4E9F-A801-E8E57A91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Temporary banks expose independent work to the scheduler.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14956-CA5D-4F6A-84A0-02B121CA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fully unrolled vector program has independent groups, but reused temp names can make them look serialized.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AF024-0B8D-460F-BE7B-34C2AD77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2B1DB-5DDC-4ADD-BCDB-BA7385A0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954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2246E-A6E8-474B-BA2E-4674F15E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716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11,825 -&gt; 8,884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7179C-DC09-4DB2-BFCA-7AC46BEE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6210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stage 7 temporary banks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14D52-0F71-4A1A-937B-4322575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762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DCA65-40C5-44E6-B228-B23B9D29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Before: false dependency chain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58A8F-2F39-4DB3-9A90-767C1877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02B8B-661C-40C4-B4C0-BA877702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527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vector group 1: temp0 -&gt; temp1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5DAB0-2F9B-4A91-8E0F-65CB8E23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95600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7616A-6DD7-45DB-8AEC-F30FE846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52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3849F-A221-4A62-A8D0-A91C40AD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623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BEFDB-EDB0-48A7-A2E2-3ABCF7B3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vector group 2: temp0 -&gt; temp1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5FD13-A778-4E6A-B055-F84150A7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76650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0FF4E-4A18-44F3-987B-C2D1B1E0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33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E6BCF-0F23-4075-A7B0-0BC32D33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DF0AF-2FA3-4190-B312-BA9F4A95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148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vector group 3: temp0 -&gt; temp1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89B36F-600A-4910-8FC5-20C2B691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387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same scratch names force order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D4E3BB-CCCB-4760-99DE-ACA87DA5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762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89AFC0-1D35-4F5E-BE6F-40136658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After: independent temp banks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490813-B2B4-478A-AD3B-3D8C6FB3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C7E25E-03C2-4594-AAD4-525CD984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574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group 1 -&gt; temp bank 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A3189A-067D-4592-B337-86BC169A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19363"/>
            <a:ext cx="733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29D62B-D037-419A-8122-EE5BF9EA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3812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FF1A84-F1C5-4E23-8EDC-09E719FA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F3EDF9-432D-4E81-8BD9-CA8DB1E7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09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group 2 -&gt; temp bank 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1B78B3-DEE5-4545-83FB-2FD8BD1E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71863"/>
            <a:ext cx="733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E75ED2-1526-4AC2-9036-923A780C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3337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56E96D-74C7-416E-9359-D229F106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3243A3-D35C-4C2E-85C8-8D9D338B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624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group 3 -&gt; temp bank 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875C28-9CCF-4370-9313-79B06164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24363"/>
            <a:ext cx="733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A6F061-4381-4206-BC00-DCD7F5CB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2862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13197E-0147-497D-9390-EDA5A99D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768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Rename temps to expose independence.</a:t>
            </a:r>
          </a:p>
        </p:txBody>
      </p:sp>
    </p:spTree>
    <p:extLst>
      <p:ext uri="{BB962C8B-B14F-4D97-AF65-F5344CB8AC3E}">
        <p14:creationId xmlns:p14="http://schemas.microsoft.com/office/powerpoint/2010/main" val="4614157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3649C1-FCCA-499C-A358-B685FC9E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EA9AD-CA3B-413A-AAF5-01E52D4D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21C12-6064-4A84-B5B5-CFC3C894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SCHEDULING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C03B7-AD97-4E62-AD5B-3FA3B83B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 dependency-aware scheduler packs ready ops into VLIW slots.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9669C-E0F7-4365-90C5-29EE9B2B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Each operation has an engine type plus explicit read/write sets; hazards define the legal schedule.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C8EB1-6C24-475F-ABF9-D6B2ABEB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42328-9135-4EED-AAAA-878E1C59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954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031DA-B8D2-4F9A-BFD4-219158C4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3716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8,884 -&gt; 1,291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F5CFE-0B8F-49A9-BAF5-8EEAF1A8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621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global VLIW scheduling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F614A-4FCC-4AE5-8F6C-9FEC00BD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2954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CC265-7C5A-4E27-AF54-68E8F078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3716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1,291 -&gt; 1,184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AA881-B50D-4DB4-A24D-5E1D919F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56210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refinements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9EB13-4578-4B6D-B2A9-C3AD2A85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2385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D35D4-20D8-48B7-88EC-C1A0B8A4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Dependency DAG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1C7FB-69AF-4C20-8BC8-ED0C5063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647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E7B38-AB68-437C-AF42-9C9F8D7D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3E250-56C7-4D3B-AE07-040966F5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47900"/>
            <a:ext cx="647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8FD23-55ED-4C20-98F8-C0C7032D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324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ALU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211C82-A496-4729-A903-64C64950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05150"/>
            <a:ext cx="647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DD188-7BE9-4893-A894-38D84FAE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813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VALU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7F608E-7DDC-4383-B9BF-EBE9E6FB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647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BC5477-4ECB-4F5E-8464-CF5372A0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STORE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C177A-6A68-478F-A3AB-9F674F78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57625"/>
            <a:ext cx="647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0ACC27-5527-467C-A0C9-B999246A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338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ALU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065A48-AC68-4A9A-95A0-1AEB2B2E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4318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884157-725A-4EA0-A0A8-5A8CA19B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050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E99725-F15A-4B7C-BEEF-8A28916D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003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RAW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D2FD50-5E5B-499C-9A79-9A351907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95588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8D0AB3-FDD5-4D42-9F2B-02539B9D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574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DF6F88-B57C-4FE5-874A-15E6912C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0375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WAR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AAC11D-E8F5-4B14-A001-FDB02CC9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71938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7CDE07-E5BA-4562-8120-8B7D2DE9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338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FA60BB-2DB0-4297-9BBA-B436DA25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052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WAW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B34E40-0B98-4B34-BC89-64515515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19250"/>
            <a:ext cx="20955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5212BC-D5C4-4AD3-B352-EB9DC0E5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288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Ready queue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D2B7B9-9E07-462F-9E3F-C8B29B3B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87F2B2-7D1A-4D66-864F-0262DBDB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critical path 42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7691D4-34A0-43D2-B23E-554CFCD0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E73A5D-18C6-4DC9-A7E1-AB56A456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5600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critical path 37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F2A4E8-1044-47FB-A508-DF4BE7FC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95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0BFD98-44D6-4103-96E8-9283D1D3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09950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critical path 31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071EFA-2F69-434C-B223-60E7AACC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646A1C-BB06-4E0E-A509-7BC96B24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critical path 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B41265-6450-473C-979C-FDC2D4BD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5143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295CAE-E726-4336-B5E8-56292F19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Packed VLIW packets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6FEF67-AC7B-4256-B6AA-FFD81113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cycle 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D65DAC-C56D-495F-88D4-5D633D3A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DEF7BA-A496-4B36-8955-7C59E249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484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56FD0C-D315-452D-AC5E-95508F6B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218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EA2481-AAD5-4F11-A9BB-D26986C6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952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338C0A-BA8D-4A67-9964-A866B913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686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C62C45-CD5A-4C95-9D18-558E1F90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0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C833C9-491C-453D-B3F8-E4661FE6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9154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8F4D20-9EA9-4E3A-B166-8A32FF3F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888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530BE4-C40F-43F0-B2B3-666F17D6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622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E4B2C8-91BC-48D0-AD9E-314CC297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2356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51F666-165F-4454-84AC-33D886FB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090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AA102BE-79C5-48DE-9193-87213C04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7824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4ECB45-7FDF-4AD6-A2F2-B5492465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996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D4EB03-EB90-4E1A-85FE-E1E54661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730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6F5CE7-8C4C-4812-B667-5A5DE15B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6464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77CFD02-0B0B-4921-A9FA-0AAFAE0D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198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5E91C5B-4C1C-450D-BB9E-6E443745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932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4B6D9E3-67EE-4DD2-8B36-B4AE0644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666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00EFF3B-63FA-4232-BDFE-386479AD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838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DC2AD46-8423-448C-921B-04DC186D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572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CB37744-52FC-4FDF-88BF-73395E03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744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7D71B5D-F626-410C-953F-F4B9AB36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478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3A4FD62-4DA5-43AF-A47B-7B0BA3CD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6A68970-189B-4CC4-BE9A-EFAB92C3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cycle N+1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8245D17-15EE-48C7-BCAB-1AB12B6F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5A7044B-A264-4586-9F03-FB4CD8BC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484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ED76D03-24F6-493A-848B-8B26678C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218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3E1508C-D095-4FB3-98D6-014BB5A4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952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E72429D-ACDF-4282-99C8-9B8E327F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686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7B13A3C-F6FA-4106-BABF-058CC803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0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96E9C80-5FD5-466E-B6A0-5583B8A9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9154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75FAD61-0AA2-421C-8BD8-5F493DEB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888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F834C71-7EB4-49B6-B43D-6362B298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622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03C62CB-61DC-4B5E-98B9-C3B9AA44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2356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B2F70FD-DA75-462F-8288-48944CEB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090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5DCA880-0A51-40D0-BC35-FB0CAD7E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7824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B25A2CF-50C1-4BC3-89AA-64F0B158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996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967B3DF-991C-4C25-9919-0F15FFF1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730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F18D8E2-BBE6-44BB-B24C-C2FBBCCF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6464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C9625E8-E387-43EF-8405-467C24ED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198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4DB4E2E-2C3D-4592-BB43-F3E361AD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932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DC30E2B-9CB1-4C9C-ADEC-CCF0667C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666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D900F76-F783-4999-9345-803A5727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838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38FA9A9-0693-4326-8354-D229E7C9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572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115F8D2-47B1-49F3-A5EC-7D2C20DA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744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4CAE092-096B-4960-ABC8-6E92EFF6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478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FD46633-EC8A-4881-9047-35314F74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0c875247a48f6"/>
          <a:stretch xmlns:a="http://schemas.openxmlformats.org/drawingml/2006/main"/>
        </p:blipFill>
        <p:spPr>
          <a:xfrm xmlns:a="http://schemas.openxmlformats.org/drawingml/2006/main">
            <a:off x="6877434" y="4000500"/>
            <a:ext cx="4056883" cy="1809750"/>
          </a:xfrm>
          <a:prstGeom xmlns:a="http://schemas.openxmlformats.org/drawingml/2006/main" prst="rect">
            <a:avLst/>
          </a:prstGeom>
        </p:spPr>
      </p:pic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0592B9A-AC50-4C29-85BE-3024C156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8674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Inset: dense final trace utilization after safe WAR relaxation and VALU-to-ALU fallback.</a:t>
            </a:r>
          </a:p>
        </p:txBody>
      </p:sp>
    </p:spTree>
    <p:extLst>
      <p:ext uri="{BB962C8B-B14F-4D97-AF65-F5344CB8AC3E}">
        <p14:creationId xmlns:p14="http://schemas.microsoft.com/office/powerpoint/2010/main" val="11707276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1C912E-430B-4EFD-BD75-9CFB9739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B3E26-64B5-4A97-99B1-B2B26A76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79ECE-2159-4F9C-AEA5-EA5E8202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35F29-4922-469C-8439-52BBDADE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binding constraint moves as each bottleneck is removed.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1430A-D0BD-410E-B48D-7D8876B9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Early gains reduce wasted work; late gains are scheduling quality, not just fewer logical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A7BD1-624C-4F00-AF76-57A14594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5475967714ee5"/>
          <a:stretch xmlns:a="http://schemas.openxmlformats.org/drawingml/2006/main"/>
        </p:blipFill>
        <p:spPr>
          <a:xfrm xmlns:a="http://schemas.openxmlformats.org/drawingml/2006/main">
            <a:off x="495300" y="1452563"/>
            <a:ext cx="5334000" cy="3000375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a8b44ae834398"/>
          <a:stretch xmlns:a="http://schemas.openxmlformats.org/drawingml/2006/main"/>
        </p:blipFill>
        <p:spPr>
          <a:xfrm xmlns:a="http://schemas.openxmlformats.org/drawingml/2006/main">
            <a:off x="6096000" y="1506141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84989-87F2-4BD2-B8FA-734F8C82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053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BFA8E-47FD-4E88-B612-C5594B12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SIMD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18C9F-FFF7-4C2A-8D69-E4C75F5B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053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94E7F-9D50-4AC3-A1D7-572685FA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624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VLIW scheduling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EA4B6-B09F-441E-8919-CC28BF8A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7DF00-A440-463C-AFB1-B77F8257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124.8x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81072-AA87-4AE0-BE6F-455872A6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6875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speedup over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D291E-C6CF-48C5-AD4D-F751F7E8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720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D6E50-7BEA-45E2-B29D-9B8AE6CA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95875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1,184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20CFB-5962-453A-AA83-12431079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76875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cycle count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9856A5-0062-4C3A-8C44-24F18DC0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657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6200A8-F6BD-48C8-961B-34B93826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197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A3FB1E-64A0-47E9-A024-0029292C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2768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serialization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CC4B8-79C7-4F5B-A7A5-78CE4DD3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343525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75E28-28F6-4766-967B-739668A2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006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863FFF-5671-46E0-8C0B-F550AD4D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197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3420FF-5449-43C9-AEFB-6AB3C77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2768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memory pressure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32BE21-24A8-4535-962D-956C5126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343525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21DEB5-5182-45FB-91F6-639BD0D1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006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7A3271-926C-4A06-8326-6BE33D3E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197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C166E4-BF30-4F4E-BFFB-A9C4A5FF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768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exposed independence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B6E156-F4FC-4F87-9E75-6DF750D6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43525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B20BC3-A8F6-4D1D-97F7-BAC25F8C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006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82227E-03C3-4696-8582-52AF05C8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2197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07F369-0F9B-4AC8-81C1-55D0720F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2768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scheduling</a:t>
            </a:r>
          </a:p>
        </p:txBody>
      </p:sp>
    </p:spTree>
    <p:extLst>
      <p:ext uri="{BB962C8B-B14F-4D97-AF65-F5344CB8AC3E}">
        <p14:creationId xmlns:p14="http://schemas.microsoft.com/office/powerpoint/2010/main" val="181604186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FD1726-01F7-463D-B580-EC106CE2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48A3C-0681-4BB2-8F58-EEA50FF6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98FDA-DC1C-4896-91AA-54FD464B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6E0DF-A940-4121-B6C0-1559D785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final kernel is fast because it is intentionally specialized.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FA624-FC8E-4D7F-A6F5-8395B7E8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remaining risks are real compiler-engineering tradeoffs, not mystery performance issues.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A93E5-8102-4C81-89E7-7B1E0C78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067C2-6923-4C1D-9829-F7009592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953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B9031-4251-49CC-ADC7-9822FF4F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5A8E9-1D78-493C-AB47-D21FA006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4524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Highly specialized workload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25C7D-C214-4096-B5F6-B9F05FC8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449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Assumes forest_height = 10, rounds = 16, batch_size = 256, and stable memory layout.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FD2D6-2867-4844-B70F-683C2408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953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67E76-C491-4D96-B361-9B3BE1D7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ABC7B-9055-4446-A4B2-ABAB3253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47850"/>
            <a:ext cx="4524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Generated code size increases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E3D4C-6F5F-495F-A01B-5E33D465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449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Unrolling and specialization remove runtime overhead but produce a larger instruction stream.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464B0-C183-44C1-9086-BC7F2BE2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B566C-936A-4EE5-B98E-4CD69B56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C7FD83-CBDA-4081-BBE1-20EED5D9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80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Scheduler is heuristic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23315-AF03-42D9-9167-244CE642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Dependency analysis and priority rules guide packing, but this is not an optimal solver.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ADD9E-FA73-4279-8CE4-8AC778E9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4330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92C712-5C04-43BD-9C82-7D51DF5B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43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C6358A-C332-4D50-A9A1-9CC888F3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71900"/>
            <a:ext cx="280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Scratch allocation is manually tuned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0427E-5A2B-4657-B1AF-D6330F1C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529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Temp banks expose parallelism; a full liveness-aware register-coloring pass is still future work.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D7B42-2605-49C9-881E-8387F52D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20515D-58A8-44C3-A896-7C39D5D3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933E24-7ED5-4AC1-9763-40BB9BB3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71900"/>
            <a:ext cx="280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Profiler interpretation is still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CECCFF-7C0F-42C3-ACF0-8322D184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529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Perfetto traces guided the path, but bottleneck classification and goodput metrics are not fully automated.</a:t>
            </a:r>
          </a:p>
        </p:txBody>
      </p:sp>
    </p:spTree>
    <p:extLst>
      <p:ext uri="{BB962C8B-B14F-4D97-AF65-F5344CB8AC3E}">
        <p14:creationId xmlns:p14="http://schemas.microsoft.com/office/powerpoint/2010/main" val="95621993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10F244-C7E0-4D4D-A671-FE33BFBB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E5803-20F8-4447-AB8F-C1C94F03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44AB7-A6D9-4512-838E-876803CB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BF0AF-9F6A-47DA-BF20-50817D5E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Next steps generalize the hand-built ladder into a compiler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63802-83E6-4AD6-A98C-3430E78E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formal dependency graph is the anchor: it supports correctness, allocation, and schedule 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CFFB2-C02F-48EA-9153-D6352563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EEA2C-E9E3-4D2D-906F-51F7B30C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760B5-A7ED-4195-8F5A-0C76567E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trace 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13499-1F0E-4F1D-A977-1655EC71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goodput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D69EE-9082-4920-8C2F-F41ABEC0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765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0BED6-F144-4B9D-B851-A99ACAF7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7D2A8-42E1-422D-90D3-1D916184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14288">
            <a:solidFill>
              <a:srgbClr val="BE12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00407-B82A-4693-BFBA-FFE6E1A9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289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dependency 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C5E7C-4892-442C-8F0B-E9FD55BA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hazards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201FC-5C96-4A4B-ABA7-234426F8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FA948-2448-4844-B5A0-811EA79D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432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EA905-D66E-4440-AB14-0D244649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0EA6B8-4625-4EAD-AE73-BA5239E9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289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register coloring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9015D-F335-49F4-A4CD-B98037E6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9085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liveness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46923-A32A-4BF5-ABC7-506C7F95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765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24D9AF-D36A-4058-BBE8-0FCD1FE0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432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34FF1-DA3F-462F-BD36-4E04C6D7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5C2B6-DD64-4C45-B158-F2B37A96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289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scheduler 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DCC485-CE34-4401-9A31-A3C6F20D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9085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engine slots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8796EC-AB40-4911-84B8-35903B1E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765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E4B3F4-F7D1-4627-9B4F-51BC2AEC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5998E4-8937-4D1B-971D-313E8322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E1CE17-E78C-4B1F-A8B5-60C590FF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289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verified VLIW program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CAA68F-3778-459A-95E4-CE4975BA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C24564-8060-45FC-AEA1-02F2D2A3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29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feedback from traces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8C4A14-D0B6-4BD0-A4FD-5D957895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95750"/>
            <a:ext cx="619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902CB4-E027-485C-828F-0F4E413A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433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1EEEE7-2A74-4E5B-874D-263FB598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433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4CC248-8710-4C81-91F1-664FBF5E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4E452A-7967-44AA-A615-0EF13196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292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Formal dependency model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08B109-7659-4B1B-A463-7F4DA249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276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Represent every instruction as a graph node with explicit reads, writes, engine constraints, and RAW/WAR/WAW edges.</a:t>
            </a:r>
          </a:p>
        </p:txBody>
      </p:sp>
    </p:spTree>
    <p:extLst>
      <p:ext uri="{BB962C8B-B14F-4D97-AF65-F5344CB8AC3E}">
        <p14:creationId xmlns:p14="http://schemas.microsoft.com/office/powerpoint/2010/main" val="530928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2026-06-11T23:13:15.9000000Z</dcterms:created>
  <dcterms:modified xsi:type="dcterms:W3CDTF">2026-06-11T23:13:15.9000000Z</dcterms:modified>
</coreProperties>
</file>