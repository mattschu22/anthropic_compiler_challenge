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8400a8b803404f" /><Relationship Type="http://schemas.openxmlformats.org/officeDocument/2006/relationships/extended-properties" Target="/docProps/app.xml" Id="R9c7343330d7f4986" /><Relationship Type="http://schemas.openxmlformats.org/officeDocument/2006/relationships/officeDocument" Target="/ppt/presentation.xml" Id="R02f0dc9f7bd240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07993bca394989"/>
  </p:sldMasterIdLst>
  <p:notesMasterIdLst>
    <p:notesMasterId xmlns:r="http://schemas.openxmlformats.org/officeDocument/2006/relationships" r:id="R1add8b7ce5ea4505"/>
  </p:notesMasterIdLst>
  <p:sldIdLst>
    <p:sldId xmlns:r="http://schemas.openxmlformats.org/officeDocument/2006/relationships" id="256" r:id="R8569e137d974490d"/>
    <p:sldId xmlns:r="http://schemas.openxmlformats.org/officeDocument/2006/relationships" id="257" r:id="Ra59c72d8167147ce"/>
    <p:sldId xmlns:r="http://schemas.openxmlformats.org/officeDocument/2006/relationships" id="258" r:id="R35652d673cce4ec7"/>
    <p:sldId xmlns:r="http://schemas.openxmlformats.org/officeDocument/2006/relationships" id="259" r:id="Rba2ac1a40cc64de1"/>
    <p:sldId xmlns:r="http://schemas.openxmlformats.org/officeDocument/2006/relationships" id="260" r:id="R3d496969dc1e4fc7"/>
    <p:sldId xmlns:r="http://schemas.openxmlformats.org/officeDocument/2006/relationships" id="261" r:id="Rcceb87246fa347af"/>
    <p:sldId xmlns:r="http://schemas.openxmlformats.org/officeDocument/2006/relationships" id="262" r:id="Rec55ef1c1edd4d3d"/>
    <p:sldId xmlns:r="http://schemas.openxmlformats.org/officeDocument/2006/relationships" id="263" r:id="Rdc520f564905458d"/>
    <p:sldId xmlns:r="http://schemas.openxmlformats.org/officeDocument/2006/relationships" id="264" r:id="R101620a735524fed"/>
    <p:sldId xmlns:r="http://schemas.openxmlformats.org/officeDocument/2006/relationships" id="265" r:id="R5165c2ffa6b54f42"/>
    <p:sldId xmlns:r="http://schemas.openxmlformats.org/officeDocument/2006/relationships" id="266" r:id="R369b33c7c9584f91"/>
    <p:sldId xmlns:r="http://schemas.openxmlformats.org/officeDocument/2006/relationships" id="267" r:id="R881a5dfeb76d4d3e"/>
    <p:sldId xmlns:r="http://schemas.openxmlformats.org/officeDocument/2006/relationships" id="268" r:id="R46f66306cb9d47d4"/>
    <p:sldId xmlns:r="http://schemas.openxmlformats.org/officeDocument/2006/relationships" id="269" r:id="R4dd3a41a32804b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9826a6125044bd" /><Relationship Type="http://schemas.openxmlformats.org/officeDocument/2006/relationships/slideMaster" Target="/ppt/slideMasters/slideMaster1.xml" Id="R7307993bca394989" /><Relationship Type="http://schemas.openxmlformats.org/officeDocument/2006/relationships/notesMaster" Target="/ppt/notesMasters/notesMaster1.xml" Id="R1add8b7ce5ea4505" /><Relationship Type="http://schemas.openxmlformats.org/officeDocument/2006/relationships/presProps" Target="/ppt/presProps.xml" Id="R14c5784521b942ca" /><Relationship Type="http://schemas.openxmlformats.org/officeDocument/2006/relationships/viewProps" Target="/ppt/viewProps.xml" Id="Rd33b7c25bbdf43c8" /><Relationship Type="http://schemas.openxmlformats.org/officeDocument/2006/relationships/tableStyles" Target="/ppt/tableStyles.xml" Id="Re40a413aac424712" /><Relationship Type="http://schemas.openxmlformats.org/officeDocument/2006/relationships/slide" Target="/ppt/slides/slide1.xml" Id="R8569e137d974490d" /><Relationship Type="http://schemas.openxmlformats.org/officeDocument/2006/relationships/slide" Target="/ppt/slides/slide2.xml" Id="Ra59c72d8167147ce" /><Relationship Type="http://schemas.openxmlformats.org/officeDocument/2006/relationships/slide" Target="/ppt/slides/slide3.xml" Id="R35652d673cce4ec7" /><Relationship Type="http://schemas.openxmlformats.org/officeDocument/2006/relationships/slide" Target="/ppt/slides/slide4.xml" Id="Rba2ac1a40cc64de1" /><Relationship Type="http://schemas.openxmlformats.org/officeDocument/2006/relationships/slide" Target="/ppt/slides/slide5.xml" Id="R3d496969dc1e4fc7" /><Relationship Type="http://schemas.openxmlformats.org/officeDocument/2006/relationships/slide" Target="/ppt/slides/slide6.xml" Id="Rcceb87246fa347af" /><Relationship Type="http://schemas.openxmlformats.org/officeDocument/2006/relationships/slide" Target="/ppt/slides/slide7.xml" Id="Rec55ef1c1edd4d3d" /><Relationship Type="http://schemas.openxmlformats.org/officeDocument/2006/relationships/slide" Target="/ppt/slides/slide8.xml" Id="Rdc520f564905458d" /><Relationship Type="http://schemas.openxmlformats.org/officeDocument/2006/relationships/slide" Target="/ppt/slides/slide9.xml" Id="R101620a735524fed" /><Relationship Type="http://schemas.openxmlformats.org/officeDocument/2006/relationships/slide" Target="/ppt/slides/slide10.xml" Id="R5165c2ffa6b54f42" /><Relationship Type="http://schemas.openxmlformats.org/officeDocument/2006/relationships/slide" Target="/ppt/slides/slide11.xml" Id="R369b33c7c9584f91" /><Relationship Type="http://schemas.openxmlformats.org/officeDocument/2006/relationships/slide" Target="/ppt/slides/slide12.xml" Id="R881a5dfeb76d4d3e" /><Relationship Type="http://schemas.openxmlformats.org/officeDocument/2006/relationships/slide" Target="/ppt/slides/slide13.xml" Id="R46f66306cb9d47d4" /><Relationship Type="http://schemas.openxmlformats.org/officeDocument/2006/relationships/slide" Target="/ppt/slides/slide14.xml" Id="R4dd3a41a32804b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f32665c5b241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1eb67cacf4399" /><Relationship Type="http://schemas.openxmlformats.org/officeDocument/2006/relationships/notesMaster" Target="/ppt/notesMasters/notesMaster1.xml" Id="R41fb4e1679434b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6738c68444a7e" /><Relationship Type="http://schemas.openxmlformats.org/officeDocument/2006/relationships/notesMaster" Target="/ppt/notesMasters/notesMaster1.xml" Id="R86a71d51552c44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276a5d5e484b66" /><Relationship Type="http://schemas.openxmlformats.org/officeDocument/2006/relationships/notesMaster" Target="/ppt/notesMasters/notesMaster1.xml" Id="Rcb4451c9d98148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347c5f78e142da" /><Relationship Type="http://schemas.openxmlformats.org/officeDocument/2006/relationships/notesMaster" Target="/ppt/notesMasters/notesMaster1.xml" Id="R73b1cffdc83441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5e2f16fb204912" /><Relationship Type="http://schemas.openxmlformats.org/officeDocument/2006/relationships/notesMaster" Target="/ppt/notesMasters/notesMaster1.xml" Id="R003565b6f38144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2624cd8a44486e" /><Relationship Type="http://schemas.openxmlformats.org/officeDocument/2006/relationships/notesMaster" Target="/ppt/notesMasters/notesMaster1.xml" Id="Rf32e0181892943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40995cc0814a22" /><Relationship Type="http://schemas.openxmlformats.org/officeDocument/2006/relationships/notesMaster" Target="/ppt/notesMasters/notesMaster1.xml" Id="Rb3edc0e5c1e243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fdd574ee404da6" /><Relationship Type="http://schemas.openxmlformats.org/officeDocument/2006/relationships/notesMaster" Target="/ppt/notesMasters/notesMaster1.xml" Id="R27bf2b884a484d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c1931d18984191" /><Relationship Type="http://schemas.openxmlformats.org/officeDocument/2006/relationships/notesMaster" Target="/ppt/notesMasters/notesMaster1.xml" Id="R5cc06536766649d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a4c22b18d4438f" /><Relationship Type="http://schemas.openxmlformats.org/officeDocument/2006/relationships/notesMaster" Target="/ppt/notesMasters/notesMaster1.xml" Id="Re4a77f10b9f14c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8dfd12a9b6468a" /><Relationship Type="http://schemas.openxmlformats.org/officeDocument/2006/relationships/notesMaster" Target="/ppt/notesMasters/notesMaster1.xml" Id="R58911761e6664d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a7075981794561" /><Relationship Type="http://schemas.openxmlformats.org/officeDocument/2006/relationships/notesMaster" Target="/ppt/notesMasters/notesMaster1.xml" Id="R3bd4cca134844e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34ec3194214566" /><Relationship Type="http://schemas.openxmlformats.org/officeDocument/2006/relationships/notesMaster" Target="/ppt/notesMasters/notesMaster1.xml" Id="Re5718cc9b4f245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3788e20f244f75" /><Relationship Type="http://schemas.openxmlformats.org/officeDocument/2006/relationships/notesMaster" Target="/ppt/notesMasters/notesMaster1.xml" Id="R765546551c9448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bfdc1ddb04f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f381f2437041f9" /><Relationship Type="http://schemas.openxmlformats.org/officeDocument/2006/relationships/slideLayout" Target="/ppt/slideLayouts/slideLayout1.xml" Id="Rafa4891fc66e4b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a4891fc66e4b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7207252944ad4" /><Relationship Type="http://schemas.openxmlformats.org/officeDocument/2006/relationships/notesSlide" Target="/ppt/notesSlides/notesSlide1.xml" Id="R61d0c8dc8ed94f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e4142d80c4d72" /><Relationship Type="http://schemas.openxmlformats.org/officeDocument/2006/relationships/notesSlide" Target="/ppt/notesSlides/notesSlide2.xml" Id="R9a088ea54654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4e14f69df47cc" /><Relationship Type="http://schemas.openxmlformats.org/officeDocument/2006/relationships/notesSlide" Target="/ppt/notesSlides/notesSlide3.xml" Id="R11a89b1e2f37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f45fc1c6240c7" /><Relationship Type="http://schemas.openxmlformats.org/officeDocument/2006/relationships/image" Target="/ppt/media/image.png" Id="Racf4f883296a414a" /><Relationship Type="http://schemas.openxmlformats.org/officeDocument/2006/relationships/notesSlide" Target="/ppt/notesSlides/notesSlide4.xml" Id="Rafff0673584948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25457e30a4bf6" /><Relationship Type="http://schemas.openxmlformats.org/officeDocument/2006/relationships/image" Target="/ppt/media/image2.png" Id="R5ac41ef274114c25" /><Relationship Type="http://schemas.openxmlformats.org/officeDocument/2006/relationships/notesSlide" Target="/ppt/notesSlides/notesSlide5.xml" Id="R635d498225dd4c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ecef166214da2" /><Relationship Type="http://schemas.openxmlformats.org/officeDocument/2006/relationships/notesSlide" Target="/ppt/notesSlides/notesSlide6.xml" Id="R32f1970bc2994c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f9b38f2ee468a" /><Relationship Type="http://schemas.openxmlformats.org/officeDocument/2006/relationships/notesSlide" Target="/ppt/notesSlides/notesSlide7.xml" Id="R97fbbf045d58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1815854c24119" /><Relationship Type="http://schemas.openxmlformats.org/officeDocument/2006/relationships/notesSlide" Target="/ppt/notesSlides/notesSlide8.xml" Id="R41dadba873b94a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b280332c34ab5" /><Relationship Type="http://schemas.openxmlformats.org/officeDocument/2006/relationships/image" Target="/ppt/media/image3.png" Id="Ra0b13918b3764d71" /><Relationship Type="http://schemas.openxmlformats.org/officeDocument/2006/relationships/notesSlide" Target="/ppt/notesSlides/notesSlide9.xml" Id="R079f09ef34834a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9234edc1246ee" /><Relationship Type="http://schemas.openxmlformats.org/officeDocument/2006/relationships/notesSlide" Target="/ppt/notesSlides/notesSlide10.xml" Id="Rce29a671667643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180574c9ac4e8c" /><Relationship Type="http://schemas.openxmlformats.org/officeDocument/2006/relationships/image" Target="/ppt/media/image4.png" Id="Rec603569160e4b99" /><Relationship Type="http://schemas.openxmlformats.org/officeDocument/2006/relationships/notesSlide" Target="/ppt/notesSlides/notesSlide11.xml" Id="Rd8f4ac86d59d42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2f63b8deb4b1e" /><Relationship Type="http://schemas.openxmlformats.org/officeDocument/2006/relationships/image" Target="/ppt/media/image5.png" Id="Ra69c5bdbd0dc4ad4" /><Relationship Type="http://schemas.openxmlformats.org/officeDocument/2006/relationships/image" Target="/ppt/media/image6.png" Id="R9b3d097343c640b7" /><Relationship Type="http://schemas.openxmlformats.org/officeDocument/2006/relationships/notesSlide" Target="/ppt/notesSlides/notesSlide12.xml" Id="Rcd1a066f2c3641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b6834eda94978" /><Relationship Type="http://schemas.openxmlformats.org/officeDocument/2006/relationships/notesSlide" Target="/ppt/notesSlides/notesSlide13.xml" Id="R39eb4874846647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853e0c1a148cc" /><Relationship Type="http://schemas.openxmlformats.org/officeDocument/2006/relationships/notesSlide" Target="/ppt/notesSlides/notesSlide14.xml" Id="Rd4dcfa477a8940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165565-C096-41E0-8A15-06AFD691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BD403-50B6-4413-B445-0762FAD9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70E02-00B0-45D2-8A07-3569FC51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HERO 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FCC95-E628-41F4-B011-CB6A1D78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Profiler-guided optimization turns 147,734 cycles into 1,184.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EC77-1FA3-4439-834D-D1D65C36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win is a systematic ladder: remove work, specialize, vectorize, expose independence, then schedule the machine.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D4658-9DC4-4FF0-9985-5E61901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1B91C-6BBD-4B11-B12A-3785ADA8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5241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147,734 cycles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F6A62-95C1-4A8C-ADE0-0B0B66D3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43138"/>
            <a:ext cx="43243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524FB-D074-4ACC-9B5E-BC845235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336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76F79-CB69-41D7-8439-332D8B2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28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1,184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9106E-36A6-4EB0-A544-407F7E8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85900"/>
            <a:ext cx="428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124.8x faster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6C145-9862-4D2C-A8FA-BDDFADCE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fixed grader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FE97C2-AC08-4481-BBED-B125BEC0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76650"/>
            <a:ext cx="9048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0E100-3F00-4762-9682-C9F917DE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9064">
            <a:off x="1475858" y="4007981"/>
            <a:ext cx="763035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FD519-9A39-4BF8-A313-117B5EC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052">
            <a:off x="2238365" y="4030621"/>
            <a:ext cx="762020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8C23F-B0BE-46CA-B58A-B5075D06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054">
            <a:off x="3000229" y="4043935"/>
            <a:ext cx="762291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9D1CBB-3F90-4EA6-B6DF-60936691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90855">
            <a:off x="3728914" y="4217619"/>
            <a:ext cx="828922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AE7FA-3F5E-465B-9FCD-91780846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5317">
            <a:off x="4524365" y="4383571"/>
            <a:ext cx="762021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1EEE3-A3F1-4E0C-8C08-976439F2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5">
            <a:off x="5286375" y="4386584"/>
            <a:ext cx="762000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36017-4656-4B23-82B8-35D5A39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3444">
            <a:off x="6047707" y="4409364"/>
            <a:ext cx="763336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651AA-4F49-4170-8949-C8B33D73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06997">
            <a:off x="6781077" y="4584198"/>
            <a:ext cx="820595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5CED7D-456A-4CFB-8E15-EC4A6190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1617">
            <a:off x="7572314" y="4743288"/>
            <a:ext cx="762122" cy="247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23A0D-9A9D-4E07-B9F9-26FF0E1A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55238-AE60-4DFD-9D13-A0DF1FF7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6DCE8-FAFA-4EA4-AAF1-716FF3D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9260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19A9A2-13A3-491B-9BD0-BAB0446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2A2F8-E4F8-412C-B32F-F605ED42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9815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A2E29-62E3-4C7A-8E92-C7214E56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8EFC2-E96A-4A11-B93E-F3A41E7A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23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84A306-C4D8-4B44-84ED-4291DEE2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C4FF9F-9FE3-4B65-84BA-A681D0FB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4552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A96C7-B0E7-440B-AFAC-DB83E1CC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752ECA-56CA-4C8B-8B61-079ED685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511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B5A353-C593-4846-9793-C28D4179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CD04B5-8CF4-445F-B7C4-D64A73A0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5154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CB359F-D1DC-4F16-982F-AE9633B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37C508-8C6B-48D5-AF0F-A2F5FE17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66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C78CA4-4C97-4131-847F-69E6559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978F2-EAAD-4B05-94AD-C6A570BF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121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EE7658-FF16-42FD-87E0-AF377C3D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4DEBE4-8181-4315-8D26-0995A829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333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A19EEF-172D-4D15-88FE-70F8FBE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67275"/>
            <a:ext cx="133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BFFA0F-86AC-4C7E-86CC-F3BDD1E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95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03D6B1-8B33-4046-86EE-387662C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530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largest drop: stage 4 vectorization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96834F-0773-4CF3-B887-3DAD7824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906B5A-3CBE-4BA9-8F26-1F67956B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9530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stage 8 VLIW scheduling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0A16B6-BAAB-4511-BFA4-5C97C9FA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14750"/>
            <a:ext cx="1238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C36CD2-EFA0-4C14-B2AE-DDBAEBD8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83857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37EE1C-3D9F-44E0-A622-B9F6C15E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2195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cumulative presentation stages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861E15-CC57-4CB8-B258-800A4231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72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AB7D04-9A26-43C0-BB8F-19B20CC2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05450"/>
            <a:ext cx="849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Every checkpoint is cumulative and correctness-preserving.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4DE910-9F99-4DBD-BA6E-EF209F81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76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D2C923-95FA-471B-BAF3-A309661E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810250"/>
            <a:ext cx="849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Trace interpretation drives the next optimization, not a one-off trick.</a:t>
            </a:r>
          </a:p>
        </p:txBody>
      </p:sp>
    </p:spTree>
    <p:extLst>
      <p:ext uri="{BB962C8B-B14F-4D97-AF65-F5344CB8AC3E}">
        <p14:creationId xmlns:p14="http://schemas.microsoft.com/office/powerpoint/2010/main" val="1591461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16D0D2-933F-432F-BCC5-30959EA0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83FD5-7BD1-400B-9AFE-F85895AB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80401-4C1E-4BF8-A348-3BAC223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4D929-EFAC-4B96-B733-B17A938F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Batched binary tree traversal is a repeated value/index update.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7672F-1EDC-4263-B7C7-8A43126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of 256 inputs walks a perfect tree for 16 rounds and must match the reference final values.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E128D-C5D9-422E-B68E-13DC0BA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2F826-CDB8-4C18-B426-E21D7844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4762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8AF6C-F56E-4165-BA2E-9518282C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Perfect binary tree: depth 0 through depth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4CA790-746B-457C-BCA4-4D7E8814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8859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A4414-8EE4-49A6-A7B3-A45A12A9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9621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4B74D-ED10-478B-B32B-8497495D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384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820F9-A9A3-431B-BD1E-22AF2022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14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52FC1-BA8B-46B2-869D-91816A84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ADB2A-E1DB-46ED-BB55-739D7911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4A476-1D5B-4DFF-A7CB-529C59E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05E60-A615-47FC-BFD6-66C2C0FE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B217A-07B8-4E0E-989F-1B9D6193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A7C3B-80C3-4DC4-BE4A-F8024A32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910EC-72B8-42F4-B7AA-A474CEA1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26E93-4B1E-4C5E-9327-89EF7AB6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F2F4F-0EE9-4821-8099-7A718288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9085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D8977-3269-42EF-908A-A3CF23B4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670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03147-1E62-4B0A-A1F2-5D0A79F8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050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9C329-9A16-4B1A-84F3-D717584C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621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A2A05-76C6-41CA-872A-89FFE437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05050"/>
            <a:ext cx="638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D2244F-B448-4512-A9D0-114BA6B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621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C7D5C0-F63D-4903-B02F-2E431167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279D09-9F1C-4CAF-9C4C-C03E5A4C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54567-2DDC-4779-B249-B922C084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4A33B-D8AE-4D63-9482-E3EFBB0D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43C80-5D7A-4888-87AD-41017928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B612B8-5EEF-4C09-839C-312E4E99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82DC2C-A4FF-4C9A-80F4-290CF093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5429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298EDF-E95D-4754-9CD8-2EE53A42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146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58FB5D-1C43-456B-A244-C045EBD5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46A3A6-509E-4FFF-AE3C-B5E2DED6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43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collapsed lower tree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9381AC-F858-4E1E-89C0-6FC73E48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2800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depths 3...10 contain the remaining nodes; the slide shows concept, not all 2,047 nodes.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C98A2B-EEEE-4254-B6DA-78D2EA6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38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highlighted path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8C621C-7483-4C05-95CE-6089378B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00263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104BCE-D67A-48E3-8869-BDA0B360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621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E0261F-991B-4183-B638-B8CC3F5D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5619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57D5E3-D86D-4B6C-B2FC-315CEA8C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002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 round dataflow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A2EA2E-5939-4B94-879F-4119ED7C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09800"/>
            <a:ext cx="102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16385B-EE9E-482C-AC8F-636279E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value + index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5CF40F-C973-4A79-8BF2-A45511A1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09838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DCE2C9-EC2A-42B9-ABE7-B4D46CA3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71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AB1E34-C157-4FE4-BEC8-63DFDC9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09800"/>
            <a:ext cx="1028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91B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3F9999-6B39-49E2-9954-5EDB6AC7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87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node lookup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D8FE7B-31BD-4604-A385-1E952C7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09838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209018-9AB5-4186-B870-BC8FC87B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71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4C9C1E-564B-4EAA-A155-EFA9A72C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914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E96814-B816-4264-AB52-5B805253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hash/mix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D51FDE-4206-4F00-813B-31E429C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09838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D27031-1AA6-4518-AD40-6764AD52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71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C27E73-52D4-4108-8F0B-981E706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09800"/>
            <a:ext cx="819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B2BE28-7DB5-4A4F-8682-CB330FD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003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branch bit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55BB69-AC38-4A6D-BAAB-36A0E218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113" y="29146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E8F657-123B-4666-ABD0-0473C507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33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8262CF-EBB4-4231-A3F6-670C9649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3335">
            <a:solidFill>
              <a:srgbClr val="16A3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753323-9243-45DF-BDC9-26B7A0C8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next index + next value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54FB6C-9FB3-49B8-9620-F69A05EA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00488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47F412-A7DA-4B60-8A6C-A1E8A4DD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623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53B50F-FD75-4A35-9CE5-F5AFB7E7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863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E6AC5C-D8F9-4E95-9C1F-7F8D37AB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7434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batch_size = 256 independent inputs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D1A5AF-D244-40D3-AC7C-51D231BA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00625"/>
            <a:ext cx="457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depth sequence: 0,1,2,3,4,5,6,7,8,9,10,0,1,2,3,4</a:t>
            </a:r>
          </a:p>
        </p:txBody>
      </p:sp>
    </p:spTree>
    <p:extLst>
      <p:ext uri="{BB962C8B-B14F-4D97-AF65-F5344CB8AC3E}">
        <p14:creationId xmlns:p14="http://schemas.microsoft.com/office/powerpoint/2010/main" val="7769048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0D143-99A6-465D-B7B6-FA7243E5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6F52F-E005-4B02-8525-4B57C5A5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536D6-4A55-43E9-BDAC-51FE76D3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MACHINE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BFD74-0A27-413A-BABA-976DE202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One cycle issues a bounded VLIW packet across five engines.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7836A-7F8E-4418-9ABE-4AC9BEDF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Perfetto traces show which engine slots are busy over time; blank regions are idle capacity or dependency bubbles.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96FA8-ADB8-4765-A537-2100A605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72866-C25F-4D7F-863C-3A40D3D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11239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FFED2-3A2A-4103-8D2B-3D916AC8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Per-cycle issue packet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D1E3E-9EBA-4E57-83CD-2F9ACC05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B5234-EA84-4764-85CA-BC47BD89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3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3B22A-379C-442E-925A-7672430D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69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D8473-D8BF-4713-BB1F-AAE12DBD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00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6B7F0-AB5E-4967-8B84-4EF8AF1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038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3DFA7-88AA-43F3-AACB-841F37E9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073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9A257-CF51-4015-AECA-E4473CD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107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E2333-D9E1-4FD9-B5E1-95127343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6141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5BD5F-2A41-42D8-9279-F2401960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2176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1557B-BF2B-453F-9522-0365407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211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C84F2-FC46-4959-988D-E0876B4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424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90260-AABC-4BCF-8F64-20BDEA2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28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640A4-F184-4541-BFC4-340E8A41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6886"/>
            <a:ext cx="327641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10747-46C3-4C47-A570-D7D49C89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331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F94AD4-C61E-4D33-AE3A-C963A581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36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76287-8549-4A3B-9B75-63A72DC1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40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D4614-A8D9-4BA4-8EC0-43C40FFD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43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784AD-0E1A-4068-BE8E-0F447357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469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CAF16-6F01-450A-9637-1116CFBD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503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94532-BA4B-4716-A006-34453AE4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8331" y="2516886"/>
            <a:ext cx="162020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DB749-0AA9-4551-97B6-B536B721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55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652AA5-B6DE-4022-AE1D-57D6494E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2589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3A99C5-23DB-4F31-9D53-DE722A2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6554" y="2516886"/>
            <a:ext cx="516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607B21-0EEA-4BB8-9C7E-A6256FA3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640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673A5C-2C7A-4000-9487-7226F00E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674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658514-E1FC-447E-AC9F-BE4ED973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0640" y="2516886"/>
            <a:ext cx="51606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9F73C2-DCD4-4E90-BFE1-E92AF2D9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71700"/>
            <a:ext cx="24003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0645B2-6B81-418B-8238-19216732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16886"/>
            <a:ext cx="240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984DBE-182E-40EE-A585-02AC8AC1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1FFEB4-AEE6-4DC5-8241-91FECF0D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ALU: scalar arithmetic, comparisons, address math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768270-F90C-4674-8973-824932E5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D0C73B-DDA7-48AE-A5DD-26C0F0D0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VALU: vector arithmetic across 8 lanes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4ABB9-3F65-4996-9B4E-37C21B0B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983C9A-4A2C-4228-8072-E7166A65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LOAD: memory reads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22CDFA-14DA-48D9-94A2-650FF741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F1FD7-2AEA-4A63-BF25-9561F3D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STORE: memory writes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AA9697-2DFB-4FD8-A3EE-F6DB287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86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D6649A-B2C2-41E8-B5EF-42952B07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575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FLOW: control operations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D455E1-4064-4ED9-8DF6-6873F1A6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1009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BE344C-EF46-4492-B62C-22304F4B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Trace strip: slot filled = issued operation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E13E95-3F78-444B-B4F9-589D11FE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189E11-44C3-4CCF-8FD0-BA76E616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5FE5717-FCD4-43F7-BD40-EBB45F60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A48903-6AE3-422C-8DCD-C91E3A5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57FFEA-7827-4517-8164-057EA441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BA15CF-CE15-4306-874D-FD1DAE7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CF66A6-797D-4DBC-BE30-EB40AF6F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FB0F3F-F5E4-4E7B-9071-8BB237A4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33C91C2-AC5A-47FF-A604-4D6592F0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ADB680-48FD-409A-B3AB-0A121172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6D3B5A8-1D92-4CCC-8E5C-0157A32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D3214C-14A7-4FD9-B32B-5C0103CB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B0FEB7-21EE-4FCE-ADF2-501D994A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34ACD6A-5A24-4863-A1E1-D21C776C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3394D6-AD51-482E-A0A7-BEABC43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379AF1-1C72-44AB-8941-82A79A0B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4FE2A60-7B73-4C63-97B1-03E991D3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3A8740-5F78-43AB-9489-693D01A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03B08D-1724-4BC4-A81F-1AB74EAD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E6C7D0-AAAC-4E88-B4D7-E7E3A5FB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338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5C9B5E-26D2-46E3-948C-EA33A5A7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4A0A26-4B6D-4C26-ABA6-77F577D5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6E7D3D-17E7-4552-A4F3-D6BD6223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338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624006F-EBEE-41AF-8998-06A58192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3338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1C2C54-1122-4F37-9226-8B1AEDAD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VALU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9618D7-6166-407F-A1EE-9A97114F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4A58343-6641-47FB-9DE2-B78B890C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19E46A-4E51-4818-8D95-FD0F836B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0C52E9-1603-4265-8C44-1305F8C6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1DD6857-AC69-4F75-8EE4-17191B5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99ADDC-4F2D-48DE-9EEB-26551D02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2E15E93-947E-4DE2-95FF-BB5D3224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C75CB12-9790-45D5-A9F9-6261DD9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CC1D250-AD6A-409A-B756-7678E02B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8EC2F23-1A44-4DB6-A952-60D03A14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D61133C-C6FD-4079-B41B-8D8AADF6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8EE290-0C8A-482A-89B4-7CF99DFE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914CA7-FF5A-4B7F-9C10-3B274A65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5147AD5-418B-4BC1-A256-72D6D006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C6F5072-D775-4C71-AD9F-CB862B4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4C1A2F-9A05-4FDC-8F83-B1C55981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0BDDC99-092A-42CC-BEA4-40573F5B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E88BA2-83AA-4E9C-B04B-5798D44B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9C1512-2407-4A42-AA5F-A4B79909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B7C5490-838C-41E3-8FE5-28832449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A375976-04E5-4A52-A464-556B33E3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74BF60-0F18-4461-A410-24A77CC0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5815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308671-1B50-4CEB-BD44-68C29EB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815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0D8BE4-9AD1-4B2C-8571-8027473A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815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935B312-74ED-4F55-870B-F2A8D7FD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B25AB03-6BB3-4167-95D6-8E21158D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9334DA7-98B6-4F2A-9745-815C011C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66BC1F9-1BA0-42CB-A095-0929F5C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59D3B57-681D-46E5-9CE3-155B2385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B45D136-B657-4DF1-8980-2203127B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F1B7FF6-0DFF-48D9-A40E-13C9FDD7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E00A307-FA0C-4A8B-B60B-473FC128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8C0E701-8E46-46DD-9FBB-242661D2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BC944DE-DD97-4B2A-AA7D-D3B30CF0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02198A-F600-4BD2-B004-3067DCD1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B6AF979-6FEB-49BC-975E-39F4307B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95BA3D6-6EFF-4ACB-A3A9-B8B88C79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D2E9503-ED12-4FD1-8E60-EA63CDB9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1C706AD-9038-486B-B75F-DDE89A14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D2B18C3-2B8A-4C3E-B728-937DB9FB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B544809-292D-4DA4-A2EF-DAA4A0C7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40BFF2D-7435-4976-8C7D-BA63BF22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9868A3A-D2AF-40E4-BD27-35C6D549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CD1076D-982C-4008-B76F-0F4A631E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F715AEC-590F-4752-B011-AAB6634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7486D93-EEE4-43D6-B645-33DFE9BD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48E60F0-9EDB-48DD-BD51-ED2C2465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2917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1738F19-1F6B-4495-B9EE-B0045A4E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2917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F73CEDC-896D-453F-A9B6-2260CC13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8291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7C77DE3-232A-460F-B956-B1D950E1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495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EBC1B1C-F2C9-4311-A20E-30524030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24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2CDE965-7549-4BFA-B866-09BDF71E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CA1A19A-A2AC-4AAF-A757-E6DADCF4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E6173DC-55DC-4FE3-A4C9-4275302F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559FBB6-6B72-49EC-95B6-ED98D56C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6CB2285-439C-4B02-9846-327E0813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CBD020-CB0D-4B84-A191-2AD5E69D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0B6F41C-DC03-4FC8-83C1-3DD7C2A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5AFB15F-6624-4085-B8C3-B65C86C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AEE78CF-8D91-4CEE-8452-D2650EBE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38832DD-A348-46D7-9C64-CBA77E6A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F3A75A4-120B-4445-ABCC-1E73050A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FA1CA0C-E907-45D4-885E-71ED8F95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F7D0BC2-6C61-4BC7-B336-9846A4B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C26ACCA-7E75-4CCF-919B-E2411F5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861BE37-E419-4B74-9805-3FA8CF3C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A9B7541-5D4A-4BBF-8F2D-1CADE691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4561020-7747-49C0-90F7-A38F60A6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B57EB8B-1ECE-465F-BDD0-56750706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8DF69A7-3C30-4C9C-9B09-5B952CB2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C9D188F-E0CE-49E4-94B0-708920E17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7682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3AB3F63-F626-45A8-AC8B-36B2E8FE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076825"/>
            <a:ext cx="24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0C1D9F6-7E13-4E21-A2D9-238022A0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76825"/>
            <a:ext cx="3238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B804E5C-D508-4550-84F0-1EF0C22F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95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18FD2DF-B26C-44EE-A2E6-75825679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292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Dense bars mean useful issue bandwidth.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7A26505B-DF79-420B-84E9-390BFBFF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781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C0CFCC5-A3DD-467C-9522-5B38C7A9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150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Blank gaps mean idle engine slots or dependency stalls.</a:t>
            </a:r>
          </a:p>
        </p:txBody>
      </p:sp>
    </p:spTree>
    <p:extLst>
      <p:ext uri="{BB962C8B-B14F-4D97-AF65-F5344CB8AC3E}">
        <p14:creationId xmlns:p14="http://schemas.microsoft.com/office/powerpoint/2010/main" val="13644786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CB707B-46CC-44B0-81E1-41C6E73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636AF4-3611-4542-85CD-879C8358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B08CE-DC3D-4A04-A492-BF6FF725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6B05F-AE4E-432D-B008-1536C481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roadmap is cumulative progress, not independent ablations.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68508-BA77-49F6-B47B-E9CCB899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story moves from removing waste to changing program shape, then scheduling the exposed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AA494-27C6-46EE-881D-6B588872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4f883296a414a"/>
          <a:stretch xmlns:a="http://schemas.openxmlformats.org/drawingml/2006/main"/>
        </p:blipFill>
        <p:spPr>
          <a:xfrm xmlns:a="http://schemas.openxmlformats.org/drawingml/2006/main">
            <a:off x="836083" y="1381125"/>
            <a:ext cx="7281333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9B9C4-5FD7-44E9-A845-A23EC43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0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CEF87-BCD1-4709-BC11-179D9E3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remove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CA870-CBDC-4AAA-951B-77D0AE38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02FFB-9496-41BB-BEFD-0B33BAD2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067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specialize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39552-9178-4121-8959-746D3106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0101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BF839-4D4F-4EAC-BD49-E8E07F04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67300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vectorize +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2F49C-0E0D-40F2-B05A-43E3022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01015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23238F-CB38-4D38-88AF-930B8170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06730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expose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3F1AD5-A5BE-4DA7-A6D7-814C3DDF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101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B496F-0BB1-4DBC-BC7E-65563F02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067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FB9CE-DD16-423D-AF0F-D3A3BB15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383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BEBE14-E356-42DD-818E-1EB6D8ED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6212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97,040 -&gt; 12,285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75BD4-195C-4E24-96ED-EC428CAC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431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4 vectorization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D4CAF-3662-4BCB-BDAA-A6D7B8DB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05100"/>
            <a:ext cx="2190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0AC683-C997-4C38-9008-7A6FDFDB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2892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8,884 -&gt; 1,291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6ED95F-58FF-4899-A071-EA1F4B05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09925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8 VLIW scheduling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94DCA-4E6C-44AF-93FB-1931B43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67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43331-C144-4709-96B5-B51E5B1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005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First remove work that the grader does not require.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649A52-C17F-413F-9818-58A43F2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29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A5934-D177-41FD-9BC8-4E22A99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6245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Then exploit fixed workload shape and SIMD batching.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C30B1-DA59-447A-B65E-8CCE7B56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791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B3D32-AD31-4E72-B19F-0E80956C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305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Finally pack ready operations under engine slot limits.</a:t>
            </a:r>
          </a:p>
        </p:txBody>
      </p:sp>
    </p:spTree>
    <p:extLst>
      <p:ext uri="{BB962C8B-B14F-4D97-AF65-F5344CB8AC3E}">
        <p14:creationId xmlns:p14="http://schemas.microsoft.com/office/powerpoint/2010/main" val="6341712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F760B-A31B-442F-80D1-48AD4ED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B0B9B-0AC8-452B-9229-E28A6A2D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3EE07-7A20-4FB7-9186-328CAA68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4FFB4-1E73-4935-93B3-527E04D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baseline trace shows serialization and unused machine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936AB-0E57-42A1-A809-45F13945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first trace-reading goal is to separate useful work from bookkeeping, memory traffic, and bubbles.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034D6-B2D5-41FD-906B-7F180C0D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c41ef274114c25"/>
          <a:stretch xmlns:a="http://schemas.openxmlformats.org/drawingml/2006/main"/>
        </p:blipFill>
        <p:spPr>
          <a:xfrm xmlns:a="http://schemas.openxmlformats.org/drawingml/2006/main">
            <a:off x="571500" y="1819498"/>
            <a:ext cx="7429500" cy="331425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2816E-A55E-4409-8294-3EAFAC59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1905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0344F-F9D0-4C58-94EE-D1BABBC1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5257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147,734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84858-94E7-4095-BCDB-DF537043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33575"/>
            <a:ext cx="1638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baseline cycles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38C39A-89A7-4783-9B4F-FD3FD8BA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D6DD7-748E-435F-893B-209738E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527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scalar lane activity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4F3AB-22AE-40D8-8FD3-2297B52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146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9D380-CC52-48FD-A1C4-9A3B6DD8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6760F-2851-4061-AAF4-4D002535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43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E6951-F60C-45A1-B8E0-CDE4C729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2004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idle VALU capacity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AFE1-8B3C-45EC-AC70-F100781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623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B6A55-DE7D-4F7C-8DAB-6BDDBC16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CFF19-EEC7-4616-A797-91B2EEC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90B5D-6C82-4AB7-9B7E-D1030455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481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index memory traffic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73370-D755-4E3C-A6AA-E0BC951C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100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2EFB6-E6A5-4D8E-A7BF-35D684C7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24E4C7-E346-4CCC-BD62-412B6A2C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38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FA004C-85E2-4430-A8E7-E77F124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dependency/control bubbles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D944FA-69C6-40D8-A8B7-947E9079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57713"/>
            <a:ext cx="9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4E1F49-B576-45E8-8681-269DFCDB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004883-2F72-4EC2-AF40-9FDFCB75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34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first goal is to remove bookkeeping and memory traffic before deep scheduling.</a:t>
            </a:r>
          </a:p>
        </p:txBody>
      </p:sp>
    </p:spTree>
    <p:extLst>
      <p:ext uri="{BB962C8B-B14F-4D97-AF65-F5344CB8AC3E}">
        <p14:creationId xmlns:p14="http://schemas.microsoft.com/office/powerpoint/2010/main" val="304251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28A50-5A10-464E-ACA2-9E735A20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669F3-3EF2-4C81-9404-05FABB1B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203F1-5B49-4CCF-BC80-9AD36A8D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REMOVE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045D9-ED57-40CD-A67D-7743E2DA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Index bookkeeping can stay close to compute instead of round-tripping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86B03-2EA4-4C32-B87A-55C6BC6C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1 combines test-contract cleanup with scratch-resident live traversal indices.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2BA90-1307-4C59-90A3-D4CF97A7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9038C-F107-40DD-B20C-1EDA5E8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3825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BF23F-587D-4F7B-91C1-51998FB7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144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147,734 -&gt; 114,868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0BEC5-F5CD-45A2-BD22-F6D65F57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04950"/>
            <a:ext cx="2190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remove ungraded work + scratch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FD47A-AB0A-4E22-94C5-FD65D0DE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5B9D0-1683-4C66-9CA7-02C558AE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Before: memory index traffic every round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F9AF5-C6D2-4378-8AD3-6B675157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CA626-6277-4B14-8342-A719537B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622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load index from memory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D1D34-418D-4DA6-8E25-9FEFBF97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27813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0B5B8-B6CC-4922-AB48-B802FF1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575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FA10B-9CB2-4847-B7DB-4BB50C79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A841A-CB87-4B15-ABFC-77674AFF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385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compute next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1D8A0-8470-46E6-8903-0B13B24A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3657600"/>
            <a:ext cx="285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A3F31-2352-4A80-A640-A9AD9FBF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72124-6B8D-4E77-918B-3C29EC3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9C5943-A89B-415C-AD53-C9EAED11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148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store index to memory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6B80A-8089-4AA8-B4AF-EFEAD1A9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006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final index write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67011-1AA0-4FC4-B0F2-5E055FB6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44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6412C-B0DF-421D-A0EA-91F5EB14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C3EEE-F635-47AE-B8DE-B0DE028B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526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After: live scratch 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10159E-D9B5-4788-B022-BF37EFD3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CFA3D7-B303-4E0B-8CBE-F2C02571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622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scratch index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E49E0E-CB66-4102-9647-157549DE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27813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06D8E3-EFB8-486C-BD59-146F1A9D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80A6A1-CFF9-47DF-B84F-6B3A1C7E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6833C5-5B9C-42EC-A82E-FBD7EFFF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compute next index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2B5297-A575-4F27-A8C4-6E4091C1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463" y="3848100"/>
            <a:ext cx="285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821B9-C337-4BCC-9D4C-B8A1D37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D64541-1595-4110-8D75-F05ABC06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62450"/>
            <a:ext cx="190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0FADCA-3854-4DA5-9656-6506AB83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scratch index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E0CE6-AB2C-45D9-A29E-5B4C4415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final index write removed</a:t>
            </a:r>
          </a:p>
        </p:txBody>
      </p:sp>
    </p:spTree>
    <p:extLst>
      <p:ext uri="{BB962C8B-B14F-4D97-AF65-F5344CB8AC3E}">
        <p14:creationId xmlns:p14="http://schemas.microsoft.com/office/powerpoint/2010/main" val="3923421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E21B1-E815-40F4-9A82-07E45A6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72FA5-8C49-4239-A4C1-58CD6F11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C7767-92FB-4B17-A99E-94A3D6A9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SPECIALIZE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E3104-07A2-4CC7-9680-48762D3A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Fixed benchmark knowledge turns runtime control into a known 16-step strip.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EBFA5-6409-43FE-8D33-E3E2AE47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Specialization and unrolling simplify the kernel while it is still mostly scalar.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94EBB-BE95-4F5F-8563-A2BF154B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DA866-0D99-489B-89BF-8119C9B9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144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7BFCD-5A10-4A23-B9DB-E8A18D37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9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114,868 -&gt; 110,898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D0C34-4146-48B9-B2EE-BF4F057F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81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fixed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2F7477-DC0C-47FF-968B-74EE3629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144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EBBAA-10C3-4017-99EC-13B53213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3906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110,898 -&gt; 97,040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DE408-2739-4EAA-A09E-ABF5F26C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81150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round unrolling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584BA-63B4-4CCE-BA6E-5BC7994A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1216E-4EAF-4B6A-B674-7F6D2ADB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Generic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B67EF-DB67-4C6D-968C-AA7BEF83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E8C8F-AA41-4DC7-A15B-0124E661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6098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 layout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715DA-C7EF-4FD8-A1B1-B3DFF0C4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69" y="2990850"/>
            <a:ext cx="2381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F3118-0EB0-4B9E-A677-7D188872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337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139B0-8DBC-4953-BFF1-26F136FC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67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0F6A4-99C2-4E87-8DE1-50B2C4CA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00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check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302BC-C598-4FB7-AEC5-C85BA148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69" y="3581400"/>
            <a:ext cx="2381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5D79D-D06F-4261-8DE0-36F2DBFF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5242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D36BA-6D35-45C5-989A-FBA9690B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3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8A2C1F-6CDA-4321-B020-DF907FA2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90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loop branch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ED57C-C7A3-4F97-B3A5-61850CEC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7469" y="4171950"/>
            <a:ext cx="23813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D3405-54FB-4908-A0E7-7DA949C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114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C4E8B-D270-4061-962C-0BFB8653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4E4A02-9BC1-4AF5-8F07-00993CFE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81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compute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C0B89-AEF4-4EA9-B31A-3458325B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09750"/>
            <a:ext cx="581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F13583-F43B-4678-8388-5F71A0D3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19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Specialized emitted strip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B2248C-3294-4892-9086-A8E75939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B6E98F-7957-4233-A539-56F9E9A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baked-in pointers / layout constants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C9BD66-EC05-4BED-8435-834A4A29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5BD78E-C9C1-454F-9CE2-94E70826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AC730C-54DC-4C75-A8E6-5C824E4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EA25CA-CAB5-40B8-A193-D1CC8B75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BE0788-2252-44E6-9819-F5AFBF2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24CD13-6365-4BD1-B375-42C4367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443972-355C-4FEA-9AB1-38788C43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557A0F-1F9F-44BD-9585-FD56D92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A7A116-612E-43B0-9907-8CF3B7B5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9473DF-F9AC-46A9-9441-A18476FB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A8E1A4-3A54-4749-B760-DECA2B57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AD84E4-7293-493E-82AA-817EA8F3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54A92F-CE6F-47DB-83F1-A0E5C593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114227-1095-4F39-9B26-5F33CA67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AFF57A-C47F-4C1A-941D-8D0C1422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99F9D7-7D93-4E12-A535-980EDBC1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6BEB78-BBA3-4063-AC6C-360120F8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6B4FA7-7866-47E9-8ED1-DD19914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A43B58-B573-4B37-B0D4-DAFB9824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9361B58-5A7E-4259-9D34-B0348CA1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CFFC340-10ED-4D17-BFF6-512E747F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433A09-7D5F-40AC-8DF0-544E7ABF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152394-5261-49D9-BAF7-CD24169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2951AE-E6FB-4B8B-B7BB-1B0DB45F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6569E0-7C8A-4805-99B1-30738DA3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00808A8-2C58-47B3-9672-14A90771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2A7E2AE-27CF-4556-9CF4-8F62812A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337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34060A7-AED1-4122-B69D-338C0E8D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90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97CAA7-E847-4F5D-8017-38AB78D0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432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E9A2FA-0C3C-4FD1-9731-AB91E65B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3845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7056DA-0996-44A2-81DC-B61E15D2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87F2D7-769E-43CF-A7E9-57DA6F41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DBA1B18-1302-4F54-89D4-CDE062E7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9C719B-C4FA-4D1D-B337-875D46F0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42195E-57D3-454A-BC37-EC4B2E34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8CBCBF7-836B-4EA2-9246-CF6B0123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206539-0CBB-47C0-9823-141CB9D3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42D0943-F203-4749-BB4D-17B898E6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3FD6449-2C82-4D5A-963B-7E0375BB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F2EC48B-6A02-4F7F-9E9B-C7D68FD7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9C70037-84BC-492A-A832-FCEFA314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862702-4CAA-41A4-8367-4B96E091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1429D2C-E8FF-412A-B1B9-0BB4C95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258A313-40B8-4A7C-8662-4CA26A3B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4DC33F1-934A-4077-A9ED-AC592F43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95684EA-C2C9-475E-AFDE-4A48E9F3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F22B00A-2567-432B-9DB1-34D1058D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1F13AC-1BCF-4F10-BF5C-D37B1FEE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679393-5A3D-4505-93D1-9CF80FD5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F7879A-ADDA-4C1B-8CBD-9BD08CAB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05A4439-A216-4C9B-8F18-578CF207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686D69D-56B4-414F-B709-ACC05E30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22B9AAA-CA22-496D-AE5D-450C1B18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03CE0AB-04A4-44A0-946C-13C317D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F63FB58-D175-4A4C-9C72-D939B176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44786E8-2885-4997-85A8-95DF6D37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897BBA9-9232-4FFF-9F3F-5C5F2738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7528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F55C3B7-813D-48A3-95BD-6B18F3E2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099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0DD542-2678-4E4B-8724-121B2689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623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F46226D-C33C-4DED-A44B-A3ED2EA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576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AFFAF0-1951-4372-9C93-AA2423D4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3390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Tradeoff: instruction file grows, but the score is simulator cycles.</a:t>
            </a:r>
          </a:p>
        </p:txBody>
      </p:sp>
    </p:spTree>
    <p:extLst>
      <p:ext uri="{BB962C8B-B14F-4D97-AF65-F5344CB8AC3E}">
        <p14:creationId xmlns:p14="http://schemas.microsoft.com/office/powerpoint/2010/main" val="17520036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D29A3F-985D-4A9F-940A-003EDBF7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FFCD5-58AB-4199-89F4-04C4455C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0F5D4-06ED-49DB-940A-E830EA1C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E04B0-F010-45E1-8A6E-A87B005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SIMD batching changes 256 scalar walks into 32 vector groups.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CF987-7539-4451-8686-7837466A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hash pipeline, value update, branch bit, and many index updates become lane-wise vector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216EC0-FE60-405A-AEAF-0D93B377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894BA-2875-46FD-8203-165B1A87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35255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B8354-BBDC-48E3-9644-0772242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97,040 -&gt; 12,285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F2F68-BE01-4F80-B4E1-412C038B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4 vectorization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DF80E-93BA-4F68-9944-C6691398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1B192-588F-4A93-B9DC-B6D02ED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634F9-373D-4E17-845A-FC08BEC6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D8987-C683-498F-B140-2C8D910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31297-38A8-44F5-91B0-8DB3D795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2F2DC4-99BD-442E-B76B-B9343DAC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DD2CD-7D43-46E6-854F-51C83695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159CD-D492-4DCD-AE66-F63AFC80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02F7B-0DE3-4843-9B4F-A3D3BFA4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8C226-5C98-44AF-A1B8-15DFC52D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43DC6-CA3C-49D5-AD89-A5E2A711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8854DD-A2DB-40A5-B834-D1A3F6DF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A5222A-254E-4DE0-9925-1EB2D9E8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1431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F8216-C23C-47CF-A814-65E522B8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3837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46441-7512-4422-80FE-3E384597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E84DBF-20DA-405A-95BE-879DCF6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47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A35E31-EE51-46AA-9FD4-A4060BF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81263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29A28E-2221-408D-AFCA-F745DD1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526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671F6-622C-40B9-AFB6-D1DE5416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5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7BC16-D946-430C-8518-0F27268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716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one 8-lane vector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EB4905-F735-4D00-9AC9-1E2B681B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44F6F-E812-4C56-8538-2EB40E56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86671D-3B33-4AA3-BDA2-3B8CB4C7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865C76-F12C-4298-9394-B2742CB9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BF42F3-B056-4C84-969C-F4167640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255782-E338-43A4-A8A4-82272891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2F7AF2-F8B9-4B67-BD22-F82E7514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B7BF68-132E-4072-A5B7-ED621F66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DA2AE6-9173-40C3-90AA-F2791C6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A34BA6-A057-4952-A15C-0D38BAF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D5D222-2444-4B6D-B33D-5D536BD1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FF20BE-8515-469C-8592-2F3A6F96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61A5A6-ED56-43F8-B6F7-8315ACDB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B606C8-A8D0-4A8B-AB31-E898A23C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BD8F45-6B42-4254-96CE-9348B1EB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0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5D496E-FA58-4DB5-9439-93725D64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0D105C-1968-4649-A0FB-4050B054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33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lane 0 ... lane 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BDF39F-4333-4062-A86F-9585E0BC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8A7E4C-3ADE-4B0D-9259-D7CF895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3143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256 inputs / 8 lanes = 32 vector groups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4A1CC7-25C6-4127-912C-9496522C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8A296A-A056-4D42-BC6E-4C2E9FAD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6DF39F-0BEB-421D-A529-636C602A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B269EC-1C09-47D0-94B3-4F21BDC6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A7F5A0-F21D-4263-9C6B-2819477C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3CB032-62BE-4D13-B4A1-5DBFC7B4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0CD06E-A1DD-4F23-B13F-2E35F152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0EB32C-0918-452E-B8C4-475F2D2A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4820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B325A8-8859-452F-BA46-ABB639C6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1E65889-D3E8-4819-9CFC-5520FCE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1AEC31-471C-439C-AB83-318BAEE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C3C053-ECE0-4FC6-9C0F-4841057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3543866-1484-460C-99C2-A073C335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683BDA-68A3-4ABE-B084-A0D8FD3D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B6ED438-5E36-4079-BEA4-7BF81E4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48FE63-330C-47E1-A4D3-883504F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7202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9DEFE5B-435D-45D0-9900-36DB4AB5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205004-CAF0-4844-A92A-E37276E1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0520602-94E3-4C27-A4E0-0369A9D1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37D9ED-3741-4063-822C-F3D1D852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7709081-1742-477A-A390-9349884F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58EE7CB-F2A0-420B-AAAF-31FEAE0B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78E8FC-4FF9-4C47-B6DD-433CED9F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0B325B3-6BFF-4D98-96D3-CBEBA0F3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95850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419FD94-A893-41BF-AD50-0BC97040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3D89FC-069D-448A-8C4C-F5D14F2C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278B25-EB64-4A2D-AD18-ADA98D59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51AA66C-0CCE-4B14-93A4-FA258765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74D63F-411B-4292-A6F8-E9AB7F63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CDCA5E-0A24-479C-AA3C-576EE05F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AE4EB9-2729-4CD3-8443-20FBBD0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FD1AB2-35FC-465D-9CD1-A29FE0FA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19675"/>
            <a:ext cx="28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0B41DB4-FA27-48AA-9C71-2BF4865E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4095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3C89946-69A5-4BF8-B188-C6EEEBB3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vector operation block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289B21-8CBA-427D-BDCB-7AE098D2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476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E2B5E1-C31F-4853-B554-5C76BDA1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39A9B7E-F24A-4C0E-9286-E8305D3D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76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000A03-6661-47BC-B57B-9454FBF0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value update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276722F-EF3F-4F0A-A6AE-430096A0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38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AF5816A-94FB-4DA8-B383-5405994F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branch bit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71DCE35-7AB4-48D0-970C-DB3B0D70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38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8E34C4-F591-4339-874C-E741954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index update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D420B38-DD15-4784-8CAB-6DF1434C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483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Trace shifts toward VALU as the main engine.</a:t>
            </a:r>
          </a:p>
        </p:txBody>
      </p:sp>
    </p:spTree>
    <p:extLst>
      <p:ext uri="{BB962C8B-B14F-4D97-AF65-F5344CB8AC3E}">
        <p14:creationId xmlns:p14="http://schemas.microsoft.com/office/powerpoint/2010/main" val="17665752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A66D46-7F60-43D4-8316-BF97762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52A13-EB9A-4FB6-B161-B57D4FE0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97B8D-11BA-4D11-AEE5-867AA87A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09233-A7C6-43C6-99A2-087A17F7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After SIMD, memory pressure moves to hot upper tree nodes.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38073-A45C-477E-9B1B-5245890D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Caching the shallow nodes and streaming value I/O produce modest but important bottleneck transitions.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3B106-D9EC-495E-AA3D-5E652F2C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13918b3764d71"/>
          <a:stretch xmlns:a="http://schemas.openxmlformats.org/drawingml/2006/main"/>
        </p:blipFill>
        <p:spPr>
          <a:xfrm xmlns:a="http://schemas.openxmlformats.org/drawingml/2006/main">
            <a:off x="457200" y="1398240"/>
            <a:ext cx="6191250" cy="396627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F718C-04F9-41F4-8E91-CE5BE325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3144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D3B2A-5D60-4624-8F6C-41788F46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38275"/>
            <a:ext cx="1924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12,285 -&gt; 11,856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9BA62-1A8F-4AF5-A21F-05ACD18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19275"/>
            <a:ext cx="1924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tree caching: 7 hottest nodes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BE1E6-F658-4DB8-9337-4FD0ED81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144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B2C75-A603-49CF-94BE-8B92AD73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438275"/>
            <a:ext cx="154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11,856 -&gt; 11,825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4AD10-326E-4EC3-98EB-FE445DC3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19275"/>
            <a:ext cx="154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streaming value I/O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9F917-A996-40DD-BCCF-01EB4C1C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1C34C-E2A7-4696-AF3E-B179879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289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Hot upper nodes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80A6B-EC39-4F88-83F6-CEE8B5EF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257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B83BF8-3BF1-4B7A-8E91-CBDE3639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LOAD each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3ECDD2-AE10-4AE2-AB77-4E8C64C0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6707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9B1E88-6BB7-4E3D-A3E6-FF34B48E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337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0C3F0-0C9E-4871-BCB3-4A04C17F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71800"/>
            <a:ext cx="1162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13E96-D874-495B-998C-16B0274D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00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scratch cache</a:t>
            </a:r>
          </a:p>
          <a:p xmlns:a="http://schemas.openxmlformats.org/drawingml/2006/main">
            <a:pPr algn="ctr">
              <a:defRPr sz="863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vector select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FCE24-6F9E-41D1-A5B1-5DEF0C9F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38600"/>
            <a:ext cx="409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7F623-22F3-4DC4-943E-6E40B57D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2100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Streaming value I/O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323954-82E2-4228-8033-CA9EE710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148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E123C"/>
                </a:solidFill>
                <a:latin typeface="Aptos"/>
                <a:ea typeface="Aptos"/>
                <a:cs typeface="Aptos"/>
              </a:rPr>
              <a:t>before: scattered address recomputation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10430D-0BBB-4AB0-9C05-54022F6D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053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after: base pointer + stride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CCAF1-2FE6-4AE9-ABE4-067F00BF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43438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E84141-1AEE-42F5-AF2D-E9A38456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5053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859173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339FAC-2ED2-4A11-9A59-BB8FF5AB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88C85-9C35-4EDD-A18A-1F5BCAED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9837E-5850-4A5D-BDE6-EE9392BA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PARALLEL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1F3A7-EBA7-4BE4-AE14-04F32989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Temporary banks expose independent work to the scheduler.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294B1-6C69-4473-96D6-7C71CC9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fully unrolled vector program has independent groups, but reused temp names can make them look serialized.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9852D-1A8A-4CD7-BC11-6F18603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F1D65-6116-4E46-A682-143A717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954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CE540-6506-436D-A28E-757C0FB6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71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11,825 -&gt; 8,884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C04A7-440A-47CD-8B9A-16630F1B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621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stage 7 temporary banks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58F22-8C9A-47FB-8843-92C2A815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F0244-601C-4BC1-A621-530EBC72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5737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Before: false dependency chain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503AC2-DE09-44C3-A08E-5D68E688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590EF-2463-4981-928F-9A02BE3C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527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vector group 1: temp0 -&gt; temp1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76EE0-6F25-4D75-A7C1-ED858999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9560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E4D70-0BB7-4226-AC58-9D74B71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0DE8DF-D707-4CB1-A172-D1521FE8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4B3FCC-F877-4475-A2BC-1BE466B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3375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vector group 2: temp0 -&gt; temp1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900DE-6CFC-4A98-8F5E-2788B9E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766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92EC9-C7D9-4180-A7CE-E399D6CD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7D7DA-6855-4CB0-836B-D1DC1FA4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84123A-D72D-4AA2-99A0-781A6E38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14800"/>
            <a:ext cx="194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vector group 3: temp0 -&gt; temp1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E8883-5859-4AEB-B8FC-5C534BF8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same scratch names force 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2CE5E0-9F86-4105-B280-E3B2F4A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762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EA04A-0AA5-4FE5-B795-85ACD13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After: independent temp banks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0F7470-1120-42A5-A189-9F35122D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86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A23E6-10B1-4725-A43F-AFC1F70F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group 1 -&gt; temp bank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2DEF92-1254-4158-B992-E63C3C1F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9363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2BB165-AD9D-4D83-8BD5-E5C57C7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3812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E7FDA-CF49-4111-ADC9-5AF9499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A796D-4A29-4CAA-8477-1EBA7CE8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group 2 -&gt; temp bank 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A21FE-C113-47EE-B97B-D956D7FF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71863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A5B04-49F2-4BC0-B207-F68CC494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3337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D53709-37FE-472B-999C-D1FCB82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F184A9-B22C-4A2B-B5CD-59C96CD5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group 3 -&gt; temp bank 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A8C678-611B-4CB1-A5FE-DF83AB3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24363"/>
            <a:ext cx="733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50602-C9FA-4D9E-BE6D-05891F7C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2862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B51258-F0A9-491C-9140-9C6BCAEA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768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Rename temps to expose independence.</a:t>
            </a:r>
          </a:p>
        </p:txBody>
      </p:sp>
    </p:spTree>
    <p:extLst>
      <p:ext uri="{BB962C8B-B14F-4D97-AF65-F5344CB8AC3E}">
        <p14:creationId xmlns:p14="http://schemas.microsoft.com/office/powerpoint/2010/main" val="4614157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7EB3D4-D05B-4F97-B024-A9963979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46337-37C6-4F7F-81A0-64C6980D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7FBC6-7D8A-4E2C-99FD-CC99C82F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CC1C9-5BDD-4193-878C-513AB9FC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 dependency-aware scheduler packs ready ops into VLIW slots.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C26FD-E073-4FC2-864A-367B25DE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operation has an engine type plus explicit read/write sets; hazards define the legal schedule.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AE8CD-035A-46ED-B999-7F94374F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A0F30-032F-43A4-9AF8-57E8817F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954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6FABA-FF4E-4D82-AC03-8CD9D0B6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371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8,884 -&gt; 1,291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97D9A-CC4C-46F2-8C9C-11DD30F7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global VLIW scheduling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06C70-079E-4D7A-A0F6-6825A1E9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2954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E3361-1184-4468-838C-1188CBC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371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1,291 -&gt; 1,184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7AA01-23C2-4932-B89C-27103D54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5621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refinements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1887D-FB64-424E-AD33-5C3A139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238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2FB49-BB7A-40B0-9B9B-BD137DA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Dependency DAG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31BA7-3BBB-458A-9504-63075A05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65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D4BC9-8C55-4C4E-B4F4-949DD0FE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AB11E-EDDE-4603-BB19-054BEFB7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C5FBDB-0685-4F98-87A2-71A95FC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324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C2B70-9DA8-4905-9C75-45F5A8B8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82980-B41E-44E9-8FA0-4659227A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813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VALU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BCA82-76A1-4A86-A5FC-B4E316DD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E8625-0F33-42C7-9954-5DA3710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AA7F2-BE46-48A4-8561-47BB5382B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57625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6ACDC-CA24-4EDC-A9AC-F09F0716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33825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ALU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9DBCBF-9817-4C7B-8CBD-8B2E4554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43188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594522-8DD9-4051-9849-C104D2C1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050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7A848-D45E-45D3-84DE-F1BC1B08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003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E2DD50-14BE-4F53-8029-21A1057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95588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9BB50-415C-4B82-BF1A-F25F21CE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5747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E3C046-7E97-454D-B3F6-3155B628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0375"/>
            <a:ext cx="400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WAR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808867-B9D2-42F9-9FFD-0C1B4419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1938"/>
            <a:ext cx="990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15399F-9AE5-4A56-A2E9-15515C12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33825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06872E-8FE5-48BE-A1AC-C914AF5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05250"/>
            <a:ext cx="419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WAW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7EA4D3-C72D-4A1E-8BEE-A0BC09BF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2095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215E78-E333-4C21-8772-B2CB8272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Ready queue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CACCD7-1099-4586-AEB0-78C92598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1C2D4C-8B0C-43D6-8445-71171FA6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42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C5EDE6-56F4-4437-B179-B1D109C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81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5044A7-BEE3-4D3E-B2D7-B9344197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37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02A64D-B65D-42EF-A987-7587295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956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D06D5E-4A26-4860-B580-7DE6894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995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31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EE26FE-13A5-4ACA-B709-B3B0CC3B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EA0A98-2D8B-4C1B-A67A-36914790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1162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critical path 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C512ED-6F1D-44B7-8E11-392A928F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00250"/>
            <a:ext cx="5143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6625BD-666A-41B2-AABB-35B172A4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Packed VLIW packets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030641B-C208-43D4-B201-ADCB1DDD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cycle 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7F1486-1910-4251-9717-F98B91DD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CD4D9D-56AD-4727-B2AD-2DD55785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48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27C727-8F80-4172-A45A-72D5EF9B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74C1F9-F691-48BA-BCBE-CBA51BD6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D3E0D2-07F4-4ED1-92A9-5B5F02F3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68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90AC2C-A0F4-43CA-833C-02C44BC4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5D8A4F-082C-43C4-9F92-8563691A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15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20A9D8-E5A2-44DB-A976-3578ED37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CEEAE4-88D7-45D2-AA7D-E1E38E1D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62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AA7885-C556-4FD9-A451-CE612DA6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35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ADD14D-2292-409A-8EE0-2EED82A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8C4B060-8B90-4421-B768-2954DE5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82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160B9B7-571E-4CC4-9627-50BBC80B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99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506C849-D723-4174-9EC9-72374628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A25BE5-1F18-4ABB-89DC-5FF460DB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46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0B840B2-78F0-48E1-8F88-96635309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19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BA33E6C-29AE-43AC-8126-769664EE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3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619C7E-A037-4756-9B9B-0BEFB2CF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66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F1EB29-F9F2-40E2-982D-7329CE0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83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AAE404-B642-4D71-9154-721E9410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572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FE9A74-622B-4A6C-BE78-93BBE085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744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D1B7F3-DFD5-4DC6-B91F-090F3E43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478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FFF3C7-68BF-4F1F-8612-E5A4FE35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62890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B780D6D-22A7-4C0F-BCD2-C5CF4D07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cycle N+1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B22930-52D1-4DD5-A054-C0D0AF71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9CCE6B-617A-4720-8276-11951C5E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48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DC7F02-F98A-4DBD-9070-8509D51D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1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13A1AD-8CEB-4DE0-B5F7-35D48DF0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95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BFAC9D-C462-448A-9F08-A311407F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368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424EE1-3475-4B09-BBC6-43A6177D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142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1CD2251-963C-41A7-8D0B-EF35A7B3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915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647EC2D-BAEB-4C1B-BAE7-92F2E7CC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211394-05FE-45F7-ADCA-C81F965A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62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745EFAE-E36C-4412-966F-88569EBB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235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E4C90A7-2791-4EB0-9AEF-AF7A389F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F67950-E4E7-4503-931A-B2D1A3AA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82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0DC01A-95C9-420F-AAC4-BDBD8A58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99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2DD45C1-D202-44CD-9DB0-4F6FC654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71ACBD-597B-472B-9BAC-6C3A034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646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59E2F77-6E4D-43BF-8B79-C062574F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419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0BB113-C9B5-4AB3-A6A6-39DF2575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93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063AFDA-CD85-40DD-B46D-8E622887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9666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D645175-52E6-4940-AC9C-E9656B94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283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A985F15-7C6F-4A9E-AC2F-7739EF6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572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B568FFF-8F3A-4A2A-A23E-74B6B3E2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3744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33BB41C-1029-43A0-BDDA-7ADAA0C5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1478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>
              <a:alpha val="86667"/>
            </a:srgbClr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0B4D031-D5C3-4A01-8D8F-984DD151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57550"/>
            <a:ext cx="13716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03569160e4b99"/>
          <a:stretch xmlns:a="http://schemas.openxmlformats.org/drawingml/2006/main"/>
        </p:blipFill>
        <p:spPr>
          <a:xfrm xmlns:a="http://schemas.openxmlformats.org/drawingml/2006/main">
            <a:off x="6877434" y="4000500"/>
            <a:ext cx="4056883" cy="1809750"/>
          </a:xfrm>
          <a:prstGeom xmlns:a="http://schemas.openxmlformats.org/drawingml/2006/main" prst="rect">
            <a:avLst/>
          </a:prstGeom>
        </p:spPr>
      </p:pic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B0E1B9-E20B-40A7-BC91-C4BCFCBF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86740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Inset: dense final trace utilization after safe WAR relaxation and VALU-to-ALU fallback.</a:t>
            </a:r>
          </a:p>
        </p:txBody>
      </p:sp>
    </p:spTree>
    <p:extLst>
      <p:ext uri="{BB962C8B-B14F-4D97-AF65-F5344CB8AC3E}">
        <p14:creationId xmlns:p14="http://schemas.microsoft.com/office/powerpoint/2010/main" val="11707276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3E43E3-201F-483A-9683-909C5F70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BF2B8-8013-434D-8556-5751341E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BD73B-D596-46B2-8D4F-F0FE2D70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EB037-243C-402A-B045-2F74C686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binding constraint moves as each bottleneck is removed.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BF404-A46B-43AE-9631-EF53EB22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Early gains reduce wasted work; late gains are scheduling quality, not just fewer logical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4B3E-766B-4A0D-8D07-16029C4F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c5bdbd0dc4ad4"/>
          <a:stretch xmlns:a="http://schemas.openxmlformats.org/drawingml/2006/main"/>
        </p:blipFill>
        <p:spPr>
          <a:xfrm xmlns:a="http://schemas.openxmlformats.org/drawingml/2006/main">
            <a:off x="495300" y="1452563"/>
            <a:ext cx="5334000" cy="300037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3d097343c640b7"/>
          <a:stretch xmlns:a="http://schemas.openxmlformats.org/drawingml/2006/main"/>
        </p:blipFill>
        <p:spPr>
          <a:xfrm xmlns:a="http://schemas.openxmlformats.org/drawingml/2006/main">
            <a:off x="6096000" y="1506141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4B528-BDD7-427B-8D7E-A9B1DCF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053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C7598-1680-4ED5-8CE3-DDBD4E45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SIMD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C3E8C-B601-43D6-B6E6-0E08337F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E9746-240C-4A37-8457-A05A8833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62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VLIW scheduling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B815AC-ED71-4923-BF48-8312D115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95635-C11F-481E-8EDC-86DB5E01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124.8x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FA1EF-5FCD-4FF1-AADD-FFD01808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speedup over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AFE78-2A9F-41B9-BF10-5F56A657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58E6E-7C3D-4E2B-AAFA-59F968E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095875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1,184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C8549-B7EA-4D08-A917-7EA0CF06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7687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cycle count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0E700B-784C-433A-B6E4-85AD70EE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57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2C280-86F5-40E3-A04E-041B209E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0E6B0D-6FEF-4D2D-99BC-FDA02E6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serialization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A25E5-6639-42F0-9913-30248B2C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43525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44BD0-A7A7-4608-9269-6642ECD5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00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9C145-0EBE-4F7B-B9E9-2987574A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176C6-8F91-4014-8234-66C94452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memory pressure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8B37A9-163A-44B4-8AC0-9EFA0A8F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43525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DEED24-2A28-4335-A622-593F6FB1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00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E5ED9-05E2-4A04-B44D-AA7FF4EA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0E2F6-A870-4F60-B3FE-AA100BA0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exposed independence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2A444-557A-4EFB-B5C7-86E14891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43525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2CC9A-FC00-46D4-B74A-E660E4BE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006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D84E8-2B86-4308-9BB8-B81BEE48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197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F28D23-172A-4104-8675-9AAD41EF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2768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scheduling</a:t>
            </a:r>
          </a:p>
        </p:txBody>
      </p:sp>
    </p:spTree>
    <p:extLst>
      <p:ext uri="{BB962C8B-B14F-4D97-AF65-F5344CB8AC3E}">
        <p14:creationId xmlns:p14="http://schemas.microsoft.com/office/powerpoint/2010/main" val="18160418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D949BD-1DDD-40CA-8FA2-79CCE483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45F8E-032F-4176-9917-730DECDD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F2E23-0856-4C4C-AA75-9711FDC3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33195-1790-4ED1-9383-B91DAA49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The final kernel is fast because it is intentionally specialized.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4BD19-6A51-433A-8B64-DDCA1C85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remaining risks are real compiler-engineering tradeoffs, not mystery performance issues.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EA758-5AA1-41C4-9027-D19CA2BF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EC184-22CB-4636-A0A1-8821C22E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274AC-08CE-4845-AB43-B132A61D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13A5F-6996-4BC8-8042-F31616E6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Highly specialized workload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18CF3-CC39-4F0B-82F2-DBE24BEC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Assumes forest_height = 10, rounds = 16, batch_size = 256, and stable memory layout.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B0885-D190-4F93-8751-1EB3B801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953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E3E22-C1EE-49BB-9AE2-EB8D10E2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BF1C1-3CC1-485D-934A-F179AE3E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452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Generated code size increases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2A131-13C5-4BD9-BD97-1C31A9C9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Unrolling and specialization remove runtime overhead but produce a larger instruction stream.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F7055-2B98-41A6-BA4E-6C917A2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8CF81-BAEA-4B3D-9732-30AD058D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3F18E-D454-4586-82B8-8C886B18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Scheduler is heuristic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F27A1B-E377-461A-8470-A24EA4D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Dependency analysis and priority rules guide packing, but this is not an optimal solver.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8CBF3-1101-4D0E-8B3C-40F08650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A83E81-2D22-43B7-925F-843A02E9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43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4380E-4974-42F3-8574-4BF91F30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71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Scratch allocation is manually tuned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D0478-0EBD-4C49-884C-A2CC1B66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Temp banks expose parallelism; a full liveness-aware register-coloring pass is still future work.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B0A40-05BB-418D-AA69-E669966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23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3687AF-7A03-4369-93CA-D362F01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03A6FF-BF0F-4087-9493-80975E24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71900"/>
            <a:ext cx="2809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Profiler interpretation is still manual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73B08-EE62-4506-8B2D-47953998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Perfetto traces guided the path, but bottleneck classification and goodput metrics are not fully automated.</a:t>
            </a:r>
          </a:p>
        </p:txBody>
      </p:sp>
    </p:spTree>
    <p:extLst>
      <p:ext uri="{BB962C8B-B14F-4D97-AF65-F5344CB8AC3E}">
        <p14:creationId xmlns:p14="http://schemas.microsoft.com/office/powerpoint/2010/main" val="9562199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2B186-1A02-47DA-AE5D-300EC023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CE24E-C9EC-4E26-A572-26E5F111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BB3FC-70B7-4503-94CF-D9DE0BBF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2D252-7F9E-4538-84B0-71199162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Next steps generalize the hand-built ladder into a compiler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4F294-0700-444B-B8FF-37D88F7C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formal dependency graph is the anchor: it supports correctness, allocation, and schedule search.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26976-8C01-4B31-81A8-6A23F369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6486525"/>
            <a:ext cx="361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1CF4D-8B90-4735-8707-9B355D3D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79EAE-E725-4771-B703-25B580AA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trace metrics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98228-F60A-47BB-A244-46CCD142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goodput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36778-C1AD-4730-AFE8-0EF383C6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67B6D-FCB1-4BFC-B3BA-E7966CD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0C58B2-CC16-42CF-AD64-C3E48844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2"/>
          </a:solidFill>
          <a:ln xmlns:a="http://schemas.openxmlformats.org/drawingml/2006/main" w="14288">
            <a:solidFill>
              <a:srgbClr val="BE12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3219D-9B9E-4096-96D9-EBB6252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dependency 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4AD2C-7890-427D-BE9D-140BB5DC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hazards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257FD-F586-4E44-8D50-31E7A69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93E89-5078-4558-A29A-F7BC9399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BA296B-BB6E-41B9-9B2F-45A83DD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68048-A606-4B42-B98C-E9B7993F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register coloring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8B66B4-9F93-4122-9D0B-3EA5CA8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E6C1A-CE77-4775-9391-FEE969E4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70ED8-4D11-4FD3-BA11-2F34782F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1FD3D-C48C-436D-8AF1-810B54BD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EF09C-2807-4859-9E2D-46D806D1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scheduler 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554B9A-04DC-4FA3-8AA2-7A2D504D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engine slots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C933D9-9D00-47B4-8089-01BB2FED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228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395635-0597-4571-ADF6-764A5BE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C7AE7-E92F-46EE-B9C5-5C74537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812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A38CF-ACE5-4C56-899D-3A6A2206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289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verified VLIW program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25D99B-BD9D-40E9-B178-2C397092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08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F83689-C504-4697-8FE8-6A7C6512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291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feedback from traces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291B40-0F14-47EE-9C8B-ADB1962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619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2E78E-996F-47C2-A09C-BF96CE39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433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9E91F1-6B7E-4339-AD73-75D7F187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433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7A5C5-4715-4242-8C69-EBDD2949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E12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399453-4A28-48D1-B3C5-152EEEE1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292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E123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E123C"/>
                </a:solidFill>
                <a:latin typeface="Aptos"/>
                <a:ea typeface="Aptos"/>
                <a:cs typeface="Aptos"/>
              </a:rPr>
              <a:t>Formal dependency 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079E0B-5D17-4952-B439-63E6AE22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768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Represent every instruction as a graph node with explicit reads, writes, engine constraints, and RAW/WAR/WAW edges.</a:t>
            </a:r>
          </a:p>
        </p:txBody>
      </p:sp>
    </p:spTree>
    <p:extLst>
      <p:ext uri="{BB962C8B-B14F-4D97-AF65-F5344CB8AC3E}">
        <p14:creationId xmlns:p14="http://schemas.microsoft.com/office/powerpoint/2010/main" val="530928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2026-06-11T23:14:00.1260000Z</dcterms:created>
  <dcterms:modified xsi:type="dcterms:W3CDTF">2026-06-11T23:14:00.1260000Z</dcterms:modified>
</coreProperties>
</file>